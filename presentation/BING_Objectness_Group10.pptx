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the group and the topic. We rebuilt and studied BING, a CVPR 2014 method that finds likely object regions at 300 frames per second using only handcrafted gradient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INTRODUCTION. Detection is costly because a sliding-window detector must classify a huge number of windows, and almost all of them are background. Object proposals first select a small set of promising windows. BING does this extremely fast with gradients and bit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PROBLEM DEFINITION. Read the boxed statement. Input: any image. Output: ranked boxes plus a heat-map. Constraints: class-agnostic, real-time, CPU, no deep learning. We measure success by detection rate at N proposals, box tightness (MABO) and speed. We only answer 'where are objects', not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PROPOSED SOLUTION &amp; NOVELTY. BING's observation: objects have closed boundaries, so an 8x8 gradient map of an object window shows a ring of edges. A 64-weight linear filter learns that template; the figure shows our learned filter and its binary approximations. Our novelty: a from-scratch Python implementation with a Numba kernel of the paper's Algorithm 2, a new benchmark with clutter and hand-labelled real images, a diversified colour-space variant, and systematic ablations.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DESIGN. The eight stages from our proposal. Image in; 36 window sizes; for each, the image is resized so every 8x8 patch is one window; gradients are computed, binarized, scored with bit operations; NMS and per-size calibration rank them; top boxes out. Training is a linear SVM plus a per-size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whole image is resized once per window size. The bottom row shows the bit planes used as the binarized feature. The filter becomes a weighted sum of +/-1 vectors, the feature becomes 4 bit planes, and the dot product becomes AND plus POPCOUNT: 12 popcounts per window instead of 64 multiply-adds. Unit tests confirm the bitwise score equals the float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Data. PASCAL VOC could not be downloaded in our environment, so we generated a synthetic benchmark with ground truth, including distracting clutter, and hand-labelled 58 objects in 10 real photos never used in training. Baselines are Selective Search, sliding windows and random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RESULT ANALYSIS. Detection rate against number of proposals. BING finds about 95 percent of objects within 1000 proposals, far above random boxes; our diversified variant reaches 97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Comparison with existing methods. BING beats sliding windows and random boxes by a wide margin. Selective Search gives tighter boxes but is roughly forty times slower on the same images. Calibration clearly helps at small budgets, and binarization costs no accuracy. Compared with the paper's VOC numbers (96.2 percent at 1000), our recall is in the same range; our speed is lower because we use Python instead of hand-optimised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On real photographs, the model trained only on synthetic shapes still finds 86 percent of objects in the top 1000, showing that the closed-boundary cue transfers. Heat-maps concentrate on objects rather than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Ablations: the simple gradient mask is as good as Sobel; RGB is the best colour space; two bits of gradient already suffice; very little training data is needed because the model has only 64 weights. The Numba bitwise kernel is several times faster than numpy. Main limitation: coarse boxes, so recall drops at strict IoU.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Summary numbers, future work, and thank you. Offer the live demo: python scripts/demo.py --webcam.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p:bgPr>
    </p:bg>
    <p:spTree>
      <p:nvGrpSpPr>
        <p:cNvPr id="1" name=""/>
        <p:cNvGrpSpPr/>
        <p:nvPr/>
      </p:nvGrpSpPr>
      <p:grpSpPr>
        <a:xfrm>
          <a:off x="0" y="0"/>
          <a:ext cx="0" cy="0"/>
          <a:chOff x="0" y="0"/>
          <a:chExt cx="0" cy="0"/>
        </a:xfrm>
      </p:grpSpPr>
      <p:pic>
        <p:nvPicPr>
          <p:cNvPr id="2" name="Image 0" descr="/home/user/cvprojectg10/results/figures/ng_title.png">    </p:cNvPr>
          <p:cNvPicPr>
            <a:picLocks noChangeAspect="1"/>
          </p:cNvPicPr>
          <p:nvPr/>
        </p:nvPicPr>
        <p:blipFill>
          <a:blip r:embed="rId1"/>
          <a:srcRect l="0" r="0" t="0" b="0"/>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indent="0" marL="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Abhinav Dileep</a:t>
            </a:r>
            <a:pPr indent="0" marL="0">
              <a:buNone/>
            </a:pP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Ayyappadas M T</a:t>
            </a:r>
            <a:pPr indent="0" marL="0">
              <a:buNone/>
            </a:pP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Hari Sankar A</a:t>
            </a:r>
            <a:pPr indent="0" marL="0">
              <a:buNone/>
            </a:pP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Parthiv M</a:t>
            </a:r>
            <a:pPr indent="0" marL="0">
              <a:buNone/>
            </a:pP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 Kishen K M</a:t>
            </a:r>
            <a:pPr indent="0" marL="0">
              <a:buNone/>
            </a:pP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pPr indent="0" marL="0">
              <a:buNone/>
            </a:pP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pPr indent="0" marL="0">
              <a:buNone/>
            </a:pP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pPr indent="0" marL="0">
              <a:buNone/>
            </a:pP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pPr indent="0" marL="0">
              <a:buNone/>
            </a:pP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indent="0" marL="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pPr indent="0" marL="0">
              <a:buNone/>
            </a:pP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pPr indent="0" marL="0">
              <a:buNone/>
            </a:pP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pPr indent="0" marL="0">
              <a:buNone/>
            </a:pP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r>
          <p:cNvPicPr>
            <a:picLocks noChangeAspect="1"/>
          </p:cNvPicPr>
          <p:nvPr/>
        </p:nvPicPr>
        <p:blipFill>
          <a:blip r:embed="rId1"/>
          <a:srcRect l="0" r="0" t="0" b="0"/>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New benchmark</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Synthetic scenes with clutter + 58 hand-labelled real objects</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Diversified BING</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Merges RGB + HSV + Gray models → higher recall</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Systematic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Gradient mask, colour space, bits Nw/Ng, budget, data size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36 sizes {10…320}²,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6126480"/>
            <a:ext cx="11064240" cy="365760"/>
          </a:xfrm>
          <a:prstGeom prst="rect">
            <a:avLst/>
          </a:prstGeom>
          <a:noFill/>
          <a:ln/>
        </p:spPr>
        <p:txBody>
          <a:bodyPr wrap="square" lIns="0" tIns="0" rIns="0" bIns="0" rtlCol="0" anchor="ctr"/>
          <a:lstStyle/>
          <a:p>
            <a:pPr indent="0" marL="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r>
          <p:cNvPicPr>
            <a:picLocks noChangeAspect="1"/>
          </p:cNvPicPr>
          <p:nvPr/>
        </p:nvPicPr>
        <p:blipFill>
          <a:blip r:embed="rId1"/>
          <a:srcRect l="0" r="0" t="0" b="0"/>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r>
          <p:cNvPicPr>
            <a:picLocks noChangeAspect="1"/>
          </p:cNvPicPr>
          <p:nvPr/>
        </p:nvPicPr>
        <p:blipFill>
          <a:blip r:embed="rId1"/>
          <a:srcRect l="0" r="0" t="0" b="0"/>
          <a:stretch/>
        </p:blipFill>
        <p:spPr>
          <a:xfrm>
            <a:off x="548640" y="1463040"/>
            <a:ext cx="5486400" cy="2148840"/>
          </a:xfrm>
          <a:prstGeom prst="rect">
            <a:avLst/>
          </a:prstGeom>
        </p:spPr>
      </p:pic>
      <p:pic>
        <p:nvPicPr>
          <p:cNvPr id="6" name="Image 1" descr="/home/user/cvprojectg10/results/figures/dataset_real.png">    </p:cNvPr>
          <p:cNvPicPr>
            <a:picLocks noChangeAspect="1"/>
          </p:cNvPicPr>
          <p:nvPr/>
        </p:nvPicPr>
        <p:blipFill>
          <a:blip r:embed="rId2"/>
          <a:srcRect l="0" r="0" t="0" b="0"/>
          <a:stretch/>
        </p:blipFill>
        <p:spPr>
          <a:xfrm>
            <a:off x="6217920" y="1463040"/>
            <a:ext cx="5486400" cy="2148840"/>
          </a:xfrm>
          <a:prstGeom prst="rect">
            <a:avLst/>
          </a:prstGeom>
        </p:spPr>
      </p:pic>
      <p:sp>
        <p:nvSpPr>
          <p:cNvPr id="7" name="Text 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Synthetic benchmark</a:t>
            </a:r>
            <a:endParaRPr lang="en-US" sz="1800" dirty="0"/>
          </a:p>
        </p:txBody>
      </p:sp>
      <p:sp>
        <p:nvSpPr>
          <p:cNvPr id="8" name="Text 4"/>
          <p:cNvSpPr txBox="1"/>
          <p:nvPr/>
        </p:nvSpPr>
        <p:spPr>
          <a:xfrm>
            <a:off x="548640" y="4160520"/>
            <a:ext cx="5486400" cy="14630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600 train / 300 test images, 915 test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Textures, shading, noise + clutter lines (edges that are not objects)</a:t>
            </a:r>
            <a:endParaRPr lang="en-US" sz="1400" dirty="0"/>
          </a:p>
        </p:txBody>
      </p:sp>
      <p:sp>
        <p:nvSpPr>
          <p:cNvPr id="9" name="Text 5"/>
          <p:cNvSpPr txBox="1"/>
          <p:nvPr/>
        </p:nvSpPr>
        <p:spPr>
          <a:xfrm>
            <a:off x="6217920" y="3749040"/>
            <a:ext cx="548640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0" name="Text 6"/>
          <p:cNvSpPr txBox="1"/>
          <p:nvPr/>
        </p:nvSpPr>
        <p:spPr>
          <a:xfrm>
            <a:off x="6217920" y="4160520"/>
            <a:ext cx="5486400" cy="14630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10 natural images, 58 hand-labelled objects</a:t>
            </a:r>
            <a:endParaRPr lang="en-US" sz="1400" dirty="0"/>
          </a:p>
          <a:p>
            <a:pPr marL="342900" indent="-342900">
              <a:spcAft>
                <a:spcPts val="900"/>
              </a:spcAft>
              <a:buSzPct val="100000"/>
              <a:buChar char="•"/>
            </a:pPr>
            <a:r>
              <a:rPr lang="en-US" sz="1400" dirty="0">
                <a:solidFill>
                  <a:srgbClr val="1B1F2A"/>
                </a:solidFill>
                <a:latin typeface="Calibri" pitchFamily="34" charset="0"/>
                <a:ea typeface="Calibri" pitchFamily="34" charset="-122"/>
                <a:cs typeface="Calibri" pitchFamily="34" charset="-120"/>
              </a:rPr>
              <a:t>Never used for training: tests generalisation</a:t>
            </a:r>
            <a:endParaRPr lang="en-US" sz="1400" dirty="0"/>
          </a:p>
        </p:txBody>
      </p:sp>
      <p:sp>
        <p:nvSpPr>
          <p:cNvPr id="11" name="Text 7"/>
          <p:cNvSpPr txBox="1"/>
          <p:nvPr/>
        </p:nvSpPr>
        <p:spPr>
          <a:xfrm>
            <a:off x="548640" y="5669280"/>
            <a:ext cx="11155680" cy="640080"/>
          </a:xfrm>
          <a:prstGeom prst="rect">
            <a:avLst/>
          </a:prstGeom>
          <a:noFill/>
          <a:ln/>
        </p:spPr>
        <p:txBody>
          <a:bodyPr wrap="square" lIns="0" tIns="0" rIns="0" bIns="0" rtlCol="0" anchor="ctr"/>
          <a:lstStyle/>
          <a:p>
            <a:pPr indent="0" marL="0">
              <a:buNone/>
            </a:pPr>
            <a:r>
              <a:rPr lang="en-US" sz="1250" i="1" dirty="0">
                <a:solidFill>
                  <a:srgbClr val="5B6270"/>
                </a:solidFill>
                <a:latin typeface="Calibri" pitchFamily="34" charset="0"/>
                <a:ea typeface="Calibri" pitchFamily="34" charset="-122"/>
                <a:cs typeface="Calibri" pitchFamily="34" charset="-120"/>
              </a:rPr>
              <a:t>Metrics: detection rate DR@N (IoU ≥ 0.5), MABO (mean best overlap), AUC, images/s. Baselines: Selective Search, sliding windows, random boxes. A PASCAL VOC 2007 loader is included for the paper's protocol.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Recall vs number of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r_synthetic.png">    </p:cNvPr>
          <p:cNvPicPr>
            <a:picLocks noChangeAspect="1"/>
          </p:cNvPicPr>
          <p:nvPr/>
        </p:nvPicPr>
        <p:blipFill>
          <a:blip r:embed="rId1"/>
          <a:srcRect l="0" r="0" t="0" b="0"/>
          <a:stretch/>
        </p:blipFill>
        <p:spPr>
          <a:xfrm>
            <a:off x="457200" y="1371600"/>
            <a:ext cx="6949440" cy="4572000"/>
          </a:xfrm>
          <a:prstGeom prst="rect">
            <a:avLst/>
          </a:prstGeom>
        </p:spPr>
      </p:pic>
      <p:sp>
        <p:nvSpPr>
          <p:cNvPr id="6" name="Text 3"/>
          <p:cNvSpPr txBox="1"/>
          <p:nvPr/>
        </p:nvSpPr>
        <p:spPr>
          <a:xfrm>
            <a:off x="7863840" y="1554480"/>
            <a:ext cx="384048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7" name="Text 4"/>
          <p:cNvSpPr txBox="1"/>
          <p:nvPr/>
        </p:nvSpPr>
        <p:spPr>
          <a:xfrm>
            <a:off x="7863840" y="237744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objects found in the top 1000 — BING (ours)</a:t>
            </a:r>
            <a:endParaRPr lang="en-US" sz="1300" dirty="0"/>
          </a:p>
        </p:txBody>
      </p:sp>
      <p:sp>
        <p:nvSpPr>
          <p:cNvPr id="8" name="Text 5"/>
          <p:cNvSpPr txBox="1"/>
          <p:nvPr/>
        </p:nvSpPr>
        <p:spPr>
          <a:xfrm>
            <a:off x="7863840" y="2971800"/>
            <a:ext cx="384048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97.0%</a:t>
            </a:r>
            <a:endParaRPr lang="en-US" sz="4400" dirty="0"/>
          </a:p>
        </p:txBody>
      </p:sp>
      <p:sp>
        <p:nvSpPr>
          <p:cNvPr id="9" name="Text 6"/>
          <p:cNvSpPr txBox="1"/>
          <p:nvPr/>
        </p:nvSpPr>
        <p:spPr>
          <a:xfrm>
            <a:off x="7863840" y="379476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BING-Diversified (our RGB + HSV + Gray merge)</a:t>
            </a:r>
            <a:endParaRPr lang="en-US" sz="1300" dirty="0"/>
          </a:p>
        </p:txBody>
      </p:sp>
      <p:sp>
        <p:nvSpPr>
          <p:cNvPr id="10" name="Text 7"/>
          <p:cNvSpPr txBox="1"/>
          <p:nvPr/>
        </p:nvSpPr>
        <p:spPr>
          <a:xfrm>
            <a:off x="7863840" y="4389120"/>
            <a:ext cx="384048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53.6%</a:t>
            </a:r>
            <a:endParaRPr lang="en-US" sz="4400" dirty="0"/>
          </a:p>
        </p:txBody>
      </p:sp>
      <p:sp>
        <p:nvSpPr>
          <p:cNvPr id="11" name="Text 8"/>
          <p:cNvSpPr txBox="1"/>
          <p:nvPr/>
        </p:nvSpPr>
        <p:spPr>
          <a:xfrm>
            <a:off x="7863840" y="5212080"/>
            <a:ext cx="384048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random boxes, i.e. no objectness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223760" cy="914400"/>
        </p:xfrm>
        <a:graphic>
          <a:graphicData uri="http://schemas.openxmlformats.org/drawingml/2006/table">
            <a:tbl>
              <a:tblPr/>
              <a:tblGrid>
                <a:gridCol w="2834640"/>
                <a:gridCol w="1051560"/>
                <a:gridCol w="1051560"/>
                <a:gridCol w="1143000"/>
                <a:gridCol w="1143000"/>
              </a:tblGrid>
              <a:tr h="42062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DR@100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DR@1k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MABO@1k</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img/s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20624">
                <a:tc>
                  <a:txBody>
                    <a:bodyPr/>
                    <a:lstStyle/>
                    <a:p>
                      <a:pPr algn="l" indent="0" marL="0">
                        <a:buNone/>
                      </a:pPr>
                      <a:r>
                        <a:rPr lang="en-US" sz="1300" b="1" dirty="0">
                          <a:solidFill>
                            <a:srgbClr val="1B1F2A"/>
                          </a:solidFill>
                          <a:latin typeface="Calibri" pitchFamily="34" charset="0"/>
                          <a:ea typeface="Calibri" pitchFamily="34" charset="-122"/>
                          <a:cs typeface="Calibri" pitchFamily="34" charset="-120"/>
                        </a:rPr>
                        <a:t>BING (binary) — ours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95.1%</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b="1" dirty="0">
                          <a:solidFill>
                            <a:srgbClr val="1B1F2A"/>
                          </a:solidFill>
                          <a:latin typeface="Calibri" pitchFamily="34" charset="0"/>
                          <a:ea typeface="Calibri" pitchFamily="34" charset="-122"/>
                          <a:cs typeface="Calibri" pitchFamily="34" charset="-120"/>
                        </a:rPr>
                        <a:t>160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BING-Diversified — ours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79.0%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0.675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float filter</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82.7%</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94.6%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62.2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BING without calibration</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73.2%</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0.653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Selective Search (fast) *</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86.9%</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96.3%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0.885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Sliding windows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0.314</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10.7</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20624">
                <a:tc>
                  <a:txBody>
                    <a:bodyPr/>
                    <a:lstStyle/>
                    <a:p>
                      <a:pPr algn="l" indent="0" marL="0">
                        <a:buNone/>
                      </a:pPr>
                      <a:r>
                        <a:rPr lang="en-US" sz="1300" dirty="0">
                          <a:solidFill>
                            <a:srgbClr val="1B1F2A"/>
                          </a:solidFill>
                          <a:latin typeface="Calibri" pitchFamily="34" charset="0"/>
                          <a:ea typeface="Calibri" pitchFamily="34" charset="-122"/>
                          <a:cs typeface="Calibri" pitchFamily="34" charset="-120"/>
                        </a:rPr>
                        <a:t>Random boxes</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26.3%</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53.6%</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0.518</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029200"/>
            <a:ext cx="7223760" cy="64008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 Selective Search on 60 test images (BING on the same images: DR@1k 97.4%). † Controlled speed benchmark (Numba, bilinear); other speeds are end-to-end evaluation timings.</a:t>
            </a:r>
            <a:endParaRPr lang="en-US" sz="1150" dirty="0"/>
          </a:p>
        </p:txBody>
      </p:sp>
      <p:sp>
        <p:nvSpPr>
          <p:cNvPr id="7" name="Shape 4"/>
          <p:cNvSpPr/>
          <p:nvPr/>
        </p:nvSpPr>
        <p:spPr>
          <a:xfrm>
            <a:off x="8138160" y="1508760"/>
            <a:ext cx="3566160" cy="4617720"/>
          </a:xfrm>
          <a:prstGeom prst="roundRect">
            <a:avLst>
              <a:gd name="adj" fmla="val 3077"/>
            </a:avLst>
          </a:prstGeom>
          <a:solidFill>
            <a:srgbClr val="F1F4F7"/>
          </a:solidFill>
          <a:ln w="12700">
            <a:solidFill>
              <a:srgbClr val="F1F4F7"/>
            </a:solidFill>
            <a:prstDash val="solid"/>
          </a:ln>
        </p:spPr>
      </p:sp>
      <p:sp>
        <p:nvSpPr>
          <p:cNvPr id="8" name="Text 5"/>
          <p:cNvSpPr txBox="1"/>
          <p:nvPr/>
        </p:nvSpPr>
        <p:spPr>
          <a:xfrm>
            <a:off x="8366760" y="1691640"/>
            <a:ext cx="3154680" cy="4297680"/>
          </a:xfrm>
          <a:prstGeom prst="rect">
            <a:avLst/>
          </a:prstGeom>
          <a:noFill/>
          <a:ln/>
        </p:spPr>
        <p:txBody>
          <a:bodyPr wrap="square" lIns="0" tIns="0" rIns="0" bIns="0" rtlCol="0" anchor="t"/>
          <a:lstStyle/>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Paper vs ours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Paper (VOC 2007, C++): DR 96.2% @1000, 99.5% @5000, 300 fps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Ours (synthetic, Python): DR 95.1% @1000, 160 fps</a:t>
            </a:r>
            <a:endParaRPr lang="en-US" sz="1350" dirty="0"/>
          </a:p>
          <a:p>
            <a:pPr indent="0" marL="0">
              <a:spcAft>
                <a:spcPts val="600"/>
              </a:spcAft>
              <a:buNone/>
            </a:pPr>
            <a:r>
              <a:rPr lang="en-US" sz="1700" b="1" dirty="0">
                <a:solidFill>
                  <a:srgbClr val="1B1F2A"/>
                </a:solidFill>
                <a:latin typeface="Calibri" pitchFamily="34" charset="0"/>
                <a:ea typeface="Calibri" pitchFamily="34" charset="-122"/>
                <a:cs typeface="Calibri" pitchFamily="34" charset="-120"/>
              </a:rPr>
              <a:t>Findings</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Calibration adds +11 pts DR@100</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Binary = float accuracy</a:t>
            </a:r>
            <a:endParaRPr lang="en-US" sz="1350" dirty="0"/>
          </a:p>
          <a:p>
            <a:pPr marL="342900" indent="-342900">
              <a:spcAft>
                <a:spcPts val="600"/>
              </a:spcAft>
              <a:buSzPct val="100000"/>
              <a:buChar char="•"/>
            </a:pPr>
            <a:r>
              <a:rPr lang="en-US" sz="1350" dirty="0">
                <a:solidFill>
                  <a:srgbClr val="1B1F2A"/>
                </a:solidFill>
                <a:latin typeface="Calibri" pitchFamily="34" charset="0"/>
                <a:ea typeface="Calibri" pitchFamily="34" charset="-122"/>
                <a:cs typeface="Calibri" pitchFamily="34" charset="-120"/>
              </a:rPr>
              <a:t>Selective Search: tighter boxes (MABO 0.89 vs 0.66) but ~40× slower on the same images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Generalisation to real photographs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pic>
        <p:nvPicPr>
          <p:cNvPr id="5" name="Image 0" descr="/home/user/cvprojectg10/results/figures/found_real.png">    </p:cNvPr>
          <p:cNvPicPr>
            <a:picLocks noChangeAspect="1"/>
          </p:cNvPicPr>
          <p:nvPr/>
        </p:nvPicPr>
        <p:blipFill>
          <a:blip r:embed="rId1"/>
          <a:srcRect l="0" r="0" t="0" b="0"/>
          <a:stretch/>
        </p:blipFill>
        <p:spPr>
          <a:xfrm>
            <a:off x="457200" y="1371600"/>
            <a:ext cx="5852160" cy="5029200"/>
          </a:xfrm>
          <a:prstGeom prst="rect">
            <a:avLst/>
          </a:prstGeom>
        </p:spPr>
      </p:pic>
      <p:pic>
        <p:nvPicPr>
          <p:cNvPr id="6" name="Image 1" descr="/home/user/cvprojectg10/results/figures/heatmaps_real.png">    </p:cNvPr>
          <p:cNvPicPr>
            <a:picLocks noChangeAspect="1"/>
          </p:cNvPicPr>
          <p:nvPr/>
        </p:nvPicPr>
        <p:blipFill>
          <a:blip r:embed="rId2"/>
          <a:srcRect l="0" r="0" t="0" b="0"/>
          <a:stretch/>
        </p:blipFill>
        <p:spPr>
          <a:xfrm>
            <a:off x="6492240" y="1371600"/>
            <a:ext cx="5212080" cy="3017520"/>
          </a:xfrm>
          <a:prstGeom prst="rect">
            <a:avLst/>
          </a:prstGeom>
        </p:spPr>
      </p:pic>
      <p:sp>
        <p:nvSpPr>
          <p:cNvPr id="7" name="Text 3"/>
          <p:cNvSpPr txBox="1"/>
          <p:nvPr/>
        </p:nvSpPr>
        <p:spPr>
          <a:xfrm>
            <a:off x="6583680" y="4572000"/>
            <a:ext cx="25603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86.2%</a:t>
            </a:r>
            <a:endParaRPr lang="en-US" sz="4400" dirty="0"/>
          </a:p>
        </p:txBody>
      </p:sp>
      <p:sp>
        <p:nvSpPr>
          <p:cNvPr id="8" name="Text 4"/>
          <p:cNvSpPr txBox="1"/>
          <p:nvPr/>
        </p:nvSpPr>
        <p:spPr>
          <a:xfrm>
            <a:off x="6583680" y="5394960"/>
            <a:ext cx="25603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real objects found in top 1000 (BING)</a:t>
            </a:r>
            <a:endParaRPr lang="en-US" sz="1300" dirty="0"/>
          </a:p>
        </p:txBody>
      </p:sp>
      <p:sp>
        <p:nvSpPr>
          <p:cNvPr id="9" name="Text 5"/>
          <p:cNvSpPr txBox="1"/>
          <p:nvPr/>
        </p:nvSpPr>
        <p:spPr>
          <a:xfrm>
            <a:off x="9235440" y="4572000"/>
            <a:ext cx="25603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48.3%</a:t>
            </a:r>
            <a:endParaRPr lang="en-US" sz="4400" dirty="0"/>
          </a:p>
        </p:txBody>
      </p:sp>
      <p:sp>
        <p:nvSpPr>
          <p:cNvPr id="10" name="Text 6"/>
          <p:cNvSpPr txBox="1"/>
          <p:nvPr/>
        </p:nvSpPr>
        <p:spPr>
          <a:xfrm>
            <a:off x="9235440" y="5394960"/>
            <a:ext cx="25603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random boxes</a:t>
            </a:r>
            <a:endParaRPr lang="en-US" sz="1300" dirty="0"/>
          </a:p>
        </p:txBody>
      </p:sp>
      <p:sp>
        <p:nvSpPr>
          <p:cNvPr id="11" name="Text 7"/>
          <p:cNvSpPr txBox="1"/>
          <p:nvPr/>
        </p:nvSpPr>
        <p:spPr>
          <a:xfrm>
            <a:off x="6583680" y="5989320"/>
            <a:ext cx="5120640" cy="54864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Left: best proposal per object (green = found, red = missed). Right: objectness heat-maps. Trained on synthetic data only.</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r>
          <p:cNvPicPr>
            <a:picLocks noChangeAspect="1"/>
          </p:cNvPicPr>
          <p:nvPr/>
        </p:nvPicPr>
        <p:blipFill>
          <a:blip r:embed="rId1"/>
          <a:srcRect l="0" r="0" t="0" b="0"/>
          <a:stretch/>
        </p:blipFill>
        <p:spPr>
          <a:xfrm>
            <a:off x="457200" y="1325880"/>
            <a:ext cx="6949440" cy="3749040"/>
          </a:xfrm>
          <a:prstGeom prst="rect">
            <a:avLst/>
          </a:prstGeom>
        </p:spPr>
      </p:pic>
      <p:pic>
        <p:nvPicPr>
          <p:cNvPr id="6" name="Image 1" descr="/home/user/cvprojectg10/results/figures/speed.png">    </p:cNvPr>
          <p:cNvPicPr>
            <a:picLocks noChangeAspect="1"/>
          </p:cNvPicPr>
          <p:nvPr/>
        </p:nvPicPr>
        <p:blipFill>
          <a:blip r:embed="rId2"/>
          <a:srcRect l="0" r="0" t="0" b="0"/>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pPr indent="0" marL="0">
              <a:buNone/>
            </a:pPr>
            <a:r>
              <a:rPr lang="en-US" sz="1250" dirty="0">
                <a:solidFill>
                  <a:srgbClr val="5B6270"/>
                </a:solidFill>
                <a:latin typeface="Calibri" pitchFamily="34" charset="0"/>
                <a:ea typeface="Calibri" pitchFamily="34" charset="-122"/>
                <a:cs typeface="Calibri" pitchFamily="34" charset="-120"/>
              </a:rPr>
              <a:t>[-1 0 1] 95.1% = Sobel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pPr indent="0" marL="0">
              <a:buNone/>
            </a:pPr>
            <a:r>
              <a:rPr lang="en-US" sz="1250" dirty="0">
                <a:solidFill>
                  <a:srgbClr val="5B6270"/>
                </a:solidFill>
                <a:latin typeface="Calibri" pitchFamily="34" charset="0"/>
                <a:ea typeface="Calibri" pitchFamily="34" charset="-122"/>
                <a:cs typeface="Calibri" pitchFamily="34" charset="-120"/>
              </a:rPr>
              <a:t>RGB 95.1% &gt; Lab 94.1% ≈ HSV 94.1% &gt; Gray 89.3%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pPr indent="0" marL="0">
              <a:buNone/>
            </a:pPr>
            <a:r>
              <a:rPr lang="en-US" sz="1250" dirty="0">
                <a:solidFill>
                  <a:srgbClr val="5B6270"/>
                </a:solidFill>
                <a:latin typeface="Calibri" pitchFamily="34" charset="0"/>
                <a:ea typeface="Calibri" pitchFamily="34" charset="-122"/>
                <a:cs typeface="Calibri" pitchFamily="34" charset="-120"/>
              </a:rPr>
              <a:t>Ng = 1 → 92.8%; Ng ≥ 2 → ~95%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pPr indent="0" marL="0">
              <a:buNone/>
            </a:pPr>
            <a:r>
              <a:rPr lang="en-US" sz="1250" dirty="0">
                <a:solidFill>
                  <a:srgbClr val="5B6270"/>
                </a:solidFill>
                <a:latin typeface="Calibri" pitchFamily="34" charset="0"/>
                <a:ea typeface="Calibri" pitchFamily="34" charset="-122"/>
                <a:cs typeface="Calibri" pitchFamily="34" charset="-120"/>
              </a:rPr>
              <a:t>10 images → 79.2%; 600 → 95.1%</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Speed: </a:t>
            </a:r>
            <a:pPr indent="0" marL="0">
              <a:buNone/>
            </a:pPr>
            <a:r>
              <a:rPr lang="en-US" sz="1250" dirty="0">
                <a:solidFill>
                  <a:srgbClr val="5B6270"/>
                </a:solidFill>
                <a:latin typeface="Calibri" pitchFamily="34" charset="0"/>
                <a:ea typeface="Calibri" pitchFamily="34" charset="-122"/>
                <a:cs typeface="Calibri" pitchFamily="34" charset="-120"/>
              </a:rPr>
              <a:t>Numba bitwise kernel 160 img/s vs 37 in numpy</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so recall drops at strict IoU (MABO ≈ 0.66).</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Simple gradients, a 64-weight linear model and bit operations are enough to find most objects, fast.</a:t>
            </a:r>
            <a:endParaRPr lang="en-US" sz="30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95.1%</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(synthetic test)</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86.2%</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objects found in top 1000</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(real photos, no real training)</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160</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images / second</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(bitwise, Python + Numba)</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Future work  </a:t>
            </a:r>
            <a:pPr indent="0" marL="0">
              <a:buNone/>
            </a:pPr>
            <a:r>
              <a:rPr lang="en-US" sz="1400" dirty="0">
                <a:solidFill>
                  <a:srgbClr val="AEB8C6"/>
                </a:solidFill>
                <a:latin typeface="Calibri" pitchFamily="34" charset="0"/>
                <a:ea typeface="Calibri" pitchFamily="34" charset="-122"/>
                <a:cs typeface="Calibri" pitchFamily="34" charset="-120"/>
              </a:rPr>
              <a:t>tighter boxes (refinement / more sizes) · full PASCAL VOC evaluation · C++ SIMD kernel for 300 fps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References  </a:t>
            </a:r>
            <a:pPr indent="0" marL="0">
              <a:buNone/>
            </a:pP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Group 10</cp:lastModifiedBy>
  <cp:revision>1</cp:revision>
  <dcterms:created xsi:type="dcterms:W3CDTF">2026-09-30T05:26:20Z</dcterms:created>
  <dcterms:modified xsi:type="dcterms:W3CDTF">2026-09-30T05:26:20Z</dcterms:modified>
</cp:coreProperties>
</file>