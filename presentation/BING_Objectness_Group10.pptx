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9935" autoAdjust="0"/>
  </p:normalViewPr>
  <p:slideViewPr>
    <p:cSldViewPr snapToGrid="0" snapToObjects="1">
      <p:cViewPr varScale="1">
        <p:scale>
          <a:sx n="57" d="100"/>
          <a:sy n="57" d="100"/>
        </p:scale>
        <p:origin x="1651"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8116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Abhinav Dileep · ~35 s (clock 0:00–0:35)
Good morning. We are Group 10, and our project is "Fast Object Proposal Generation Using Handcrafted Gradient Features". It is based on the CVPR 2014 paper BING, by Cheng, Zhang, Lin and Torr. BING finds the regions of an image that are likely to contain objects, at around 300 frames per second, using only image gradients and bit operations, with no deep learning. I will introduce the problem, and then my teammates will cover our solution, design and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Abhinav Dileep · ~35 s (clock 0:35–1:10)
Why do we need object proposals? A classic detector slides a classifier over every position, every size and every shape of window. That is a hundred thousand windows or more per image, and almost all of them are background. Object proposals solve this. A cheap, class-agnostic score ranks all the windows first, so the expensive detector only has to look at the top thousand or so. BING is one of the fastest ways to do this: the paper reports 300 images per second.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Abhinav Dileep · ~35 s (clock 1:10–1:45)
Here is our problem definition, in the box: given an image, output a ranked list of boxes that covers as many objects as possible with few boxes, in milliseconds, using only handcrafted features. The constraints: no class labels, real time, CPU only, no deep networks. We measure three things: the detection rate, meaning the share of objects found in the top N boxes; MABO, meaning how tight the boxes are; and speed. We answer where objects are, not what they are. Ayyappadas will now explain our proposed solution.
→ Hand over to Ayyappadas M 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Ayyappadas M T · ~50 s (clock 1:45–2:35)
Thank you, Abhinav. BING's key idea is simple: objects have closed outlines. Shrink any window to 8 by 8 pixels and look at its gradient strength, and a window around an object shows a ring of strong edges. A linear model with just 64 weights learns this template; on the right is the filter we learned, positive on the border and negative inside. To make it fast, filter and features are turned into bits. Beyond the paper, we made four contributions, shown in the cards: a from-scratch Python implementation; a head-to-head comparison with the authors' own C++ code; two details the paper's text leaves out, which we found that way; and our own benchmarks and ablations.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Ayyappadas M T · ~40 s (clock 2:35–3:15)
This is our system design, the same eight stages as in our proposal. The input image is shrunk to at most 500 pixels and converted to a colour space. We consider 36 window sizes. For each size, the whole image is resized so that every 8 by 8 patch corresponds to exactly one window. We compute the gradients, binarize them, and score every window with bit operations. Greedy suppression keeps the best spread-out windows, a per-size calibration makes scores comparable across sizes, and the top boxes come out. Hari will now explain the bit-level trick and our experimental setup.
→ Hand over to Hari Sankar 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Hari Sankar A · ~45 s (clock 3:15–4:00)
Thank you, Ayyappadas. On the left, the top row shows the gradient maps of a coffee-cup image for three window sizes. The bottom row shows the four most significant bit planes of one map. The trick is on the right. The 64-weight filter is approximated by a weighted sum of plus-and-minus-one vectors. Each gradient value is approximated by its top four bits. Each set of 64 bits fits in one 64-bit integer, so a dot product becomes an AND followed by a POPCOUNT. That is 12 popcount operations per window instead of 64 multiply-adds. Our unit tests confirm that the bitwise score exactly equals the score computed with floats.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Hari Sankar A · ~35 s (clock 4:00–4:35)
For evaluation we used three datasets. The main one is PASCAL VOC 2007, the paper's own benchmark: we train on 5,011 images and test on 4,952 images with over 12,000 objects. We also generated a synthetic benchmark of 900 images with cluttered backgrounds, and we hand-labelled 58 objects in 10 real photographs that are never used for training. Every method is scored with the same evaluator. As baselines we used the authors' own C++ code, Selective Search, sliding windows and random boxes. Parthiv will now present our results.
→ Hand over to Parthiv 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Parthiv M· ~40 s (clock 4:35–5:15)
Thank you, Hari. This is our main result, on PASCAL VOC 2007. Our final BING finds 94.0% of all objects in its top 1000 proposals. The authors' own C++ code, on the same images with the same evaluator, finds 93.8%. So our rebuild matches the original. When we use the authors' own evaluator, their code scores 96.0 percent, against 96.2 percent reported in the paper, so the paper's result reproduces. The dashed blue line is our first version. It stopped at 75 percent, and Sai Kishen will explain why in a moment.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Parthiv M· ~35 s (clock 5:15–5:50)
This table compares BING with other methods. On VOC, BING finds more objects in the top 1000 than Selective Search, 94.0% against 88.2%, and it is about 70 times faster. But Selective Search draws tighter boxes, which shows in the MABO column. Compared with the authors' code, our version has the same accuracy on VOC, generalises better to real photos when trained only on synthetic data, and is slightly faster on one thread, 58 against 50 images per second. Their C++ code scales better to four threads. Sai Kishen will now explain what made the difference, and conclude.
→ Hand over to Sai Kishen K 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Sai Kishen K M · ~50 s (clock 5:50–6:40)
Thank you, Parthiv. Our first version followed the paper's text exactly and reached only 75 percent on VOC. By running the authors' released code, we found two details that are not in the paper. First, window sizes: the paper lists 10 to 320 pixels, but the code uses 16 to 512 and clips large windows to the image, and VOC has many large objects. Second, suppression: we kept only local peaks, but the code uses greedy suppression, which keeps more good windows. As the table shows, each helps, and together they close the gap. Below is recall per VOC class: thin objects like bottles are hardest; cats and dogs are easiest.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Sai Kishen K M · ~35 s (clock 6:40–7:15)
Our ablation studies show what matters. The simple minus-one, zero, one gradient mask works as well as Sobel. RGB is the best single colour space. Just two bits of gradient are enough. And because the model has only 64 weights, even 10 training images give good results. The main limitation is that BING's boxes are coarse, because the window sizes are powers of two and the stride is 8 pixels, so recall drops when tighter boxes are required.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Sai Kishen K M · ~40 s (clock 7:15–7:55)
To conclude: simple gradients, a 64-weight linear model and bit operations find 94 percent of objects on PASCAL VOC, matching the authors' own code. Our version works on real photos without real training data, runs at 58 images per second on one thread, and needs only 12 popcounts per window. In future we would like to make the boxes tighter, speed up multi-threading, and add a classifier to build a complete detector. Thank you. We are happy to take questions, and we can show a live webcam demo.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4"/>
        </a:solidFill>
        <a:effectLst/>
      </p:bgPr>
    </p:bg>
    <p:spTree>
      <p:nvGrpSpPr>
        <p:cNvPr id="1" name=""/>
        <p:cNvGrpSpPr/>
        <p:nvPr/>
      </p:nvGrpSpPr>
      <p:grpSpPr>
        <a:xfrm>
          <a:off x="0" y="0"/>
          <a:ext cx="0" cy="0"/>
          <a:chOff x="0" y="0"/>
          <a:chExt cx="0" cy="0"/>
        </a:xfrm>
      </p:grpSpPr>
      <p:pic>
        <p:nvPicPr>
          <p:cNvPr id="2" name="Image 0" descr="/home/user/cvprojectg10/results/figures/ng_title.png"/>
          <p:cNvPicPr>
            <a:picLocks noChangeAspect="1"/>
          </p:cNvPicPr>
          <p:nvPr/>
        </p:nvPicPr>
        <p:blipFill>
          <a:blip r:embed="rId3"/>
          <a:srcRect/>
          <a:stretch/>
        </p:blipFill>
        <p:spPr>
          <a:xfrm>
            <a:off x="6583680" y="0"/>
            <a:ext cx="5605272" cy="6858000"/>
          </a:xfrm>
          <a:prstGeom prst="rect">
            <a:avLst/>
          </a:prstGeom>
        </p:spPr>
      </p:pic>
      <p:sp>
        <p:nvSpPr>
          <p:cNvPr id="3" name="Text 0"/>
          <p:cNvSpPr txBox="1"/>
          <p:nvPr/>
        </p:nvSpPr>
        <p:spPr>
          <a:xfrm>
            <a:off x="548640" y="640080"/>
            <a:ext cx="585216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23CSE373 · COMPUTER VISION · GROUP 10</a:t>
            </a:r>
            <a:endParaRPr lang="en-US" sz="1200" dirty="0"/>
          </a:p>
        </p:txBody>
      </p:sp>
      <p:sp>
        <p:nvSpPr>
          <p:cNvPr id="4" name="Text 1"/>
          <p:cNvSpPr txBox="1"/>
          <p:nvPr/>
        </p:nvSpPr>
        <p:spPr>
          <a:xfrm>
            <a:off x="548640" y="1097280"/>
            <a:ext cx="5760720" cy="2194560"/>
          </a:xfrm>
          <a:prstGeom prst="rect">
            <a:avLst/>
          </a:prstGeom>
          <a:noFill/>
          <a:ln/>
        </p:spPr>
        <p:txBody>
          <a:bodyPr wrap="square" lIns="0" tIns="0" rIns="0" bIns="0" rtlCol="0" anchor="t"/>
          <a:lstStyle/>
          <a:p>
            <a:pPr marL="0" indent="0">
              <a:buNone/>
            </a:pPr>
            <a:r>
              <a:rPr lang="en-US" sz="3600" b="1" dirty="0">
                <a:solidFill>
                  <a:srgbClr val="FFFFFF"/>
                </a:solidFill>
                <a:latin typeface="Cambria" pitchFamily="34" charset="0"/>
                <a:ea typeface="Cambria" pitchFamily="34" charset="-122"/>
                <a:cs typeface="Cambria" pitchFamily="34" charset="-120"/>
              </a:rPr>
              <a:t>Fast Object Proposal Generation Using Handcrafted Gradient Features</a:t>
            </a:r>
            <a:endParaRPr lang="en-US" sz="3600" dirty="0"/>
          </a:p>
        </p:txBody>
      </p:sp>
      <p:sp>
        <p:nvSpPr>
          <p:cNvPr id="5" name="Text 2"/>
          <p:cNvSpPr txBox="1"/>
          <p:nvPr/>
        </p:nvSpPr>
        <p:spPr>
          <a:xfrm>
            <a:off x="548640" y="3337560"/>
            <a:ext cx="5669280" cy="822960"/>
          </a:xfrm>
          <a:prstGeom prst="rect">
            <a:avLst/>
          </a:prstGeom>
          <a:noFill/>
          <a:ln/>
        </p:spPr>
        <p:txBody>
          <a:bodyPr wrap="square" lIns="0" tIns="0" rIns="0" bIns="0" rtlCol="0" anchor="t"/>
          <a:lstStyle/>
          <a:p>
            <a:pPr marL="0" indent="0">
              <a:buNone/>
            </a:pPr>
            <a:r>
              <a:rPr lang="en-US" sz="1500" i="1" dirty="0">
                <a:solidFill>
                  <a:srgbClr val="AEB8C6"/>
                </a:solidFill>
                <a:latin typeface="Calibri" pitchFamily="34" charset="0"/>
                <a:ea typeface="Calibri" pitchFamily="34" charset="-122"/>
                <a:cs typeface="Calibri" pitchFamily="34" charset="-120"/>
              </a:rPr>
              <a:t>A from-scratch re-implementation and study of BING — Binarized Normed Gradients for Objectness Estimation (Cheng, Zhang, Lin, Torr · CVPR 2014)</a:t>
            </a:r>
            <a:endParaRPr lang="en-US" sz="1500" dirty="0"/>
          </a:p>
        </p:txBody>
      </p:sp>
      <p:sp>
        <p:nvSpPr>
          <p:cNvPr id="6" name="Text 3"/>
          <p:cNvSpPr txBox="1"/>
          <p:nvPr/>
        </p:nvSpPr>
        <p:spPr>
          <a:xfrm>
            <a:off x="548640" y="443484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Abhinav Dileep</a:t>
            </a:r>
            <a:r>
              <a:rPr lang="en-US" sz="1400" dirty="0">
                <a:solidFill>
                  <a:srgbClr val="AEB8C6"/>
                </a:solidFill>
                <a:latin typeface="Calibri" pitchFamily="34" charset="0"/>
                <a:ea typeface="Calibri" pitchFamily="34" charset="-122"/>
                <a:cs typeface="Calibri" pitchFamily="34" charset="-120"/>
              </a:rPr>
              <a:t>   	AM.SC.U4CSE23202</a:t>
            </a:r>
            <a:endParaRPr lang="en-US" sz="1400" dirty="0"/>
          </a:p>
        </p:txBody>
      </p:sp>
      <p:sp>
        <p:nvSpPr>
          <p:cNvPr id="7" name="Text 4"/>
          <p:cNvSpPr txBox="1"/>
          <p:nvPr/>
        </p:nvSpPr>
        <p:spPr>
          <a:xfrm>
            <a:off x="548640" y="480060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Ayyappadas M T</a:t>
            </a:r>
            <a:r>
              <a:rPr lang="en-US" sz="1400" dirty="0">
                <a:solidFill>
                  <a:srgbClr val="AEB8C6"/>
                </a:solidFill>
                <a:latin typeface="Calibri" pitchFamily="34" charset="0"/>
                <a:ea typeface="Calibri" pitchFamily="34" charset="-122"/>
                <a:cs typeface="Calibri" pitchFamily="34" charset="-120"/>
              </a:rPr>
              <a:t>   	AM.SC.U4CSE23209</a:t>
            </a:r>
            <a:endParaRPr lang="en-US" sz="1400" dirty="0"/>
          </a:p>
        </p:txBody>
      </p:sp>
      <p:sp>
        <p:nvSpPr>
          <p:cNvPr id="8" name="Text 5"/>
          <p:cNvSpPr txBox="1"/>
          <p:nvPr/>
        </p:nvSpPr>
        <p:spPr>
          <a:xfrm>
            <a:off x="548640" y="516636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Hari Sankar A</a:t>
            </a:r>
            <a:r>
              <a:rPr lang="en-US" sz="1400" dirty="0">
                <a:solidFill>
                  <a:srgbClr val="AEB8C6"/>
                </a:solidFill>
                <a:latin typeface="Calibri" pitchFamily="34" charset="0"/>
                <a:ea typeface="Calibri" pitchFamily="34" charset="-122"/>
                <a:cs typeface="Calibri" pitchFamily="34" charset="-120"/>
              </a:rPr>
              <a:t>   	AM.SC.U4CSE23221</a:t>
            </a:r>
            <a:endParaRPr lang="en-US" sz="1400" dirty="0"/>
          </a:p>
        </p:txBody>
      </p:sp>
      <p:sp>
        <p:nvSpPr>
          <p:cNvPr id="9" name="Text 6"/>
          <p:cNvSpPr txBox="1"/>
          <p:nvPr/>
        </p:nvSpPr>
        <p:spPr>
          <a:xfrm>
            <a:off x="548640" y="553212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Parthiv M</a:t>
            </a:r>
            <a:r>
              <a:rPr lang="en-US" sz="1400" dirty="0">
                <a:solidFill>
                  <a:srgbClr val="AEB8C6"/>
                </a:solidFill>
                <a:latin typeface="Calibri" pitchFamily="34" charset="0"/>
                <a:ea typeface="Calibri" pitchFamily="34" charset="-122"/>
                <a:cs typeface="Calibri" pitchFamily="34" charset="-120"/>
              </a:rPr>
              <a:t>   		AM.SC.U4CSE23240</a:t>
            </a:r>
            <a:endParaRPr lang="en-US" sz="1400" dirty="0"/>
          </a:p>
        </p:txBody>
      </p:sp>
      <p:sp>
        <p:nvSpPr>
          <p:cNvPr id="10" name="Text 7"/>
          <p:cNvSpPr txBox="1"/>
          <p:nvPr/>
        </p:nvSpPr>
        <p:spPr>
          <a:xfrm>
            <a:off x="548640" y="589788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Sai Kishen K M</a:t>
            </a:r>
            <a:r>
              <a:rPr lang="en-US" sz="1400" dirty="0">
                <a:solidFill>
                  <a:srgbClr val="AEB8C6"/>
                </a:solidFill>
                <a:latin typeface="Calibri" pitchFamily="34" charset="0"/>
                <a:ea typeface="Calibri" pitchFamily="34" charset="-122"/>
                <a:cs typeface="Calibri" pitchFamily="34" charset="-120"/>
              </a:rPr>
              <a:t>   	AM.SC.U4CSE23248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1 · INTRODUCTION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Why object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1554480"/>
            <a:ext cx="6035040" cy="4389120"/>
          </a:xfrm>
          <a:prstGeom prst="rect">
            <a:avLst/>
          </a:prstGeom>
          <a:noFill/>
          <a:ln/>
        </p:spPr>
        <p:txBody>
          <a:bodyPr wrap="square" lIns="0" tIns="0" rIns="0" bIns="0" rtlCol="0" anchor="t"/>
          <a:lstStyle/>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detection is expensive. </a:t>
            </a:r>
            <a:r>
              <a:rPr lang="en-US" sz="1700" dirty="0">
                <a:solidFill>
                  <a:srgbClr val="5B6270"/>
                </a:solidFill>
                <a:latin typeface="Calibri" pitchFamily="34" charset="0"/>
                <a:ea typeface="Calibri" pitchFamily="34" charset="-122"/>
                <a:cs typeface="Calibri" pitchFamily="34" charset="-120"/>
              </a:rPr>
              <a:t>A sliding-window detector must classify every position × scale × aspect ratio, which is 10⁵–10⁶ windows per image.</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Most windows are background. </a:t>
            </a:r>
            <a:r>
              <a:rPr lang="en-US" sz="1700" dirty="0">
                <a:solidFill>
                  <a:srgbClr val="5B6270"/>
                </a:solidFill>
                <a:latin typeface="Calibri" pitchFamily="34" charset="0"/>
                <a:ea typeface="Calibri" pitchFamily="34" charset="-122"/>
                <a:cs typeface="Calibri" pitchFamily="34" charset="-120"/>
              </a:rPr>
              <a:t>Only a handful of windows actually contain an object.</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proposals. </a:t>
            </a:r>
            <a:r>
              <a:rPr lang="en-US" sz="1700" dirty="0">
                <a:solidFill>
                  <a:srgbClr val="5B6270"/>
                </a:solidFill>
                <a:latin typeface="Calibri" pitchFamily="34" charset="0"/>
                <a:ea typeface="Calibri" pitchFamily="34" charset="-122"/>
                <a:cs typeface="Calibri" pitchFamily="34" charset="-120"/>
              </a:rPr>
              <a:t>A cheap, class-agnostic objectness score ranks the windows, so the detector only examines the top ~1000.</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Base paper: BING (CVPR 2014). </a:t>
            </a:r>
            <a:r>
              <a:rPr lang="en-US" sz="1700" dirty="0">
                <a:solidFill>
                  <a:srgbClr val="5B6270"/>
                </a:solidFill>
                <a:latin typeface="Calibri" pitchFamily="34" charset="0"/>
                <a:ea typeface="Calibri" pitchFamily="34" charset="-122"/>
                <a:cs typeface="Calibri" pitchFamily="34" charset="-120"/>
              </a:rPr>
              <a:t>Handcrafted gradient features + bit operations produce proposals at 300 fps, with no deep learning.</a:t>
            </a:r>
            <a:endParaRPr lang="en-US" sz="1700" dirty="0"/>
          </a:p>
        </p:txBody>
      </p:sp>
      <p:sp>
        <p:nvSpPr>
          <p:cNvPr id="6" name="Shape 4"/>
          <p:cNvSpPr/>
          <p:nvPr/>
        </p:nvSpPr>
        <p:spPr>
          <a:xfrm>
            <a:off x="7040880" y="1554480"/>
            <a:ext cx="4572000" cy="4572000"/>
          </a:xfrm>
          <a:prstGeom prst="roundRect">
            <a:avLst>
              <a:gd name="adj" fmla="val 2400"/>
            </a:avLst>
          </a:prstGeom>
          <a:solidFill>
            <a:srgbClr val="F1F4F7"/>
          </a:solidFill>
          <a:ln w="12700">
            <a:solidFill>
              <a:srgbClr val="F1F4F7"/>
            </a:solidFill>
            <a:prstDash val="solid"/>
          </a:ln>
        </p:spPr>
      </p:sp>
      <p:sp>
        <p:nvSpPr>
          <p:cNvPr id="7" name="Text 5"/>
          <p:cNvSpPr txBox="1"/>
          <p:nvPr/>
        </p:nvSpPr>
        <p:spPr>
          <a:xfrm>
            <a:off x="7406640" y="1828800"/>
            <a:ext cx="39319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~10⁵+</a:t>
            </a:r>
            <a:endParaRPr lang="en-US" sz="4400" dirty="0"/>
          </a:p>
        </p:txBody>
      </p:sp>
      <p:sp>
        <p:nvSpPr>
          <p:cNvPr id="8" name="Text 6"/>
          <p:cNvSpPr txBox="1"/>
          <p:nvPr/>
        </p:nvSpPr>
        <p:spPr>
          <a:xfrm>
            <a:off x="7406640" y="265176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windows a naïve sliding-window scan evaluates per image</a:t>
            </a:r>
            <a:endParaRPr lang="en-US" sz="1300" dirty="0"/>
          </a:p>
        </p:txBody>
      </p:sp>
      <p:sp>
        <p:nvSpPr>
          <p:cNvPr id="9" name="Text 7"/>
          <p:cNvSpPr txBox="1"/>
          <p:nvPr/>
        </p:nvSpPr>
        <p:spPr>
          <a:xfrm>
            <a:off x="7406640" y="3246120"/>
            <a:ext cx="39319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~1000</a:t>
            </a:r>
            <a:endParaRPr lang="en-US" sz="4400" dirty="0"/>
          </a:p>
        </p:txBody>
      </p:sp>
      <p:sp>
        <p:nvSpPr>
          <p:cNvPr id="10" name="Text 8"/>
          <p:cNvSpPr txBox="1"/>
          <p:nvPr/>
        </p:nvSpPr>
        <p:spPr>
          <a:xfrm>
            <a:off x="7406640" y="40690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proposals that a detector needs to check instead</a:t>
            </a:r>
            <a:endParaRPr lang="en-US" sz="1300" dirty="0"/>
          </a:p>
        </p:txBody>
      </p:sp>
      <p:sp>
        <p:nvSpPr>
          <p:cNvPr id="11" name="Text 9"/>
          <p:cNvSpPr txBox="1"/>
          <p:nvPr/>
        </p:nvSpPr>
        <p:spPr>
          <a:xfrm>
            <a:off x="7406640" y="4617720"/>
            <a:ext cx="39319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300 fps</a:t>
            </a:r>
            <a:endParaRPr lang="en-US" sz="4400" dirty="0"/>
          </a:p>
        </p:txBody>
      </p:sp>
      <p:sp>
        <p:nvSpPr>
          <p:cNvPr id="12" name="Text 10"/>
          <p:cNvSpPr txBox="1"/>
          <p:nvPr/>
        </p:nvSpPr>
        <p:spPr>
          <a:xfrm>
            <a:off x="7406640" y="54406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BING's reported speed in the paper's C++ implementation</a:t>
            </a:r>
            <a:endParaRPr lang="en-US" sz="1300" dirty="0"/>
          </a:p>
        </p:txBody>
      </p:sp>
      <p:sp>
        <p:nvSpPr>
          <p:cNvPr id="14" name="Text 11"/>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 · PROBLEM DEFINITION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Problem definition</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11064240" cy="1234440"/>
          </a:xfrm>
          <a:prstGeom prst="roundRect">
            <a:avLst>
              <a:gd name="adj" fmla="val 8889"/>
            </a:avLst>
          </a:prstGeom>
          <a:solidFill>
            <a:srgbClr val="FDF1E8"/>
          </a:solidFill>
          <a:ln w="12700">
            <a:solidFill>
              <a:srgbClr val="FDF1E8"/>
            </a:solidFill>
            <a:prstDash val="solid"/>
          </a:ln>
        </p:spPr>
      </p:sp>
      <p:sp>
        <p:nvSpPr>
          <p:cNvPr id="6" name="Text 4"/>
          <p:cNvSpPr txBox="1"/>
          <p:nvPr/>
        </p:nvSpPr>
        <p:spPr>
          <a:xfrm>
            <a:off x="822960" y="1691640"/>
            <a:ext cx="10515600" cy="960120"/>
          </a:xfrm>
          <a:prstGeom prst="rect">
            <a:avLst/>
          </a:prstGeom>
          <a:noFill/>
          <a:ln/>
        </p:spPr>
        <p:txBody>
          <a:bodyPr wrap="square" lIns="0" tIns="0" rIns="0" bIns="0" rtlCol="0" anchor="ctr"/>
          <a:lstStyle/>
          <a:p>
            <a:pPr marL="0" indent="0">
              <a:buNone/>
            </a:pPr>
            <a:r>
              <a:rPr lang="en-US" sz="1900" b="1" dirty="0">
                <a:solidFill>
                  <a:srgbClr val="1B1F2A"/>
                </a:solidFill>
                <a:latin typeface="Cambria" pitchFamily="34" charset="0"/>
                <a:ea typeface="Cambria" pitchFamily="34" charset="-122"/>
                <a:cs typeface="Cambria" pitchFamily="34" charset="-120"/>
              </a:rPr>
              <a:t>Given an image I, output a ranked list of N bounding boxes such that as many objects as possible are covered (IoU ≥ 0.5) by a small N, in milliseconds, using only handcrafted features.</a:t>
            </a:r>
            <a:endParaRPr lang="en-US" sz="1900" dirty="0"/>
          </a:p>
        </p:txBody>
      </p:sp>
      <p:sp>
        <p:nvSpPr>
          <p:cNvPr id="7" name="Shape 5"/>
          <p:cNvSpPr/>
          <p:nvPr/>
        </p:nvSpPr>
        <p:spPr>
          <a:xfrm>
            <a:off x="548640" y="3063240"/>
            <a:ext cx="2606040" cy="2011680"/>
          </a:xfrm>
          <a:prstGeom prst="roundRect">
            <a:avLst>
              <a:gd name="adj" fmla="val 5455"/>
            </a:avLst>
          </a:prstGeom>
          <a:solidFill>
            <a:srgbClr val="F1F4F7"/>
          </a:solidFill>
          <a:ln w="12700">
            <a:solidFill>
              <a:srgbClr val="F1F4F7"/>
            </a:solidFill>
            <a:prstDash val="solid"/>
          </a:ln>
        </p:spPr>
      </p:sp>
      <p:sp>
        <p:nvSpPr>
          <p:cNvPr id="8" name="Shape 6"/>
          <p:cNvSpPr/>
          <p:nvPr/>
        </p:nvSpPr>
        <p:spPr>
          <a:xfrm>
            <a:off x="731520" y="3246120"/>
            <a:ext cx="420624" cy="420624"/>
          </a:xfrm>
          <a:prstGeom prst="ellipse">
            <a:avLst/>
          </a:prstGeom>
          <a:solidFill>
            <a:srgbClr val="1C7293"/>
          </a:solidFill>
          <a:ln w="12700">
            <a:solidFill>
              <a:srgbClr val="1C7293"/>
            </a:solidFill>
            <a:prstDash val="solid"/>
          </a:ln>
        </p:spPr>
      </p:sp>
      <p:sp>
        <p:nvSpPr>
          <p:cNvPr id="9" name="Text 7"/>
          <p:cNvSpPr txBox="1"/>
          <p:nvPr/>
        </p:nvSpPr>
        <p:spPr>
          <a:xfrm>
            <a:off x="73152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73152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a:t>
            </a:r>
            <a:endParaRPr lang="en-US" sz="1700" dirty="0"/>
          </a:p>
        </p:txBody>
      </p:sp>
      <p:sp>
        <p:nvSpPr>
          <p:cNvPr id="11" name="Text 9"/>
          <p:cNvSpPr txBox="1"/>
          <p:nvPr/>
        </p:nvSpPr>
        <p:spPr>
          <a:xfrm>
            <a:off x="73152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An RGB image of any size, any content</a:t>
            </a:r>
            <a:endParaRPr lang="en-US" sz="1300" dirty="0"/>
          </a:p>
        </p:txBody>
      </p:sp>
      <p:sp>
        <p:nvSpPr>
          <p:cNvPr id="12" name="Shape 10"/>
          <p:cNvSpPr/>
          <p:nvPr/>
        </p:nvSpPr>
        <p:spPr>
          <a:xfrm>
            <a:off x="3383280" y="3063240"/>
            <a:ext cx="2606040" cy="2011680"/>
          </a:xfrm>
          <a:prstGeom prst="roundRect">
            <a:avLst>
              <a:gd name="adj" fmla="val 5455"/>
            </a:avLst>
          </a:prstGeom>
          <a:solidFill>
            <a:srgbClr val="F1F4F7"/>
          </a:solidFill>
          <a:ln w="12700">
            <a:solidFill>
              <a:srgbClr val="F1F4F7"/>
            </a:solidFill>
            <a:prstDash val="solid"/>
          </a:ln>
        </p:spPr>
      </p:sp>
      <p:sp>
        <p:nvSpPr>
          <p:cNvPr id="13" name="Shape 11"/>
          <p:cNvSpPr/>
          <p:nvPr/>
        </p:nvSpPr>
        <p:spPr>
          <a:xfrm>
            <a:off x="3566160" y="3246120"/>
            <a:ext cx="420624" cy="420624"/>
          </a:xfrm>
          <a:prstGeom prst="ellipse">
            <a:avLst/>
          </a:prstGeom>
          <a:solidFill>
            <a:srgbClr val="1C7293"/>
          </a:solidFill>
          <a:ln w="12700">
            <a:solidFill>
              <a:srgbClr val="1C7293"/>
            </a:solidFill>
            <a:prstDash val="solid"/>
          </a:ln>
        </p:spPr>
      </p:sp>
      <p:sp>
        <p:nvSpPr>
          <p:cNvPr id="14" name="Text 12"/>
          <p:cNvSpPr txBox="1"/>
          <p:nvPr/>
        </p:nvSpPr>
        <p:spPr>
          <a:xfrm>
            <a:off x="356616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56616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Output</a:t>
            </a:r>
            <a:endParaRPr lang="en-US" sz="1700" dirty="0"/>
          </a:p>
        </p:txBody>
      </p:sp>
      <p:sp>
        <p:nvSpPr>
          <p:cNvPr id="16" name="Text 14"/>
          <p:cNvSpPr txBox="1"/>
          <p:nvPr/>
        </p:nvSpPr>
        <p:spPr>
          <a:xfrm>
            <a:off x="356616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Boxes (x₁, y₁, x₂, y₂) ranked by objectness score, plus an objectness heat-map</a:t>
            </a:r>
            <a:endParaRPr lang="en-US" sz="1300" dirty="0"/>
          </a:p>
        </p:txBody>
      </p:sp>
      <p:sp>
        <p:nvSpPr>
          <p:cNvPr id="17" name="Shape 15"/>
          <p:cNvSpPr/>
          <p:nvPr/>
        </p:nvSpPr>
        <p:spPr>
          <a:xfrm>
            <a:off x="6217920" y="3063240"/>
            <a:ext cx="2606040" cy="2011680"/>
          </a:xfrm>
          <a:prstGeom prst="roundRect">
            <a:avLst>
              <a:gd name="adj" fmla="val 5455"/>
            </a:avLst>
          </a:prstGeom>
          <a:solidFill>
            <a:srgbClr val="F1F4F7"/>
          </a:solidFill>
          <a:ln w="12700">
            <a:solidFill>
              <a:srgbClr val="F1F4F7"/>
            </a:solidFill>
            <a:prstDash val="solid"/>
          </a:ln>
        </p:spPr>
      </p:sp>
      <p:sp>
        <p:nvSpPr>
          <p:cNvPr id="18" name="Shape 16"/>
          <p:cNvSpPr/>
          <p:nvPr/>
        </p:nvSpPr>
        <p:spPr>
          <a:xfrm>
            <a:off x="6400800" y="324612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Constraints</a:t>
            </a:r>
            <a:endParaRPr lang="en-US" sz="1700" dirty="0"/>
          </a:p>
        </p:txBody>
      </p:sp>
      <p:sp>
        <p:nvSpPr>
          <p:cNvPr id="21" name="Text 19"/>
          <p:cNvSpPr txBox="1"/>
          <p:nvPr/>
        </p:nvSpPr>
        <p:spPr>
          <a:xfrm>
            <a:off x="640080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Class-agnostic, real-time, CPU only, no deep networks</a:t>
            </a:r>
            <a:endParaRPr lang="en-US" sz="1300" dirty="0"/>
          </a:p>
        </p:txBody>
      </p:sp>
      <p:sp>
        <p:nvSpPr>
          <p:cNvPr id="22" name="Shape 20"/>
          <p:cNvSpPr/>
          <p:nvPr/>
        </p:nvSpPr>
        <p:spPr>
          <a:xfrm>
            <a:off x="9052560" y="3063240"/>
            <a:ext cx="2606040" cy="2011680"/>
          </a:xfrm>
          <a:prstGeom prst="roundRect">
            <a:avLst>
              <a:gd name="adj" fmla="val 5455"/>
            </a:avLst>
          </a:prstGeom>
          <a:solidFill>
            <a:srgbClr val="F1F4F7"/>
          </a:solidFill>
          <a:ln w="12700">
            <a:solidFill>
              <a:srgbClr val="F1F4F7"/>
            </a:solidFill>
            <a:prstDash val="solid"/>
          </a:ln>
        </p:spPr>
      </p:sp>
      <p:sp>
        <p:nvSpPr>
          <p:cNvPr id="23" name="Shape 21"/>
          <p:cNvSpPr/>
          <p:nvPr/>
        </p:nvSpPr>
        <p:spPr>
          <a:xfrm>
            <a:off x="9235440" y="3246120"/>
            <a:ext cx="420624" cy="420624"/>
          </a:xfrm>
          <a:prstGeom prst="ellipse">
            <a:avLst/>
          </a:prstGeom>
          <a:solidFill>
            <a:srgbClr val="1C7293"/>
          </a:solidFill>
          <a:ln w="12700">
            <a:solidFill>
              <a:srgbClr val="1C7293"/>
            </a:solidFill>
            <a:prstDash val="solid"/>
          </a:ln>
        </p:spPr>
      </p:sp>
      <p:sp>
        <p:nvSpPr>
          <p:cNvPr id="24" name="Text 22"/>
          <p:cNvSpPr txBox="1"/>
          <p:nvPr/>
        </p:nvSpPr>
        <p:spPr>
          <a:xfrm>
            <a:off x="923544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923544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Success measures</a:t>
            </a:r>
            <a:endParaRPr lang="en-US" sz="1700" dirty="0"/>
          </a:p>
        </p:txBody>
      </p:sp>
      <p:sp>
        <p:nvSpPr>
          <p:cNvPr id="26" name="Text 24"/>
          <p:cNvSpPr txBox="1"/>
          <p:nvPr/>
        </p:nvSpPr>
        <p:spPr>
          <a:xfrm>
            <a:off x="923544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Detection rate vs #proposals (DR@N), MABO (box tightness), runtime (fps)</a:t>
            </a:r>
            <a:endParaRPr lang="en-US" sz="1300" dirty="0"/>
          </a:p>
        </p:txBody>
      </p:sp>
      <p:sp>
        <p:nvSpPr>
          <p:cNvPr id="27" name="Text 25"/>
          <p:cNvSpPr txBox="1"/>
          <p:nvPr/>
        </p:nvSpPr>
        <p:spPr>
          <a:xfrm>
            <a:off x="548640" y="5349240"/>
            <a:ext cx="11064240" cy="548640"/>
          </a:xfrm>
          <a:prstGeom prst="rect">
            <a:avLst/>
          </a:prstGeom>
          <a:noFill/>
          <a:ln/>
        </p:spPr>
        <p:txBody>
          <a:bodyPr wrap="square" lIns="0" tIns="0" rIns="0" bIns="0" rtlCol="0" anchor="ctr"/>
          <a:lstStyle/>
          <a:p>
            <a:pPr marL="0" indent="0">
              <a:buNone/>
            </a:pPr>
            <a:r>
              <a:rPr lang="en-US" sz="1400" i="1" dirty="0">
                <a:solidFill>
                  <a:srgbClr val="5B6270"/>
                </a:solidFill>
                <a:latin typeface="Calibri" pitchFamily="34" charset="0"/>
                <a:ea typeface="Calibri" pitchFamily="34" charset="-122"/>
                <a:cs typeface="Calibri" pitchFamily="34" charset="-120"/>
              </a:rPr>
              <a:t>Scope: we answer “Which regions are likely to contain objects?”, not “What is the object?” (classification is a later stage).</a:t>
            </a:r>
            <a:endParaRPr lang="en-US" sz="1400" dirty="0"/>
          </a:p>
        </p:txBody>
      </p:sp>
      <p:sp>
        <p:nvSpPr>
          <p:cNvPr id="29" name="Text 26"/>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3 · PROPOSED SOLUTION &amp; NOVELTY</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Proposed solution: BING, rebuilt and extended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1508760"/>
            <a:ext cx="5852160" cy="27432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Key idea. </a:t>
            </a:r>
            <a:r>
              <a:rPr lang="en-US" sz="1500" dirty="0">
                <a:solidFill>
                  <a:srgbClr val="5B6270"/>
                </a:solidFill>
                <a:latin typeface="Calibri" pitchFamily="34" charset="0"/>
                <a:ea typeface="Calibri" pitchFamily="34" charset="-122"/>
                <a:cs typeface="Calibri" pitchFamily="34" charset="-120"/>
              </a:rPr>
              <a:t>Objects have closed boundaries. Shrink any window to 8×8 and look at gradient magnitudes: object windows show a ring of edges.</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64-weight linear model. </a:t>
            </a:r>
            <a:r>
              <a:rPr lang="en-US" sz="1500" dirty="0">
                <a:solidFill>
                  <a:srgbClr val="5B6270"/>
                </a:solidFill>
                <a:latin typeface="Calibri" pitchFamily="34" charset="0"/>
                <a:ea typeface="Calibri" pitchFamily="34" charset="-122"/>
                <a:cs typeface="Calibri" pitchFamily="34" charset="-120"/>
              </a:rPr>
              <a:t>An SVM filter learns this “closed boundary” template (right); a second stage calibrates each window size.</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Bits instead of floats. </a:t>
            </a:r>
            <a:r>
              <a:rPr lang="en-US" sz="1500" dirty="0">
                <a:solidFill>
                  <a:srgbClr val="5B6270"/>
                </a:solidFill>
                <a:latin typeface="Calibri" pitchFamily="34" charset="0"/>
                <a:ea typeface="Calibri" pitchFamily="34" charset="-122"/>
                <a:cs typeface="Calibri" pitchFamily="34" charset="-120"/>
              </a:rPr>
              <a:t>Filter and features are binarized, so each window costs a few AND + POPCOUNT operations.</a:t>
            </a:r>
            <a:endParaRPr lang="en-US" sz="1500" dirty="0"/>
          </a:p>
        </p:txBody>
      </p:sp>
      <p:pic>
        <p:nvPicPr>
          <p:cNvPr id="6" name="Image 0" descr="/home/user/cvprojectg10/results/figures/filter_w.png"/>
          <p:cNvPicPr>
            <a:picLocks noChangeAspect="1"/>
          </p:cNvPicPr>
          <p:nvPr/>
        </p:nvPicPr>
        <p:blipFill>
          <a:blip r:embed="rId3"/>
          <a:srcRect/>
          <a:stretch/>
        </p:blipFill>
        <p:spPr>
          <a:xfrm>
            <a:off x="6675120" y="1463040"/>
            <a:ext cx="5029200" cy="1600200"/>
          </a:xfrm>
          <a:prstGeom prst="rect">
            <a:avLst/>
          </a:prstGeom>
        </p:spPr>
      </p:pic>
      <p:sp>
        <p:nvSpPr>
          <p:cNvPr id="7" name="Text 4"/>
          <p:cNvSpPr txBox="1"/>
          <p:nvPr/>
        </p:nvSpPr>
        <p:spPr>
          <a:xfrm>
            <a:off x="548640" y="3931920"/>
            <a:ext cx="731520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Our novelty beyond the paper</a:t>
            </a:r>
            <a:endParaRPr lang="en-US" sz="1800" dirty="0"/>
          </a:p>
        </p:txBody>
      </p:sp>
      <p:sp>
        <p:nvSpPr>
          <p:cNvPr id="8" name="Shape 5"/>
          <p:cNvSpPr/>
          <p:nvPr/>
        </p:nvSpPr>
        <p:spPr>
          <a:xfrm>
            <a:off x="548640" y="4389120"/>
            <a:ext cx="2606040" cy="1737360"/>
          </a:xfrm>
          <a:prstGeom prst="roundRect">
            <a:avLst>
              <a:gd name="adj" fmla="val 6316"/>
            </a:avLst>
          </a:prstGeom>
          <a:solidFill>
            <a:srgbClr val="F1F4F7"/>
          </a:solidFill>
          <a:ln w="12700">
            <a:solidFill>
              <a:srgbClr val="F1F4F7"/>
            </a:solidFill>
            <a:prstDash val="solid"/>
          </a:ln>
        </p:spPr>
      </p:sp>
      <p:sp>
        <p:nvSpPr>
          <p:cNvPr id="9" name="Text 6"/>
          <p:cNvSpPr txBox="1"/>
          <p:nvPr/>
        </p:nvSpPr>
        <p:spPr>
          <a:xfrm>
            <a:off x="73152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From-scratch Python</a:t>
            </a:r>
            <a:endParaRPr lang="en-US" sz="1500" dirty="0"/>
          </a:p>
        </p:txBody>
      </p:sp>
      <p:sp>
        <p:nvSpPr>
          <p:cNvPr id="10" name="Text 7"/>
          <p:cNvSpPr txBox="1"/>
          <p:nvPr/>
        </p:nvSpPr>
        <p:spPr>
          <a:xfrm>
            <a:off x="73152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No reuse of the C++ code; Numba JIT kernel of the paper's Alg. 2</a:t>
            </a:r>
            <a:endParaRPr lang="en-US" sz="1250" dirty="0"/>
          </a:p>
        </p:txBody>
      </p:sp>
      <p:sp>
        <p:nvSpPr>
          <p:cNvPr id="11" name="Shape 8"/>
          <p:cNvSpPr/>
          <p:nvPr/>
        </p:nvSpPr>
        <p:spPr>
          <a:xfrm>
            <a:off x="3383280" y="4389120"/>
            <a:ext cx="2606040" cy="1737360"/>
          </a:xfrm>
          <a:prstGeom prst="roundRect">
            <a:avLst>
              <a:gd name="adj" fmla="val 6316"/>
            </a:avLst>
          </a:prstGeom>
          <a:solidFill>
            <a:srgbClr val="F1F4F7"/>
          </a:solidFill>
          <a:ln w="12700">
            <a:solidFill>
              <a:srgbClr val="F1F4F7"/>
            </a:solidFill>
            <a:prstDash val="solid"/>
          </a:ln>
        </p:spPr>
      </p:sp>
      <p:sp>
        <p:nvSpPr>
          <p:cNvPr id="12" name="Text 9"/>
          <p:cNvSpPr txBox="1"/>
          <p:nvPr/>
        </p:nvSpPr>
        <p:spPr>
          <a:xfrm>
            <a:off x="356616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Head-to-head on VOC</a:t>
            </a:r>
            <a:endParaRPr lang="en-US" sz="1500" dirty="0"/>
          </a:p>
        </p:txBody>
      </p:sp>
      <p:sp>
        <p:nvSpPr>
          <p:cNvPr id="13" name="Text 10"/>
          <p:cNvSpPr txBox="1"/>
          <p:nvPr/>
        </p:nvSpPr>
        <p:spPr>
          <a:xfrm>
            <a:off x="356616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Compiled and ran the authors' C++ code; same images, same evaluator</a:t>
            </a:r>
            <a:endParaRPr lang="en-US" sz="1250" dirty="0"/>
          </a:p>
        </p:txBody>
      </p:sp>
      <p:sp>
        <p:nvSpPr>
          <p:cNvPr id="14" name="Shape 11"/>
          <p:cNvSpPr/>
          <p:nvPr/>
        </p:nvSpPr>
        <p:spPr>
          <a:xfrm>
            <a:off x="6217920" y="4389120"/>
            <a:ext cx="2606040" cy="1737360"/>
          </a:xfrm>
          <a:prstGeom prst="roundRect">
            <a:avLst>
              <a:gd name="adj" fmla="val 6316"/>
            </a:avLst>
          </a:prstGeom>
          <a:solidFill>
            <a:srgbClr val="F1F4F7"/>
          </a:solidFill>
          <a:ln w="12700">
            <a:solidFill>
              <a:srgbClr val="F1F4F7"/>
            </a:solidFill>
            <a:prstDash val="solid"/>
          </a:ln>
        </p:spPr>
      </p:sp>
      <p:sp>
        <p:nvSpPr>
          <p:cNvPr id="15" name="Text 12"/>
          <p:cNvSpPr txBox="1"/>
          <p:nvPr/>
        </p:nvSpPr>
        <p:spPr>
          <a:xfrm>
            <a:off x="640080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Two missing details</a:t>
            </a:r>
            <a:endParaRPr lang="en-US" sz="1500" dirty="0"/>
          </a:p>
        </p:txBody>
      </p:sp>
      <p:sp>
        <p:nvSpPr>
          <p:cNvPr id="16" name="Text 13"/>
          <p:cNvSpPr txBox="1"/>
          <p:nvPr/>
        </p:nvSpPr>
        <p:spPr>
          <a:xfrm>
            <a:off x="640080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Window sizes and suppression from the released code, not the paper</a:t>
            </a:r>
            <a:endParaRPr lang="en-US" sz="1250" dirty="0"/>
          </a:p>
        </p:txBody>
      </p:sp>
      <p:sp>
        <p:nvSpPr>
          <p:cNvPr id="17" name="Shape 14"/>
          <p:cNvSpPr/>
          <p:nvPr/>
        </p:nvSpPr>
        <p:spPr>
          <a:xfrm>
            <a:off x="9052560" y="4389120"/>
            <a:ext cx="2606040" cy="1737360"/>
          </a:xfrm>
          <a:prstGeom prst="roundRect">
            <a:avLst>
              <a:gd name="adj" fmla="val 6316"/>
            </a:avLst>
          </a:prstGeom>
          <a:solidFill>
            <a:srgbClr val="F1F4F7"/>
          </a:solidFill>
          <a:ln w="12700">
            <a:solidFill>
              <a:srgbClr val="F1F4F7"/>
            </a:solidFill>
            <a:prstDash val="solid"/>
          </a:ln>
        </p:spPr>
      </p:sp>
      <p:sp>
        <p:nvSpPr>
          <p:cNvPr id="18" name="Text 15"/>
          <p:cNvSpPr txBox="1"/>
          <p:nvPr/>
        </p:nvSpPr>
        <p:spPr>
          <a:xfrm>
            <a:off x="923544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Benchmarks + ablations</a:t>
            </a:r>
            <a:endParaRPr lang="en-US" sz="1500" dirty="0"/>
          </a:p>
        </p:txBody>
      </p:sp>
      <p:sp>
        <p:nvSpPr>
          <p:cNvPr id="19" name="Text 16"/>
          <p:cNvSpPr txBox="1"/>
          <p:nvPr/>
        </p:nvSpPr>
        <p:spPr>
          <a:xfrm>
            <a:off x="923544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Synthetic scenes, 58 real objects, gradient / colour / bits / data</a:t>
            </a:r>
            <a:endParaRPr lang="en-US" sz="1250" dirty="0"/>
          </a:p>
        </p:txBody>
      </p:sp>
      <p:sp>
        <p:nvSpPr>
          <p:cNvPr id="21" name="Text 1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System design: 8-stage pipeline</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48640" y="1600200"/>
            <a:ext cx="2560320" cy="1920240"/>
          </a:xfrm>
          <a:prstGeom prst="roundRect">
            <a:avLst>
              <a:gd name="adj" fmla="val 5714"/>
            </a:avLst>
          </a:prstGeom>
          <a:solidFill>
            <a:srgbClr val="F1F4F7"/>
          </a:solidFill>
          <a:ln w="12700">
            <a:solidFill>
              <a:srgbClr val="F1F4F7"/>
            </a:solidFill>
            <a:prstDash val="solid"/>
          </a:ln>
        </p:spPr>
      </p:sp>
      <p:sp>
        <p:nvSpPr>
          <p:cNvPr id="6" name="Shape 4"/>
          <p:cNvSpPr/>
          <p:nvPr/>
        </p:nvSpPr>
        <p:spPr>
          <a:xfrm>
            <a:off x="731520" y="1783080"/>
            <a:ext cx="420624" cy="420624"/>
          </a:xfrm>
          <a:prstGeom prst="ellipse">
            <a:avLst/>
          </a:prstGeom>
          <a:solidFill>
            <a:srgbClr val="1C7293"/>
          </a:solidFill>
          <a:ln w="12700">
            <a:solidFill>
              <a:srgbClr val="1C7293"/>
            </a:solidFill>
            <a:prstDash val="solid"/>
          </a:ln>
        </p:spPr>
      </p:sp>
      <p:sp>
        <p:nvSpPr>
          <p:cNvPr id="7" name="Text 5"/>
          <p:cNvSpPr txBox="1"/>
          <p:nvPr/>
        </p:nvSpPr>
        <p:spPr>
          <a:xfrm>
            <a:off x="73152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3152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 image</a:t>
            </a:r>
            <a:endParaRPr lang="en-US" sz="1700" dirty="0"/>
          </a:p>
        </p:txBody>
      </p:sp>
      <p:sp>
        <p:nvSpPr>
          <p:cNvPr id="9" name="Text 7"/>
          <p:cNvSpPr txBox="1"/>
          <p:nvPr/>
        </p:nvSpPr>
        <p:spPr>
          <a:xfrm>
            <a:off x="73152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longer side ≤ 500 px</a:t>
            </a:r>
            <a:endParaRPr lang="en-US" sz="1250" dirty="0"/>
          </a:p>
        </p:txBody>
      </p:sp>
      <p:sp>
        <p:nvSpPr>
          <p:cNvPr id="10" name="Text 8"/>
          <p:cNvSpPr txBox="1"/>
          <p:nvPr/>
        </p:nvSpPr>
        <p:spPr>
          <a:xfrm>
            <a:off x="310896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383280" y="1600200"/>
            <a:ext cx="2560320" cy="1920240"/>
          </a:xfrm>
          <a:prstGeom prst="roundRect">
            <a:avLst>
              <a:gd name="adj" fmla="val 5714"/>
            </a:avLst>
          </a:prstGeom>
          <a:solidFill>
            <a:srgbClr val="F1F4F7"/>
          </a:solidFill>
          <a:ln w="12700">
            <a:solidFill>
              <a:srgbClr val="F1F4F7"/>
            </a:solidFill>
            <a:prstDash val="solid"/>
          </a:ln>
        </p:spPr>
      </p:sp>
      <p:sp>
        <p:nvSpPr>
          <p:cNvPr id="12" name="Shape 10"/>
          <p:cNvSpPr/>
          <p:nvPr/>
        </p:nvSpPr>
        <p:spPr>
          <a:xfrm>
            <a:off x="3566160" y="1783080"/>
            <a:ext cx="420624" cy="420624"/>
          </a:xfrm>
          <a:prstGeom prst="ellipse">
            <a:avLst/>
          </a:prstGeom>
          <a:solidFill>
            <a:srgbClr val="1C7293"/>
          </a:solidFill>
          <a:ln w="12700">
            <a:solidFill>
              <a:srgbClr val="1C7293"/>
            </a:solidFill>
            <a:prstDash val="solid"/>
          </a:ln>
        </p:spPr>
      </p:sp>
      <p:sp>
        <p:nvSpPr>
          <p:cNvPr id="13" name="Text 11"/>
          <p:cNvSpPr txBox="1"/>
          <p:nvPr/>
        </p:nvSpPr>
        <p:spPr>
          <a:xfrm>
            <a:off x="356616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56616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Pre-processing</a:t>
            </a:r>
            <a:endParaRPr lang="en-US" sz="1700" dirty="0"/>
          </a:p>
        </p:txBody>
      </p:sp>
      <p:sp>
        <p:nvSpPr>
          <p:cNvPr id="15" name="Text 13"/>
          <p:cNvSpPr txBox="1"/>
          <p:nvPr/>
        </p:nvSpPr>
        <p:spPr>
          <a:xfrm>
            <a:off x="356616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colour space: RGB / HSV / Gray / Lab</a:t>
            </a:r>
            <a:endParaRPr lang="en-US" sz="1250" dirty="0"/>
          </a:p>
        </p:txBody>
      </p:sp>
      <p:sp>
        <p:nvSpPr>
          <p:cNvPr id="16" name="Text 14"/>
          <p:cNvSpPr txBox="1"/>
          <p:nvPr/>
        </p:nvSpPr>
        <p:spPr>
          <a:xfrm>
            <a:off x="594360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217920" y="1600200"/>
            <a:ext cx="2560320" cy="1920240"/>
          </a:xfrm>
          <a:prstGeom prst="roundRect">
            <a:avLst>
              <a:gd name="adj" fmla="val 5714"/>
            </a:avLst>
          </a:prstGeom>
          <a:solidFill>
            <a:srgbClr val="F1F4F7"/>
          </a:solidFill>
          <a:ln w="12700">
            <a:solidFill>
              <a:srgbClr val="F1F4F7"/>
            </a:solidFill>
            <a:prstDash val="solid"/>
          </a:ln>
        </p:spPr>
      </p:sp>
      <p:sp>
        <p:nvSpPr>
          <p:cNvPr id="18" name="Shape 16"/>
          <p:cNvSpPr/>
          <p:nvPr/>
        </p:nvSpPr>
        <p:spPr>
          <a:xfrm>
            <a:off x="6400800" y="178308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Candidates</a:t>
            </a:r>
            <a:endParaRPr lang="en-US" sz="1700" dirty="0"/>
          </a:p>
        </p:txBody>
      </p:sp>
      <p:sp>
        <p:nvSpPr>
          <p:cNvPr id="21" name="Text 19"/>
          <p:cNvSpPr txBox="1"/>
          <p:nvPr/>
        </p:nvSpPr>
        <p:spPr>
          <a:xfrm>
            <a:off x="640080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36 power-of-two sizes (16…512, clipped), every 8×8 position</a:t>
            </a:r>
            <a:endParaRPr lang="en-US" sz="1250" dirty="0"/>
          </a:p>
        </p:txBody>
      </p:sp>
      <p:sp>
        <p:nvSpPr>
          <p:cNvPr id="22" name="Text 20"/>
          <p:cNvSpPr txBox="1"/>
          <p:nvPr/>
        </p:nvSpPr>
        <p:spPr>
          <a:xfrm>
            <a:off x="877824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052560" y="1600200"/>
            <a:ext cx="2560320" cy="1920240"/>
          </a:xfrm>
          <a:prstGeom prst="roundRect">
            <a:avLst>
              <a:gd name="adj" fmla="val 5714"/>
            </a:avLst>
          </a:prstGeom>
          <a:solidFill>
            <a:srgbClr val="F1F4F7"/>
          </a:solidFill>
          <a:ln w="12700">
            <a:solidFill>
              <a:srgbClr val="F1F4F7"/>
            </a:solidFill>
            <a:prstDash val="solid"/>
          </a:ln>
        </p:spPr>
      </p:sp>
      <p:sp>
        <p:nvSpPr>
          <p:cNvPr id="24" name="Shape 22"/>
          <p:cNvSpPr/>
          <p:nvPr/>
        </p:nvSpPr>
        <p:spPr>
          <a:xfrm>
            <a:off x="9235440" y="1783080"/>
            <a:ext cx="420624" cy="420624"/>
          </a:xfrm>
          <a:prstGeom prst="ellipse">
            <a:avLst/>
          </a:prstGeom>
          <a:solidFill>
            <a:srgbClr val="1C7293"/>
          </a:solidFill>
          <a:ln w="12700">
            <a:solidFill>
              <a:srgbClr val="1C7293"/>
            </a:solidFill>
            <a:prstDash val="solid"/>
          </a:ln>
        </p:spPr>
      </p:sp>
      <p:sp>
        <p:nvSpPr>
          <p:cNvPr id="25" name="Text 23"/>
          <p:cNvSpPr txBox="1"/>
          <p:nvPr/>
        </p:nvSpPr>
        <p:spPr>
          <a:xfrm>
            <a:off x="923544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923544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Gradient features</a:t>
            </a:r>
            <a:endParaRPr lang="en-US" sz="1700" dirty="0"/>
          </a:p>
        </p:txBody>
      </p:sp>
      <p:sp>
        <p:nvSpPr>
          <p:cNvPr id="27" name="Text 25"/>
          <p:cNvSpPr txBox="1"/>
          <p:nvPr/>
        </p:nvSpPr>
        <p:spPr>
          <a:xfrm>
            <a:off x="923544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image resized per size, [-1 0 1] gradient</a:t>
            </a:r>
            <a:endParaRPr lang="en-US" sz="1250" dirty="0"/>
          </a:p>
        </p:txBody>
      </p:sp>
      <p:sp>
        <p:nvSpPr>
          <p:cNvPr id="28" name="Shape 26"/>
          <p:cNvSpPr/>
          <p:nvPr/>
        </p:nvSpPr>
        <p:spPr>
          <a:xfrm>
            <a:off x="548640" y="3840480"/>
            <a:ext cx="2560320" cy="1920240"/>
          </a:xfrm>
          <a:prstGeom prst="roundRect">
            <a:avLst>
              <a:gd name="adj" fmla="val 5714"/>
            </a:avLst>
          </a:prstGeom>
          <a:solidFill>
            <a:srgbClr val="FDF1E8"/>
          </a:solidFill>
          <a:ln w="12700">
            <a:solidFill>
              <a:srgbClr val="FDF1E8"/>
            </a:solidFill>
            <a:prstDash val="solid"/>
          </a:ln>
        </p:spPr>
      </p:sp>
      <p:sp>
        <p:nvSpPr>
          <p:cNvPr id="29" name="Shape 27"/>
          <p:cNvSpPr/>
          <p:nvPr/>
        </p:nvSpPr>
        <p:spPr>
          <a:xfrm>
            <a:off x="731520" y="4023360"/>
            <a:ext cx="420624" cy="420624"/>
          </a:xfrm>
          <a:prstGeom prst="ellipse">
            <a:avLst/>
          </a:prstGeom>
          <a:solidFill>
            <a:srgbClr val="E8772E"/>
          </a:solidFill>
          <a:ln w="12700">
            <a:solidFill>
              <a:srgbClr val="E8772E"/>
            </a:solidFill>
            <a:prstDash val="solid"/>
          </a:ln>
        </p:spPr>
      </p:sp>
      <p:sp>
        <p:nvSpPr>
          <p:cNvPr id="30" name="Text 28"/>
          <p:cNvSpPr txBox="1"/>
          <p:nvPr/>
        </p:nvSpPr>
        <p:spPr>
          <a:xfrm>
            <a:off x="73152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txBox="1"/>
          <p:nvPr/>
        </p:nvSpPr>
        <p:spPr>
          <a:xfrm>
            <a:off x="73152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Binarized NG</a:t>
            </a:r>
            <a:endParaRPr lang="en-US" sz="1700" dirty="0"/>
          </a:p>
        </p:txBody>
      </p:sp>
      <p:sp>
        <p:nvSpPr>
          <p:cNvPr id="32" name="Text 30"/>
          <p:cNvSpPr txBox="1"/>
          <p:nvPr/>
        </p:nvSpPr>
        <p:spPr>
          <a:xfrm>
            <a:off x="73152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top Ng=4 bit-planes packed into 64-bit words</a:t>
            </a:r>
            <a:endParaRPr lang="en-US" sz="1250" dirty="0"/>
          </a:p>
        </p:txBody>
      </p:sp>
      <p:sp>
        <p:nvSpPr>
          <p:cNvPr id="33" name="Text 31"/>
          <p:cNvSpPr txBox="1"/>
          <p:nvPr/>
        </p:nvSpPr>
        <p:spPr>
          <a:xfrm>
            <a:off x="310896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34" name="Shape 32"/>
          <p:cNvSpPr/>
          <p:nvPr/>
        </p:nvSpPr>
        <p:spPr>
          <a:xfrm>
            <a:off x="3383280" y="3840480"/>
            <a:ext cx="2560320" cy="1920240"/>
          </a:xfrm>
          <a:prstGeom prst="roundRect">
            <a:avLst>
              <a:gd name="adj" fmla="val 5714"/>
            </a:avLst>
          </a:prstGeom>
          <a:solidFill>
            <a:srgbClr val="FDF1E8"/>
          </a:solidFill>
          <a:ln w="12700">
            <a:solidFill>
              <a:srgbClr val="FDF1E8"/>
            </a:solidFill>
            <a:prstDash val="solid"/>
          </a:ln>
        </p:spPr>
      </p:sp>
      <p:sp>
        <p:nvSpPr>
          <p:cNvPr id="35" name="Shape 33"/>
          <p:cNvSpPr/>
          <p:nvPr/>
        </p:nvSpPr>
        <p:spPr>
          <a:xfrm>
            <a:off x="3566160" y="4023360"/>
            <a:ext cx="420624" cy="420624"/>
          </a:xfrm>
          <a:prstGeom prst="ellipse">
            <a:avLst/>
          </a:prstGeom>
          <a:solidFill>
            <a:srgbClr val="E8772E"/>
          </a:solidFill>
          <a:ln w="12700">
            <a:solidFill>
              <a:srgbClr val="E8772E"/>
            </a:solidFill>
            <a:prstDash val="solid"/>
          </a:ln>
        </p:spPr>
      </p:sp>
      <p:sp>
        <p:nvSpPr>
          <p:cNvPr id="36" name="Text 34"/>
          <p:cNvSpPr txBox="1"/>
          <p:nvPr/>
        </p:nvSpPr>
        <p:spPr>
          <a:xfrm>
            <a:off x="356616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356616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Objectness score</a:t>
            </a:r>
            <a:endParaRPr lang="en-US" sz="1700" dirty="0"/>
          </a:p>
        </p:txBody>
      </p:sp>
      <p:sp>
        <p:nvSpPr>
          <p:cNvPr id="38" name="Text 36"/>
          <p:cNvSpPr txBox="1"/>
          <p:nvPr/>
        </p:nvSpPr>
        <p:spPr>
          <a:xfrm>
            <a:off x="356616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 = ⟨w, g⟩ via AND + POPCOUNT (Nw=2)</a:t>
            </a:r>
            <a:endParaRPr lang="en-US" sz="1250" dirty="0"/>
          </a:p>
        </p:txBody>
      </p:sp>
      <p:sp>
        <p:nvSpPr>
          <p:cNvPr id="39" name="Text 37"/>
          <p:cNvSpPr txBox="1"/>
          <p:nvPr/>
        </p:nvSpPr>
        <p:spPr>
          <a:xfrm>
            <a:off x="594360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0" name="Shape 38"/>
          <p:cNvSpPr/>
          <p:nvPr/>
        </p:nvSpPr>
        <p:spPr>
          <a:xfrm>
            <a:off x="6217920" y="3840480"/>
            <a:ext cx="2560320" cy="1920240"/>
          </a:xfrm>
          <a:prstGeom prst="roundRect">
            <a:avLst>
              <a:gd name="adj" fmla="val 5714"/>
            </a:avLst>
          </a:prstGeom>
          <a:solidFill>
            <a:srgbClr val="FDF1E8"/>
          </a:solidFill>
          <a:ln w="12700">
            <a:solidFill>
              <a:srgbClr val="FDF1E8"/>
            </a:solidFill>
            <a:prstDash val="solid"/>
          </a:ln>
        </p:spPr>
      </p:sp>
      <p:sp>
        <p:nvSpPr>
          <p:cNvPr id="41" name="Shape 39"/>
          <p:cNvSpPr/>
          <p:nvPr/>
        </p:nvSpPr>
        <p:spPr>
          <a:xfrm>
            <a:off x="6400800" y="4023360"/>
            <a:ext cx="420624" cy="420624"/>
          </a:xfrm>
          <a:prstGeom prst="ellipse">
            <a:avLst/>
          </a:prstGeom>
          <a:solidFill>
            <a:srgbClr val="E8772E"/>
          </a:solidFill>
          <a:ln w="12700">
            <a:solidFill>
              <a:srgbClr val="E8772E"/>
            </a:solidFill>
            <a:prstDash val="solid"/>
          </a:ln>
        </p:spPr>
      </p:sp>
      <p:sp>
        <p:nvSpPr>
          <p:cNvPr id="42" name="Text 40"/>
          <p:cNvSpPr txBox="1"/>
          <p:nvPr/>
        </p:nvSpPr>
        <p:spPr>
          <a:xfrm>
            <a:off x="640080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3" name="Text 41"/>
          <p:cNvSpPr txBox="1"/>
          <p:nvPr/>
        </p:nvSpPr>
        <p:spPr>
          <a:xfrm>
            <a:off x="640080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Ranking</a:t>
            </a:r>
            <a:endParaRPr lang="en-US" sz="1700" dirty="0"/>
          </a:p>
        </p:txBody>
      </p:sp>
      <p:sp>
        <p:nvSpPr>
          <p:cNvPr id="44" name="Text 42"/>
          <p:cNvSpPr txBox="1"/>
          <p:nvPr/>
        </p:nvSpPr>
        <p:spPr>
          <a:xfrm>
            <a:off x="640080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greedy NMS per score map, per-size calibration v·s + t</a:t>
            </a:r>
            <a:endParaRPr lang="en-US" sz="1250" dirty="0"/>
          </a:p>
        </p:txBody>
      </p:sp>
      <p:sp>
        <p:nvSpPr>
          <p:cNvPr id="45" name="Text 43"/>
          <p:cNvSpPr txBox="1"/>
          <p:nvPr/>
        </p:nvSpPr>
        <p:spPr>
          <a:xfrm>
            <a:off x="877824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6" name="Shape 44"/>
          <p:cNvSpPr/>
          <p:nvPr/>
        </p:nvSpPr>
        <p:spPr>
          <a:xfrm>
            <a:off x="9052560" y="3840480"/>
            <a:ext cx="2560320" cy="1920240"/>
          </a:xfrm>
          <a:prstGeom prst="roundRect">
            <a:avLst>
              <a:gd name="adj" fmla="val 5714"/>
            </a:avLst>
          </a:prstGeom>
          <a:solidFill>
            <a:srgbClr val="FDF1E8"/>
          </a:solidFill>
          <a:ln w="12700">
            <a:solidFill>
              <a:srgbClr val="FDF1E8"/>
            </a:solidFill>
            <a:prstDash val="solid"/>
          </a:ln>
        </p:spPr>
      </p:sp>
      <p:sp>
        <p:nvSpPr>
          <p:cNvPr id="47" name="Shape 45"/>
          <p:cNvSpPr/>
          <p:nvPr/>
        </p:nvSpPr>
        <p:spPr>
          <a:xfrm>
            <a:off x="9235440" y="4023360"/>
            <a:ext cx="420624" cy="420624"/>
          </a:xfrm>
          <a:prstGeom prst="ellipse">
            <a:avLst/>
          </a:prstGeom>
          <a:solidFill>
            <a:srgbClr val="E8772E"/>
          </a:solidFill>
          <a:ln w="12700">
            <a:solidFill>
              <a:srgbClr val="E8772E"/>
            </a:solidFill>
            <a:prstDash val="solid"/>
          </a:ln>
        </p:spPr>
      </p:sp>
      <p:sp>
        <p:nvSpPr>
          <p:cNvPr id="48" name="Text 46"/>
          <p:cNvSpPr txBox="1"/>
          <p:nvPr/>
        </p:nvSpPr>
        <p:spPr>
          <a:xfrm>
            <a:off x="923544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9" name="Text 47"/>
          <p:cNvSpPr txBox="1"/>
          <p:nvPr/>
        </p:nvSpPr>
        <p:spPr>
          <a:xfrm>
            <a:off x="923544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Top proposals</a:t>
            </a:r>
            <a:endParaRPr lang="en-US" sz="1700" dirty="0"/>
          </a:p>
        </p:txBody>
      </p:sp>
      <p:sp>
        <p:nvSpPr>
          <p:cNvPr id="50" name="Text 48"/>
          <p:cNvSpPr txBox="1"/>
          <p:nvPr/>
        </p:nvSpPr>
        <p:spPr>
          <a:xfrm>
            <a:off x="923544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sorted boxes + objectness heat-map</a:t>
            </a:r>
            <a:endParaRPr lang="en-US" sz="1250" dirty="0"/>
          </a:p>
        </p:txBody>
      </p:sp>
      <p:sp>
        <p:nvSpPr>
          <p:cNvPr id="51" name="Text 49"/>
          <p:cNvSpPr txBox="1"/>
          <p:nvPr/>
        </p:nvSpPr>
        <p:spPr>
          <a:xfrm>
            <a:off x="548640" y="5943600"/>
            <a:ext cx="11064240" cy="365760"/>
          </a:xfrm>
          <a:prstGeom prst="rect">
            <a:avLst/>
          </a:prstGeom>
          <a:noFill/>
          <a:ln/>
        </p:spPr>
        <p:txBody>
          <a:bodyPr wrap="square" lIns="0" tIns="0" rIns="0" bIns="0" rtlCol="0" anchor="ctr"/>
          <a:lstStyle/>
          <a:p>
            <a:pPr marL="0" indent="0">
              <a:buNone/>
            </a:pPr>
            <a:r>
              <a:rPr lang="en-US" sz="1300" i="1" dirty="0">
                <a:solidFill>
                  <a:srgbClr val="5B6270"/>
                </a:solidFill>
                <a:latin typeface="Calibri" pitchFamily="34" charset="0"/>
                <a:ea typeface="Calibri" pitchFamily="34" charset="-122"/>
                <a:cs typeface="Calibri" pitchFamily="34" charset="-120"/>
              </a:rPr>
              <a:t>Training: stage I is a linear SVM on 8×8 NG features of object boxes vs random background windows; stage II is a 1-D calibration per window size.</a:t>
            </a:r>
            <a:endParaRPr lang="en-US" sz="1300" dirty="0"/>
          </a:p>
        </p:txBody>
      </p:sp>
      <p:sp>
        <p:nvSpPr>
          <p:cNvPr id="53" name="Text 5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Normed gradients → bit operations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6</a:t>
            </a:r>
            <a:endParaRPr lang="en-US" sz="1000" dirty="0"/>
          </a:p>
        </p:txBody>
      </p:sp>
      <p:pic>
        <p:nvPicPr>
          <p:cNvPr id="5" name="Image 0" descr="/home/user/cvprojectg10/results/figures/ng_pipeline.png"/>
          <p:cNvPicPr>
            <a:picLocks noChangeAspect="1"/>
          </p:cNvPicPr>
          <p:nvPr/>
        </p:nvPicPr>
        <p:blipFill>
          <a:blip r:embed="rId3"/>
          <a:srcRect/>
          <a:stretch/>
        </p:blipFill>
        <p:spPr>
          <a:xfrm>
            <a:off x="457200" y="1417320"/>
            <a:ext cx="6583680" cy="3063240"/>
          </a:xfrm>
          <a:prstGeom prst="rect">
            <a:avLst/>
          </a:prstGeom>
        </p:spPr>
      </p:pic>
      <p:sp>
        <p:nvSpPr>
          <p:cNvPr id="6" name="Text 3"/>
          <p:cNvSpPr txBox="1"/>
          <p:nvPr/>
        </p:nvSpPr>
        <p:spPr>
          <a:xfrm>
            <a:off x="548640" y="4526280"/>
            <a:ext cx="6400800" cy="54864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Top: NG maps for three window sizes (each 8×8 patch = one window). Bottom: the 4 bit-planes forming the binarized feature.</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marL="0" indent="0">
              <a:buNone/>
            </a:pPr>
            <a:r>
              <a:rPr lang="en-US" sz="1500" b="1" dirty="0">
                <a:solidFill>
                  <a:srgbClr val="1B1F2A"/>
                </a:solidFill>
                <a:latin typeface="Calibri" pitchFamily="34" charset="0"/>
                <a:ea typeface="Calibri" pitchFamily="34" charset="-122"/>
                <a:cs typeface="Calibri" pitchFamily="34" charset="-120"/>
              </a:rPr>
              <a:t>Approximate the filter</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w ≈ Σⱼ βⱼ aⱼ,   aⱼ ∈ {−1,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Approximate the feature</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g ≈ Σₖ 2^(8−k) bₖ,   bₖ ∈ {0,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Score with bits only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⟨aⱼ, bₖ⟩ = 2·popcnt(aⱼ⁺ AND bₖ) − popcnt(bₖ)</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E8772E"/>
                </a:solidFill>
                <a:latin typeface="Calibri" pitchFamily="34" charset="0"/>
                <a:ea typeface="Calibri" pitchFamily="34" charset="-122"/>
                <a:cs typeface="Calibri" pitchFamily="34" charset="-120"/>
              </a:rPr>
              <a:t>12 POPCOUNTs per window instead of 64 multiply-adds.</a:t>
            </a:r>
            <a:endParaRPr lang="en-US" sz="1500" dirty="0"/>
          </a:p>
        </p:txBody>
      </p:sp>
      <p:sp>
        <p:nvSpPr>
          <p:cNvPr id="9" name="Text 6"/>
          <p:cNvSpPr txBox="1"/>
          <p:nvPr/>
        </p:nvSpPr>
        <p:spPr>
          <a:xfrm>
            <a:off x="548640" y="5257800"/>
            <a:ext cx="6400800" cy="9144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Implemented in Python: bing/ package (features, binary, Numba fast path, model, metrics, datasets); unit tests prove bitwise score = float score.</a:t>
            </a:r>
            <a:endParaRPr lang="en-US" sz="1300" dirty="0"/>
          </a:p>
        </p:txBody>
      </p:sp>
      <p:sp>
        <p:nvSpPr>
          <p:cNvPr id="11" name="Text 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Experimental setup</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7</a:t>
            </a:r>
            <a:endParaRPr lang="en-US" sz="1000" dirty="0"/>
          </a:p>
        </p:txBody>
      </p:sp>
      <p:pic>
        <p:nvPicPr>
          <p:cNvPr id="5" name="Image 0" descr="/home/user/cvprojectg10/results/figures/dataset_synthetic.png"/>
          <p:cNvPicPr>
            <a:picLocks noChangeAspect="1"/>
          </p:cNvPicPr>
          <p:nvPr/>
        </p:nvPicPr>
        <p:blipFill>
          <a:blip r:embed="rId3"/>
          <a:srcRect/>
          <a:stretch/>
        </p:blipFill>
        <p:spPr>
          <a:xfrm>
            <a:off x="548640" y="1463040"/>
            <a:ext cx="5486400" cy="2148840"/>
          </a:xfrm>
          <a:prstGeom prst="rect">
            <a:avLst/>
          </a:prstGeom>
        </p:spPr>
      </p:pic>
      <p:pic>
        <p:nvPicPr>
          <p:cNvPr id="6" name="Image 1" descr="/home/user/cvprojectg10/results/figures/dataset_real.png"/>
          <p:cNvPicPr>
            <a:picLocks noChangeAspect="1"/>
          </p:cNvPicPr>
          <p:nvPr/>
        </p:nvPicPr>
        <p:blipFill>
          <a:blip r:embed="rId4"/>
          <a:srcRect/>
          <a:stretch/>
        </p:blipFill>
        <p:spPr>
          <a:xfrm>
            <a:off x="6217920" y="1463040"/>
            <a:ext cx="5486400" cy="2148840"/>
          </a:xfrm>
          <a:prstGeom prst="rect">
            <a:avLst/>
          </a:prstGeom>
        </p:spPr>
      </p:pic>
      <p:sp>
        <p:nvSpPr>
          <p:cNvPr id="7" name="Text 3"/>
          <p:cNvSpPr txBox="1"/>
          <p:nvPr/>
        </p:nvSpPr>
        <p:spPr>
          <a:xfrm>
            <a:off x="548640" y="3794760"/>
            <a:ext cx="356616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PASCAL VOC 2007</a:t>
            </a:r>
            <a:endParaRPr lang="en-US" sz="1800" dirty="0"/>
          </a:p>
        </p:txBody>
      </p:sp>
      <p:sp>
        <p:nvSpPr>
          <p:cNvPr id="8" name="Text 4"/>
          <p:cNvSpPr txBox="1"/>
          <p:nvPr/>
        </p:nvSpPr>
        <p:spPr>
          <a:xfrm>
            <a:off x="54864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The paper's benchmark: train on 5011 trainval images, test on 4952 test images (12,032 objects, “difficult” ones ignored).</a:t>
            </a:r>
            <a:endParaRPr lang="en-US" sz="1350" dirty="0"/>
          </a:p>
        </p:txBody>
      </p:sp>
      <p:sp>
        <p:nvSpPr>
          <p:cNvPr id="9" name="Text 5"/>
          <p:cNvSpPr txBox="1"/>
          <p:nvPr/>
        </p:nvSpPr>
        <p:spPr>
          <a:xfrm>
            <a:off x="429768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Synthetic scenes</a:t>
            </a:r>
            <a:endParaRPr lang="en-US" sz="1800" dirty="0"/>
          </a:p>
        </p:txBody>
      </p:sp>
      <p:sp>
        <p:nvSpPr>
          <p:cNvPr id="10" name="Text 6"/>
          <p:cNvSpPr txBox="1"/>
          <p:nvPr/>
        </p:nvSpPr>
        <p:spPr>
          <a:xfrm>
            <a:off x="429768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600 train / 300 test images: shapes with texture and shading on cluttered backgrounds (edges that are not objects).</a:t>
            </a:r>
            <a:endParaRPr lang="en-US" sz="1350" dirty="0"/>
          </a:p>
        </p:txBody>
      </p:sp>
      <p:sp>
        <p:nvSpPr>
          <p:cNvPr id="11" name="Text 7"/>
          <p:cNvSpPr txBox="1"/>
          <p:nvPr/>
        </p:nvSpPr>
        <p:spPr>
          <a:xfrm>
            <a:off x="804672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Real photographs</a:t>
            </a:r>
            <a:endParaRPr lang="en-US" sz="1800" dirty="0"/>
          </a:p>
        </p:txBody>
      </p:sp>
      <p:sp>
        <p:nvSpPr>
          <p:cNvPr id="12" name="Text 8"/>
          <p:cNvSpPr txBox="1"/>
          <p:nvPr/>
        </p:nvSpPr>
        <p:spPr>
          <a:xfrm>
            <a:off x="804672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10 photos, 58 hand-labelled objects, never used for training: tests generalisation.</a:t>
            </a:r>
            <a:endParaRPr lang="en-US" sz="1350" dirty="0"/>
          </a:p>
        </p:txBody>
      </p:sp>
      <p:sp>
        <p:nvSpPr>
          <p:cNvPr id="13" name="Text 9"/>
          <p:cNvSpPr txBox="1"/>
          <p:nvPr/>
        </p:nvSpPr>
        <p:spPr>
          <a:xfrm>
            <a:off x="548640" y="5577840"/>
            <a:ext cx="11155680" cy="731520"/>
          </a:xfrm>
          <a:prstGeom prst="rect">
            <a:avLst/>
          </a:prstGeom>
          <a:noFill/>
          <a:ln/>
        </p:spPr>
        <p:txBody>
          <a:bodyPr wrap="square" lIns="0" tIns="0" rIns="0" bIns="0" rtlCol="0" anchor="ctr"/>
          <a:lstStyle/>
          <a:p>
            <a:pPr marL="0" indent="0">
              <a:buNone/>
            </a:pPr>
            <a:r>
              <a:rPr lang="en-US" sz="1250" i="1" dirty="0">
                <a:solidFill>
                  <a:srgbClr val="5B6270"/>
                </a:solidFill>
                <a:latin typeface="Calibri" pitchFamily="34" charset="0"/>
                <a:ea typeface="Calibri" pitchFamily="34" charset="-122"/>
                <a:cs typeface="Calibri" pitchFamily="34" charset="-120"/>
              </a:rPr>
              <a:t>Metrics: detection rate DR@N (share of objects covered with IoU ≥ 0.5 by the top N proposals), MABO (mean best overlap), images/s. Baselines: the authors' own C++ BING, Selective Search, sliding windows, random boxes. All scored with the same evaluator.</a:t>
            </a:r>
            <a:endParaRPr lang="en-US" sz="1250" dirty="0"/>
          </a:p>
        </p:txBody>
      </p:sp>
      <p:sp>
        <p:nvSpPr>
          <p:cNvPr id="15"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PASCAL VOC 2007: reproducing the paper</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8</a:t>
            </a:r>
            <a:endParaRPr lang="en-US" sz="1000" dirty="0"/>
          </a:p>
        </p:txBody>
      </p:sp>
      <p:pic>
        <p:nvPicPr>
          <p:cNvPr id="5" name="Image 0" descr="/home/user/cvprojectg10/results/figures/voc_curves.png"/>
          <p:cNvPicPr>
            <a:picLocks noChangeAspect="1"/>
          </p:cNvPicPr>
          <p:nvPr/>
        </p:nvPicPr>
        <p:blipFill>
          <a:blip r:embed="rId3"/>
          <a:srcRect/>
          <a:stretch/>
        </p:blipFill>
        <p:spPr>
          <a:xfrm>
            <a:off x="365760" y="1371600"/>
            <a:ext cx="7680960" cy="2834640"/>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objects found in the top 1000, our final BING</a:t>
            </a:r>
            <a:endParaRPr lang="en-US" sz="13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93.8%</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the authors' C++ code, same images and evaluator</a:t>
            </a:r>
            <a:endParaRPr lang="en-US" sz="13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96.2%</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reported in the paper (authors' evaluator)</a:t>
            </a:r>
            <a:endParaRPr lang="en-US" sz="1300" dirty="0"/>
          </a:p>
        </p:txBody>
      </p:sp>
      <p:sp>
        <p:nvSpPr>
          <p:cNvPr id="12" name="Text 9"/>
          <p:cNvSpPr txBox="1"/>
          <p:nvPr/>
        </p:nvSpPr>
        <p:spPr>
          <a:xfrm>
            <a:off x="548640" y="4434840"/>
            <a:ext cx="7498080" cy="18288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 rebuild matches the authors' code </a:t>
            </a:r>
            <a:r>
              <a:rPr lang="en-US" sz="1350" dirty="0">
                <a:solidFill>
                  <a:srgbClr val="5B6270"/>
                </a:solidFill>
                <a:latin typeface="Calibri" pitchFamily="34" charset="0"/>
                <a:ea typeface="Calibri" pitchFamily="34" charset="-122"/>
                <a:cs typeface="Calibri" pitchFamily="34" charset="-120"/>
              </a:rPr>
              <a:t>on their own benchmark: 94.0% vs 93.8% at 1000, 96.0% vs 95.7% at 5000; box tightness 0.651 vs 0.646.</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By the authors' own evaluator </a:t>
            </a:r>
            <a:r>
              <a:rPr lang="en-US" sz="1350" dirty="0">
                <a:solidFill>
                  <a:srgbClr val="5B6270"/>
                </a:solidFill>
                <a:latin typeface="Calibri" pitchFamily="34" charset="0"/>
                <a:ea typeface="Calibri" pitchFamily="34" charset="-122"/>
                <a:cs typeface="Calibri" pitchFamily="34" charset="-120"/>
              </a:rPr>
              <a:t>their code scores 96.0% here, so the paper's number reproduces.</a:t>
            </a:r>
            <a:endParaRPr lang="en-US" sz="135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Comparison with existing methods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743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457200">
                <a:tc>
                  <a:txBody>
                    <a:bodyPr/>
                    <a:lstStyle/>
                    <a:p>
                      <a:pPr marL="0" indent="0" algn="l">
                        <a:buNone/>
                      </a:pPr>
                      <a:r>
                        <a:rPr lang="en-US" sz="1350" b="1" dirty="0">
                          <a:solidFill>
                            <a:srgbClr val="FFFFFF"/>
                          </a:solidFill>
                          <a:latin typeface="Calibri" pitchFamily="34" charset="0"/>
                          <a:ea typeface="Calibri" pitchFamily="34" charset="-122"/>
                          <a:cs typeface="Calibri" pitchFamily="34" charset="-120"/>
                        </a:rPr>
                        <a:t>Method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MABO</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Synth.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Real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img/s (1 thread)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350" b="1" dirty="0">
                          <a:solidFill>
                            <a:srgbClr val="1B1F2A"/>
                          </a:solidFill>
                          <a:latin typeface="Calibri" pitchFamily="34" charset="0"/>
                          <a:ea typeface="Calibri" pitchFamily="34" charset="-122"/>
                          <a:cs typeface="Calibri" pitchFamily="34" charset="-120"/>
                        </a:rPr>
                        <a:t>BING — ours (Python + Numba)</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94.0%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0.651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98.5%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87.9%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58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1"/>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BING — authors' C++ code</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93.8%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0.646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94.9%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75.9%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50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Selective Search (fast) *</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88.2%</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0.707</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97.5%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100.0%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Random boxes</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72.9%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0.621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53.6%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48.3%</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4"/>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Sliding windows (random order)</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1.7%</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48640" y="4434840"/>
            <a:ext cx="11064240" cy="457200"/>
          </a:xfrm>
          <a:prstGeom prst="rect">
            <a:avLst/>
          </a:prstGeom>
          <a:noFill/>
          <a:ln/>
        </p:spPr>
        <p:txBody>
          <a:bodyPr wrap="square" lIns="0" tIns="0" rIns="0" bIns="0" rtlCol="0" anchor="ctr"/>
          <a:lstStyle/>
          <a:p>
            <a:pPr marL="0" indent="0">
              <a:buNone/>
            </a:pPr>
            <a:r>
              <a:rPr lang="en-US" sz="1150" i="1" dirty="0">
                <a:solidFill>
                  <a:srgbClr val="5B6270"/>
                </a:solidFill>
                <a:latin typeface="Calibri" pitchFamily="34" charset="0"/>
                <a:ea typeface="Calibri" pitchFamily="34" charset="-122"/>
                <a:cs typeface="Calibri" pitchFamily="34" charset="-120"/>
              </a:rPr>
              <a:t>* Selective Search on 300 random VOC test images (our BING on the same images: 94.3%); it runs multi-threaded. The authors' code reaches 196 img/s on 4 threads.</a:t>
            </a:r>
            <a:endParaRPr lang="en-US" sz="1150" dirty="0"/>
          </a:p>
        </p:txBody>
      </p:sp>
      <p:sp>
        <p:nvSpPr>
          <p:cNvPr id="7" name="Text 4"/>
          <p:cNvSpPr txBox="1"/>
          <p:nvPr/>
        </p:nvSpPr>
        <p:spPr>
          <a:xfrm>
            <a:off x="548640" y="4983480"/>
            <a:ext cx="11064240" cy="13716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BING vs Selective Search: </a:t>
            </a:r>
            <a:r>
              <a:rPr lang="en-US" sz="1350" dirty="0">
                <a:solidFill>
                  <a:srgbClr val="5B6270"/>
                </a:solidFill>
                <a:latin typeface="Calibri" pitchFamily="34" charset="0"/>
                <a:ea typeface="Calibri" pitchFamily="34" charset="-122"/>
                <a:cs typeface="Calibri" pitchFamily="34" charset="-120"/>
              </a:rPr>
              <a:t>BING finds more objects on VOC (94.0% vs 88.2%) and is ~72× faster, but its boxes are looser (MABO 0.65 vs 0.71).</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Ours vs the authors' code: </a:t>
            </a:r>
            <a:r>
              <a:rPr lang="en-US" sz="1350" dirty="0">
                <a:solidFill>
                  <a:srgbClr val="5B6270"/>
                </a:solidFill>
                <a:latin typeface="Calibri" pitchFamily="34" charset="0"/>
                <a:ea typeface="Calibri" pitchFamily="34" charset="-122"/>
                <a:cs typeface="Calibri" pitchFamily="34" charset="-120"/>
              </a:rPr>
              <a:t>same accuracy on VOC; ours generalises better to real photos when trained on synthetic data, and is slightly faster single-threaded (58 vs 50 img/s).</a:t>
            </a:r>
            <a:endParaRPr lang="en-US" sz="1350" dirty="0"/>
          </a:p>
        </p:txBody>
      </p:sp>
      <p:sp>
        <p:nvSpPr>
          <p:cNvPr id="9" name="Text 5"/>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Two details the paper leaves out</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2286000"/>
        </p:xfrm>
        <a:graphic>
          <a:graphicData uri="http://schemas.openxmlformats.org/drawingml/2006/table">
            <a:tbl>
              <a:tblPr/>
              <a:tblGrid>
                <a:gridCol w="4206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457200">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Our BING on VOC 2007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DR@1k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DR@5k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MABO</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Paper's text: sizes 10–320, local-max NMS (first version)</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75.8%</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0.576</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window sizes (16–512, clipped)</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greedy NMS only</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92.2%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94.4%</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0.621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50" b="1" dirty="0">
                          <a:solidFill>
                            <a:srgbClr val="1B1F2A"/>
                          </a:solidFill>
                          <a:latin typeface="Calibri" pitchFamily="34" charset="0"/>
                          <a:ea typeface="Calibri" pitchFamily="34" charset="-122"/>
                          <a:cs typeface="Calibri" pitchFamily="34" charset="-120"/>
                        </a:rPr>
                        <a:t>Both (final)</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94.0%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96.0%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0.651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7772400" y="1463040"/>
            <a:ext cx="4023360" cy="3108960"/>
          </a:xfrm>
          <a:prstGeom prst="rect">
            <a:avLst/>
          </a:prstGeom>
          <a:noFill/>
          <a:ln/>
        </p:spPr>
        <p:txBody>
          <a:bodyPr wrap="square" lIns="0" tIns="0" rIns="0" bIns="0" rtlCol="0" anchor="t"/>
          <a:lstStyle/>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Window sizes: </a:t>
            </a:r>
            <a:r>
              <a:rPr lang="en-US" sz="1300" dirty="0">
                <a:solidFill>
                  <a:srgbClr val="5B6270"/>
                </a:solidFill>
                <a:latin typeface="Calibri" pitchFamily="34" charset="0"/>
                <a:ea typeface="Calibri" pitchFamily="34" charset="-122"/>
                <a:cs typeface="Calibri" pitchFamily="34" charset="-120"/>
              </a:rPr>
              <a:t>the paper lists 10…320; the released code uses 16…512 and clips windows to the image, so near full-image boxes exist. VOC is full of large objects.</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Suppression: </a:t>
            </a:r>
            <a:r>
              <a:rPr lang="en-US" sz="1300" dirty="0">
                <a:solidFill>
                  <a:srgbClr val="5B6270"/>
                </a:solidFill>
                <a:latin typeface="Calibri" pitchFamily="34" charset="0"/>
                <a:ea typeface="Calibri" pitchFamily="34" charset="-122"/>
                <a:cs typeface="Calibri" pitchFamily="34" charset="-120"/>
              </a:rPr>
              <a:t>keeping only local maxima of each score map throws away good windows; the code's greedy suppression keeps the best 130 spread-out windows per size.</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Lesson: </a:t>
            </a:r>
            <a:r>
              <a:rPr lang="en-US" sz="1300" dirty="0">
                <a:solidFill>
                  <a:srgbClr val="5B6270"/>
                </a:solidFill>
                <a:latin typeface="Calibri" pitchFamily="34" charset="0"/>
                <a:ea typeface="Calibri" pitchFamily="34" charset="-122"/>
                <a:cs typeface="Calibri" pitchFamily="34" charset="-120"/>
              </a:rPr>
              <a:t>reproducing a paper needs its code, not just its text.</a:t>
            </a:r>
            <a:endParaRPr lang="en-US" sz="1300" dirty="0"/>
          </a:p>
        </p:txBody>
      </p:sp>
      <p:pic>
        <p:nvPicPr>
          <p:cNvPr id="7" name="Image 0" descr="/home/user/cvprojectg10/results/figures/voc_per_class.png"/>
          <p:cNvPicPr>
            <a:picLocks noChangeAspect="1"/>
          </p:cNvPicPr>
          <p:nvPr/>
        </p:nvPicPr>
        <p:blipFill>
          <a:blip r:embed="rId3"/>
          <a:srcRect/>
          <a:stretch/>
        </p:blipFill>
        <p:spPr>
          <a:xfrm>
            <a:off x="457200" y="3931920"/>
            <a:ext cx="11247120" cy="2514600"/>
          </a:xfrm>
          <a:prstGeom prst="rect">
            <a:avLst/>
          </a:prstGeom>
        </p:spPr>
      </p:pic>
      <p:sp>
        <p:nvSpPr>
          <p:cNvPr id="9" name="Text 4"/>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What matters? Ablations and speed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11</a:t>
            </a:r>
            <a:endParaRPr lang="en-US" sz="1000" dirty="0"/>
          </a:p>
        </p:txBody>
      </p:sp>
      <p:pic>
        <p:nvPicPr>
          <p:cNvPr id="5" name="Image 0" descr="/home/user/cvprojectg10/results/figures/ablations.png"/>
          <p:cNvPicPr>
            <a:picLocks noChangeAspect="1"/>
          </p:cNvPicPr>
          <p:nvPr/>
        </p:nvPicPr>
        <p:blipFill>
          <a:blip r:embed="rId3"/>
          <a:srcRect/>
          <a:stretch/>
        </p:blipFill>
        <p:spPr>
          <a:xfrm>
            <a:off x="457200" y="1325880"/>
            <a:ext cx="6949440" cy="3749040"/>
          </a:xfrm>
          <a:prstGeom prst="rect">
            <a:avLst/>
          </a:prstGeom>
        </p:spPr>
      </p:pic>
      <p:pic>
        <p:nvPicPr>
          <p:cNvPr id="6" name="Image 1" descr="/home/user/cvprojectg10/results/figures/speed.png"/>
          <p:cNvPicPr>
            <a:picLocks noChangeAspect="1"/>
          </p:cNvPicPr>
          <p:nvPr/>
        </p:nvPicPr>
        <p:blipFill>
          <a:blip r:embed="rId4"/>
          <a:srcRect/>
          <a:stretch/>
        </p:blipFill>
        <p:spPr>
          <a:xfrm>
            <a:off x="7589520" y="1325880"/>
            <a:ext cx="4206240" cy="2377440"/>
          </a:xfrm>
          <a:prstGeom prst="rect">
            <a:avLst/>
          </a:prstGeom>
        </p:spPr>
      </p:pic>
      <p:sp>
        <p:nvSpPr>
          <p:cNvPr id="7" name="Text 3"/>
          <p:cNvSpPr txBox="1"/>
          <p:nvPr/>
        </p:nvSpPr>
        <p:spPr>
          <a:xfrm>
            <a:off x="7589520" y="3840480"/>
            <a:ext cx="4206240" cy="2560320"/>
          </a:xfrm>
          <a:prstGeom prst="rect">
            <a:avLst/>
          </a:prstGeom>
          <a:noFill/>
          <a:ln/>
        </p:spPr>
        <p:txBody>
          <a:bodyPr wrap="square" lIns="0" tIns="0" rIns="0" bIns="0" rtlCol="0" anchor="t"/>
          <a:lstStyle/>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Gradient: </a:t>
            </a:r>
            <a:r>
              <a:rPr lang="en-US" sz="1250" dirty="0">
                <a:solidFill>
                  <a:srgbClr val="5B6270"/>
                </a:solidFill>
                <a:latin typeface="Calibri" pitchFamily="34" charset="0"/>
                <a:ea typeface="Calibri" pitchFamily="34" charset="-122"/>
                <a:cs typeface="Calibri" pitchFamily="34" charset="-120"/>
              </a:rPr>
              <a:t>[-1 0 1] 98.5% ≈ Sobel 99.3%</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Colour: </a:t>
            </a:r>
            <a:r>
              <a:rPr lang="en-US" sz="1250" dirty="0">
                <a:solidFill>
                  <a:srgbClr val="5B6270"/>
                </a:solidFill>
                <a:latin typeface="Calibri" pitchFamily="34" charset="0"/>
                <a:ea typeface="Calibri" pitchFamily="34" charset="-122"/>
                <a:cs typeface="Calibri" pitchFamily="34" charset="-120"/>
              </a:rPr>
              <a:t>RGB 98.5% &gt; Lab 97.4% &gt; HSV 96.7% &gt; Gray 94.5%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Bits: </a:t>
            </a:r>
            <a:r>
              <a:rPr lang="en-US" sz="1250" dirty="0">
                <a:solidFill>
                  <a:srgbClr val="5B6270"/>
                </a:solidFill>
                <a:latin typeface="Calibri" pitchFamily="34" charset="0"/>
                <a:ea typeface="Calibri" pitchFamily="34" charset="-122"/>
                <a:cs typeface="Calibri" pitchFamily="34" charset="-120"/>
              </a:rPr>
              <a:t>Ng = 1 → 95.6%; Ng ≥ 2 → 98.4%</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Data: </a:t>
            </a:r>
            <a:r>
              <a:rPr lang="en-US" sz="1250" dirty="0">
                <a:solidFill>
                  <a:srgbClr val="5B6270"/>
                </a:solidFill>
                <a:latin typeface="Calibri" pitchFamily="34" charset="0"/>
                <a:ea typeface="Calibri" pitchFamily="34" charset="-122"/>
                <a:cs typeface="Calibri" pitchFamily="34" charset="-120"/>
              </a:rPr>
              <a:t>10 images → 91.6%; 600 → 98.5%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Real photos: </a:t>
            </a:r>
            <a:r>
              <a:rPr lang="en-US" sz="1250" dirty="0">
                <a:solidFill>
                  <a:srgbClr val="5B6270"/>
                </a:solidFill>
                <a:latin typeface="Calibri" pitchFamily="34" charset="0"/>
                <a:ea typeface="Calibri" pitchFamily="34" charset="-122"/>
                <a:cs typeface="Calibri" pitchFamily="34" charset="-120"/>
              </a:rPr>
              <a:t>87.9% found with no real training</a:t>
            </a:r>
            <a:endParaRPr lang="en-US" sz="1250" dirty="0"/>
          </a:p>
        </p:txBody>
      </p:sp>
      <p:sp>
        <p:nvSpPr>
          <p:cNvPr id="8" name="Text 4"/>
          <p:cNvSpPr txBox="1"/>
          <p:nvPr/>
        </p:nvSpPr>
        <p:spPr>
          <a:xfrm>
            <a:off x="548640" y="5166360"/>
            <a:ext cx="6858000" cy="36576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DR@1000 on the synthetic test set (bars: blue DR@100, orange DR@1000).</a:t>
            </a:r>
            <a:endParaRPr lang="en-US" sz="1200" dirty="0"/>
          </a:p>
        </p:txBody>
      </p:sp>
      <p:sp>
        <p:nvSpPr>
          <p:cNvPr id="9" name="Text 5"/>
          <p:cNvSpPr txBox="1"/>
          <p:nvPr/>
        </p:nvSpPr>
        <p:spPr>
          <a:xfrm>
            <a:off x="548640" y="5577840"/>
            <a:ext cx="6858000" cy="640080"/>
          </a:xfrm>
          <a:prstGeom prst="rect">
            <a:avLst/>
          </a:prstGeom>
          <a:noFill/>
          <a:ln/>
        </p:spPr>
        <p:txBody>
          <a:bodyPr wrap="square" lIns="0" tIns="0" rIns="0" bIns="0" rtlCol="0" anchor="ctr"/>
          <a:lstStyle/>
          <a:p>
            <a:pPr marL="0" indent="0">
              <a:buNone/>
            </a:pPr>
            <a:r>
              <a:rPr lang="en-US" sz="1300" b="1" dirty="0">
                <a:solidFill>
                  <a:srgbClr val="1B1F2A"/>
                </a:solidFill>
                <a:latin typeface="Calibri" pitchFamily="34" charset="0"/>
                <a:ea typeface="Calibri" pitchFamily="34" charset="-122"/>
                <a:cs typeface="Calibri" pitchFamily="34" charset="-120"/>
              </a:rPr>
              <a:t>Limitation: power-of-two sizes and an 8-px stride give coarse boxes (VOC MABO 0.65); small objects such as bottles are hardest.</a:t>
            </a:r>
            <a:endParaRPr lang="en-US" sz="1300" dirty="0"/>
          </a:p>
        </p:txBody>
      </p:sp>
      <p:sp>
        <p:nvSpPr>
          <p:cNvPr id="11" name="Text 6"/>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A24"/>
        </a:solidFill>
        <a:effectLst/>
      </p:bgPr>
    </p:bg>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914400"/>
            <a:ext cx="10972800" cy="128016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Simple gradients, a 64-weight linear model and bit operations find 94% of objects on PASCAL VOC, matching the authors' own code.</a:t>
            </a:r>
            <a:endParaRPr lang="en-US" sz="2800" dirty="0"/>
          </a:p>
        </p:txBody>
      </p:sp>
      <p:sp>
        <p:nvSpPr>
          <p:cNvPr id="4" name="Text 2"/>
          <p:cNvSpPr txBox="1"/>
          <p:nvPr/>
        </p:nvSpPr>
        <p:spPr>
          <a:xfrm>
            <a:off x="54864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5" name="Text 3"/>
          <p:cNvSpPr txBox="1"/>
          <p:nvPr/>
        </p:nvSpPr>
        <p:spPr>
          <a:xfrm>
            <a:off x="54864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VOC 2007 objects found in</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top 1000 (authors' code 93.8%)</a:t>
            </a:r>
            <a:endParaRPr lang="en-US" sz="1400" dirty="0"/>
          </a:p>
        </p:txBody>
      </p:sp>
      <p:sp>
        <p:nvSpPr>
          <p:cNvPr id="6" name="Text 4"/>
          <p:cNvSpPr txBox="1"/>
          <p:nvPr/>
        </p:nvSpPr>
        <p:spPr>
          <a:xfrm>
            <a:off x="338328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87.9%</a:t>
            </a:r>
            <a:endParaRPr lang="en-US" sz="4400" dirty="0"/>
          </a:p>
        </p:txBody>
      </p:sp>
      <p:sp>
        <p:nvSpPr>
          <p:cNvPr id="7" name="Text 5"/>
          <p:cNvSpPr txBox="1"/>
          <p:nvPr/>
        </p:nvSpPr>
        <p:spPr>
          <a:xfrm>
            <a:off x="338328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real photos, no real</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training images</a:t>
            </a:r>
            <a:endParaRPr lang="en-US" sz="1400" dirty="0"/>
          </a:p>
        </p:txBody>
      </p:sp>
      <p:sp>
        <p:nvSpPr>
          <p:cNvPr id="8" name="Text 6"/>
          <p:cNvSpPr txBox="1"/>
          <p:nvPr/>
        </p:nvSpPr>
        <p:spPr>
          <a:xfrm>
            <a:off x="621792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58</a:t>
            </a:r>
            <a:endParaRPr lang="en-US" sz="4400" dirty="0"/>
          </a:p>
        </p:txBody>
      </p:sp>
      <p:sp>
        <p:nvSpPr>
          <p:cNvPr id="9" name="Text 7"/>
          <p:cNvSpPr txBox="1"/>
          <p:nvPr/>
        </p:nvSpPr>
        <p:spPr>
          <a:xfrm>
            <a:off x="621792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images / second, 1 thread</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(authors' C++: 50)</a:t>
            </a:r>
            <a:endParaRPr lang="en-US" sz="1400" dirty="0"/>
          </a:p>
        </p:txBody>
      </p:sp>
      <p:sp>
        <p:nvSpPr>
          <p:cNvPr id="10" name="Text 8"/>
          <p:cNvSpPr txBox="1"/>
          <p:nvPr/>
        </p:nvSpPr>
        <p:spPr>
          <a:xfrm>
            <a:off x="905256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12</a:t>
            </a:r>
            <a:endParaRPr lang="en-US" sz="4400" dirty="0"/>
          </a:p>
        </p:txBody>
      </p:sp>
      <p:sp>
        <p:nvSpPr>
          <p:cNvPr id="11" name="Text 9"/>
          <p:cNvSpPr txBox="1"/>
          <p:nvPr/>
        </p:nvSpPr>
        <p:spPr>
          <a:xfrm>
            <a:off x="905256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POPCOUNTs per window</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instead of 64 multiply-adds</a:t>
            </a:r>
            <a:endParaRPr lang="en-US" sz="1400" dirty="0"/>
          </a:p>
        </p:txBody>
      </p:sp>
      <p:sp>
        <p:nvSpPr>
          <p:cNvPr id="12" name="Text 10"/>
          <p:cNvSpPr txBox="1"/>
          <p:nvPr/>
        </p:nvSpPr>
        <p:spPr>
          <a:xfrm>
            <a:off x="548640" y="4434840"/>
            <a:ext cx="11064240"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Future work  </a:t>
            </a:r>
            <a:r>
              <a:rPr lang="en-US" sz="1400" dirty="0">
                <a:solidFill>
                  <a:srgbClr val="AEB8C6"/>
                </a:solidFill>
                <a:latin typeface="Calibri" pitchFamily="34" charset="0"/>
                <a:ea typeface="Calibri" pitchFamily="34" charset="-122"/>
                <a:cs typeface="Calibri" pitchFamily="34" charset="-120"/>
              </a:rPr>
              <a:t>tighter boxes (refinement / more sizes) · C++ popcount kernel and multi-threading · train-on-some-classes generalisation · add a classifier for a complete detector</a:t>
            </a:r>
            <a:endParaRPr lang="en-US" sz="1400" dirty="0"/>
          </a:p>
        </p:txBody>
      </p:sp>
      <p:sp>
        <p:nvSpPr>
          <p:cNvPr id="13" name="Text 11"/>
          <p:cNvSpPr txBox="1"/>
          <p:nvPr/>
        </p:nvSpPr>
        <p:spPr>
          <a:xfrm>
            <a:off x="548640" y="5166360"/>
            <a:ext cx="11064240" cy="914400"/>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References  </a:t>
            </a:r>
            <a:r>
              <a:rPr lang="en-US" sz="1100" dirty="0">
                <a:solidFill>
                  <a:srgbClr val="AEB8C6"/>
                </a:solidFill>
                <a:latin typeface="Calibri" pitchFamily="34" charset="0"/>
                <a:ea typeface="Calibri" pitchFamily="34" charset="-122"/>
                <a:cs typeface="Calibri" pitchFamily="34" charset="-120"/>
              </a:rPr>
              <a:t>[1] M.-M. Cheng, Z. Zhang, W.-Y. Lin, P. H. S. Torr, “BING: Binarized Normed Gradients for Objectness Estimation at 300fps,” CVPR 2014.  [2] J. Uijlings et al., “Selective Search for Object Recognition,” IJCV 2013.  [3] B. Alexe, T. Deselaers, V. Ferrari, “Measuring the Objectness of Image Windows,” TPAMI 2012.  [4] J. Hosang et al., “What makes for effective detection proposals?,” TPAMI 2016.</a:t>
            </a:r>
            <a:endParaRPr lang="en-US" sz="1100" dirty="0"/>
          </a:p>
        </p:txBody>
      </p:sp>
      <p:sp>
        <p:nvSpPr>
          <p:cNvPr id="14" name="Text 12"/>
          <p:cNvSpPr txBox="1"/>
          <p:nvPr/>
        </p:nvSpPr>
        <p:spPr>
          <a:xfrm>
            <a:off x="548640" y="6263640"/>
            <a:ext cx="5486400" cy="365760"/>
          </a:xfrm>
          <a:prstGeom prst="rect">
            <a:avLst/>
          </a:prstGeom>
          <a:noFill/>
          <a:ln/>
        </p:spPr>
        <p:txBody>
          <a:bodyPr wrap="square" lIns="0" tIns="0" rIns="0" bIns="0" rtlCol="0" anchor="ctr"/>
          <a:lstStyle/>
          <a:p>
            <a:pPr marL="0" indent="0">
              <a:buNone/>
            </a:pPr>
            <a:r>
              <a:rPr lang="en-US" sz="1600" i="1" dirty="0">
                <a:solidFill>
                  <a:srgbClr val="FFFFFF"/>
                </a:solidFill>
                <a:latin typeface="Cambria" pitchFamily="34" charset="0"/>
                <a:ea typeface="Cambria" pitchFamily="34" charset="-122"/>
                <a:cs typeface="Cambria" pitchFamily="34" charset="-120"/>
              </a:rPr>
              <a:t>Thank you, questions?</a:t>
            </a:r>
            <a:endParaRPr lang="en-US" sz="1600" dirty="0"/>
          </a:p>
        </p:txBody>
      </p:sp>
      <p:sp>
        <p:nvSpPr>
          <p:cNvPr id="16" name="Text 13"/>
          <p:cNvSpPr txBox="1"/>
          <p:nvPr/>
        </p:nvSpPr>
        <p:spPr>
          <a:xfrm>
            <a:off x="6675120" y="6309360"/>
            <a:ext cx="4937760" cy="256032"/>
          </a:xfrm>
          <a:prstGeom prst="rect">
            <a:avLst/>
          </a:prstGeom>
          <a:noFill/>
          <a:ln/>
        </p:spPr>
        <p:txBody>
          <a:bodyPr wrap="square" lIns="0" tIns="0" rIns="0" bIns="0" rtlCol="0" anchor="ctr"/>
          <a:lstStyle/>
          <a:p>
            <a:pPr marL="0" indent="0" algn="r">
              <a:buNone/>
            </a:pPr>
            <a:r>
              <a:rPr lang="en-US" sz="950" dirty="0">
                <a:solidFill>
                  <a:srgbClr val="AEB8C6"/>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3369</Words>
  <Application>Microsoft Office PowerPoint</Application>
  <PresentationFormat>Widescreen</PresentationFormat>
  <Paragraphs>253</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23CSE373 Computer Vision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Fast Object Proposal Generation Using Handcrafted Gradient Features</dc:title>
  <dc:subject>BING objectness estimation</dc:subject>
  <dc:creator>Group 10</dc:creator>
  <cp:lastModifiedBy>Hari S</cp:lastModifiedBy>
  <cp:revision>5</cp:revision>
  <dcterms:created xsi:type="dcterms:W3CDTF">2026-10-01T13:28:54Z</dcterms:created>
  <dcterms:modified xsi:type="dcterms:W3CDTF">2026-10-01T13:50:34Z</dcterms:modified>
</cp:coreProperties>
</file>