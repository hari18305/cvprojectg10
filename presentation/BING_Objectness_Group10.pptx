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8" r:id="rId7"/>
    <p:sldId id="261" r:id="rId8"/>
    <p:sldId id="262" r:id="rId9"/>
    <p:sldId id="271" r:id="rId10"/>
    <p:sldId id="263" r:id="rId11"/>
    <p:sldId id="264" r:id="rId12"/>
    <p:sldId id="265" r:id="rId13"/>
    <p:sldId id="270" r:id="rId14"/>
    <p:sldId id="269" r:id="rId15"/>
    <p:sldId id="272" r:id="rId23"/>
    <p:sldId id="266" r:id="rId16"/>
    <p:sldId id="267"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935" autoAdjust="0"/>
  </p:normalViewPr>
  <p:slideViewPr>
    <p:cSldViewPr snapToGrid="0" snapToObjects="1">
      <p:cViewPr varScale="1">
        <p:scale>
          <a:sx n="57" d="100"/>
          <a:sy n="57" d="100"/>
        </p:scale>
        <p:origin x="165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  <Relationship Id="rId23" Type="http://schemas.openxmlformats.org/officeDocument/2006/relationships/slide" Target="slides/slide1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8116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Abhinav Dileep · ~35 s (clock 0:00–0:35)
Good morning. We are Group 10, and our project is "Fast Object Proposal Generation Using Handcrafted Gradient Features". It is based on the CVPR 2014 paper BING, by Cheng, Zhang, Lin and Torr. BING finds the regions of an image that are likely to contain objects, at around 300 frames per second, using only image gradients and bit operations, with no deep learning. I will introduce the problem, and then my teammates will cover our solution, our own extensions and our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Abhinav Dileep · ~35 s (clock 0:35–1:10)
Why do we need object proposals? A classic detector slides a classifier over every position, every size and every shape of window. That is a hundred thousand windows or more per image, and almost all of them are background. Object proposals solve this. A cheap, class-agnostic score ranks all the windows first, so the expensive detector only has to look at the top thousand or so. BING is one of the fastest ways to do this: the paper reports 300 images per second.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Abhinav Dileep · ~35 s (clock 1:10–1:45)
Here is our problem definition, in the box: given an image, output a ranked list of boxes that covers as many objects as possible with few boxes, in milliseconds, using only handcrafted features. The constraints: no class labels, real time, CPU only, no deep networks. We measure three things: the detection rate, meaning the share of objects found in the top N boxes; MABO, meaning how tight the boxes are; and speed. We answer where objects are, not what they are. Ayyappadas will now explain our proposed solution.
→ Hand over to Ayyappadas M 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Ayyappadas M T · ~50 s (clock 1:45–2:35)
Thank you, Abhinav. BING's key idea is simple: objects have closed outlines. Shrink any window to 8 by 8 pixels and look at its gradient strength, and a window around an object shows a ring of strong edges. A linear model with just 64 weights learns this template; on the right is the filter we learned, positive on the border and negative inside. To make it fast, filter and features are turned into bits. Beyond the paper, we made four contributions, shown in the cards. Our main novelty is a third stage that re-ranks BING's windows with extra cues. We built a complete object detector on top of our proposals. We compared our version head to head with the authors' own C++ code, which revealed two details the paper leaves out. And everything is a from-scratch, multi-threaded Python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Ayyappadas M T · ~40 s (clock 2:35–3:15)
This is our system design, the same eight stages as in our proposal. The input image is shrunk to at most 500 pixels and converted to a colour space. We consider 36 window sizes. For each size, the whole image is resized so that every 8 by 8 patch corresponds to exactly one window. We compute the gradients, binarize them, and score every window with bit operations. Greedy suppression keeps the best spread-out windows, a per-size calibration makes scores comparable across sizes, and the top boxes come out. After that, our own stage three re-ranks them, which I will show next.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Ayyappadas M T · ~50 s (clock 3:15–4:05)
This is our main novelty, a third stage after BING. BING ranks windows with a single cue, its 8 by 8 edge template, so some object windows end up far down the list. Our stage re-scores BING's windows with four groups of cheap, handcrafted cues, listed on the right: the colour contrast between the window and a ring around it, the edge density inside the window against the ring, the window's position, size and shape, and BING's own score. A small gradient-boosted tree model, trained on VOC trainval, combines them into a new score. Every cue is read from integral images in constant time, so there is still no deep network. On this test image, BING's top 20 windows find one of the three objects; after re-ranking they find all three. Hari will now explain the bit-level trick and our experimental setup.
→ Hand over to Hari Sankar 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000000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Hari Sankar A · ~45 s (clock 4:05–4:50)
Thank you, Ayyappadas. On the left, the top row shows the gradient maps of a coffee-cup image for three window sizes. The bottom row shows the four most significant bit planes of one map. The trick is on the right. The 64-weight filter is approximated by a weighted sum of plus-and-minus-one vectors. Each gradient value is approximated by its top four bits. Each set of 64 bits fits in one 64-bit integer, so a dot product becomes an AND followed by a POPCOUNT. That is 12 popcount operations per window instead of 64 multiply-adds. Our unit tests confirm that the bitwise score exactly equals the score computed with floats.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Hari Sankar A · ~40 s (clock 4:50–5:30)
For evaluation we used three datasets. The main one is PASCAL VOC 2007, the paper's own benchmark: we train on 5,011 images and test on 4,952 images with over 12,000 objects. We also generated a synthetic benchmark of 900 images with cluttered backgrounds, and we annotated 58 objects in 10 real photographs that are never used for training. Every method is scored with the same evaluator. As baselines we used the authors' own C++ code, Selective Search, EdgeBoxes, sliding windows and random boxes. For the detector, we report the standard VOC mean average precision.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Hari Sankar A · ~55 s (clock 5:30–6:25)
One design choice is the colour space in which the gradients are computed. Our teacher asked us to compare RGB, HSV and grayscale, so we trained one BING model per colour space on VOC and tested each on the full test set. For colour images the gradient is taken in every channel and the strongest one is kept. On VOC, HSV is slightly best: 94.4 percent of objects in the top 1000, against 94.0 percent for RGB and 93.2 percent for gray. Gray misses edges that differ only in colour, so it loses most on small objects. But the winner depends on the data: RGB is best on our synthetic scenes, and gray transfers best from synthetic training to real photos. Merging the three lists, as the paper's BING-Diversified does, finds 98.4 percent of objects at 5000 boxes, the highest of all, but it is worse at small budgets. We kept RGB as our default, as in the paper. Parthiv will now present our results.
→ Hand over to Parthiv 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000000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Parthiv M · ~55 s (clock 6:25–7:20)
Thank you, Hari. This is our main result, on PASCAL VOC 2007. Our final BING finds 94.0% of all objects in its top 1000 proposals. The authors' own C++ code, on the same images with the same evaluator, finds 93.8%. So our rebuild matches the original. When we use the authors' own evaluator, their code scores 96.0 percent, against 96.2 percent reported in the paper, so the paper's result reproduces. We also repeated the paper's generalisation test: trained on only six classes, BING still finds 91.1 percent of the objects of the other fourteen classes, close to 93.3 percent for the model trained on all twenty. So it learns generic objectness. The dashed blue line is our first version. It stopped at 75 percent, and I will explain why in a moment.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Parthiv M · ~45 s (clock 7:20–8:05)
This table compares BING with other methods on all 4,952 VOC test images, all timed on the same machine. BING finds the most objects in the top 1000: 94.0 percent against 89.2 percent for Selective Search and 91.6 percent for EdgeBoxes, and it is about 15 times faster than EdgeBoxes and 77 times faster than Selective Search. But both draw tighter boxes, which shows in the MABO column. Compared with the authors' code, our version has the same accuracy on VOC, generalises better to real photos when trained only on synthetic data, and is faster on one thread, 98 against 76 images per second.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Parthiv M · ~50 s (clock 8:05–8:55)
Our first version followed the paper's text exactly and reached only 75 percent on VOC. By running the authors' released code, we found two details that are not in the paper. First, window sizes: the paper lists 10 to 320 pixels, but the code uses 16 to 512 and clips large windows to the image, and VOC has many large objects. Second, suppression: we kept only local peaks, but the code uses greedy suppression, which keeps more good windows. As the table shows, each helps, and together they close the gap. Below is recall per VOC class: thin objects like bottles are hardest; cats and dogs are easiest.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Parthiv M · ~55 s (clock 8:55–9:50)
Next, the results of our novelty on the full VOC 2007 test set. With re-ranking, the top 100 windows find 71.0 percent of all objects instead of 67.2 percent, and the top 1000 find 53.3 percent of small objects instead of 39.3 percent. The curve on the left is above BING's at every budget. The bars on the right show which cues matter: removing edge density hurts most, especially for small objects. The cost is speed: 17 instead of 10 milliseconds per image on one thread, which is still about 46 times faster than Selective Search. We also tried snapping box edges to strong gradients and adding finer window sizes; neither helped on the full test set, so we report them as negative results. Sai Kishen will now show the detector we built on our proposals, and conclude.
→ Hand over to Sai Kishen K 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0000000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Sai Kishen K M · ~80 s (clock 9:50–11:10)
Thank you, Parthiv. Proposals exist to feed a detector, so we built one, in two versions. Both use one linear classifier per VOC class, trained on VOC trainval with hard-negative mining. The first describes each window with HOG and a colour histogram, fully handcrafted. The second takes each window's average activations from a ResNet-50 pretrained on ImageNet, and adds box regression to tighten the boxes. With HOG the best result is 7.4 percent mean average precision. With CNN features it is 19.1 percent, again with our re-ranked top 100 windows. The chart shows the CNN version. At 100 windows, BING's boxes give 18.8 percent against 13.8 percent for random boxes and only 0.6 percent for sliding windows, so proposals matter. With 1000 windows, random boxes catch up and reach 16.0 percent. The plot on the right explains why: at an overlap of 0.7, BING's top 1000 cover only 30 percent of objects, against 43 percent for random boxes. A detector needs tight boxes, which matches what Hosang and colleagues found in their 2016 study of proposals.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000000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Sai Kishen K M · ~40 s (clock 11:50–12:30)
Our ablation studies show what matters. The simple minus-one, zero, one gradient mask works as well as Sobel. RGB is the best single colour space. Just two bits of gradient are enough. And because the model has only 64 weights, even 10 training images give good results. On the right is speed. With four threads, each working on its own image, our version reaches 294 images per second, close to the authors' C++ code at 196. The main limitation is that BING's boxes are coarse, because the window sizes are powers of two and the stride is 8 pixels.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Sai Kishen K M · ~45 s (clock 12:30–13:15)
To conclude: simple gradients, a 64-weight linear model and bit operations find 94 percent of objects on PASCAL VOC, matching the authors' own code. Our novelty, multi-cue re-ranking, finds 71.0 percent of objects in the top 100 and raises small-object recall from 39.3 percent to 53.3 percent. Our detector reaches 19.1 percent mean average precision with CNN features, beats sliding windows by a wide margin, and shows that BING's loose boxes are what limits detection. In future we would like to make the boxes tighter and fine-tune the CNN features. Thank you. We are happy to take questions, and we can show a live webcam demo.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Sai Kishen K M · ~40 s (clock 11:10–11:50)
Here is the CNN detector on a few photos. It finds the motorbike, the brown horse and its rider, the astronaut and the cameraman, and names each with one of the twenty VOC classes. It also shows the limits: it misses the white horse, it only knows the VOC classes, so a cup or a phone gets no label, and its boxes can be loose, like the motorbike box that cuts off the front wheel. In short, BING says where objects are, and the detector says what they are.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000000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1" Type="http://schemas.openxmlformats.org/officeDocument/2006/relationships/slideLayout" Target="../slideLayouts/slideLayout1.xml"/><Relationship Id="rId9"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4"/>
        </a:solidFill>
        <a:effectLst/>
      </p:bgPr>
    </p:bg>
    <p:spTree>
      <p:nvGrpSpPr>
        <p:cNvPr id="1" name=""/>
        <p:cNvGrpSpPr/>
        <p:nvPr/>
      </p:nvGrpSpPr>
      <p:grpSpPr>
        <a:xfrm>
          <a:off x="0" y="0"/>
          <a:ext cx="0" cy="0"/>
          <a:chOff x="0" y="0"/>
          <a:chExt cx="0" cy="0"/>
        </a:xfrm>
      </p:grpSpPr>
      <p:pic>
        <p:nvPicPr>
          <p:cNvPr id="2" name="Image 0" descr="/home/user/cvprojectg10/results/figures/ng_title.png"/>
          <p:cNvPicPr>
            <a:picLocks noChangeAspect="1"/>
          </p:cNvPicPr>
          <p:nvPr/>
        </p:nvPicPr>
        <p:blipFill>
          <a:blip r:embed="rId3"/>
          <a:srcRect/>
          <a:stretch/>
        </p:blipFill>
        <p:spPr>
          <a:xfrm>
            <a:off x="6583680" y="0"/>
            <a:ext cx="5605272" cy="6858000"/>
          </a:xfrm>
          <a:prstGeom prst="rect">
            <a:avLst/>
          </a:prstGeom>
        </p:spPr>
      </p:pic>
      <p:sp>
        <p:nvSpPr>
          <p:cNvPr id="3" name="Text 0"/>
          <p:cNvSpPr txBox="1"/>
          <p:nvPr/>
        </p:nvSpPr>
        <p:spPr>
          <a:xfrm>
            <a:off x="548640" y="640080"/>
            <a:ext cx="585216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23CSE373 · COMPUTER VISION · GROUP 10</a:t>
            </a:r>
            <a:endParaRPr lang="en-US" sz="1200" dirty="0"/>
          </a:p>
        </p:txBody>
      </p:sp>
      <p:sp>
        <p:nvSpPr>
          <p:cNvPr id="4" name="Text 1"/>
          <p:cNvSpPr txBox="1"/>
          <p:nvPr/>
        </p:nvSpPr>
        <p:spPr>
          <a:xfrm>
            <a:off x="548640" y="1097280"/>
            <a:ext cx="5760720" cy="21945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Fast Object Proposal Generation Using Handcrafted Gradient Features</a:t>
            </a:r>
            <a:endParaRPr lang="en-US" sz="3600" dirty="0"/>
          </a:p>
        </p:txBody>
      </p:sp>
      <p:sp>
        <p:nvSpPr>
          <p:cNvPr id="5" name="Text 2"/>
          <p:cNvSpPr txBox="1"/>
          <p:nvPr/>
        </p:nvSpPr>
        <p:spPr>
          <a:xfrm>
            <a:off x="548640" y="3337560"/>
            <a:ext cx="5669280" cy="822960"/>
          </a:xfrm>
          <a:prstGeom prst="rect">
            <a:avLst/>
          </a:prstGeom>
          <a:noFill/>
          <a:ln/>
        </p:spPr>
        <p:txBody>
          <a:bodyPr wrap="square" lIns="0" tIns="0" rIns="0" bIns="0" rtlCol="0" anchor="t"/>
          <a:lstStyle/>
          <a:p>
            <a:pPr marL="0" indent="0">
              <a:buNone/>
            </a:pPr>
            <a:r>
              <a:rPr lang="en-US" sz="1500" i="1" dirty="0">
                <a:solidFill>
                  <a:srgbClr val="AEB8C6"/>
                </a:solidFill>
                <a:latin typeface="Calibri" pitchFamily="34" charset="0"/>
                <a:ea typeface="Calibri" pitchFamily="34" charset="-122"/>
                <a:cs typeface="Calibri" pitchFamily="34" charset="-120"/>
              </a:rPr>
              <a:t>A from-scratch re-implementation and study of BING — Binarized Normed Gradients for Objectness Estimation (Cheng, Zhang, Lin, Torr · CVPR 2014)</a:t>
            </a:r>
            <a:endParaRPr lang="en-US" sz="1500" dirty="0"/>
          </a:p>
        </p:txBody>
      </p:sp>
      <p:sp>
        <p:nvSpPr>
          <p:cNvPr id="6" name="Text 3"/>
          <p:cNvSpPr txBox="1"/>
          <p:nvPr/>
        </p:nvSpPr>
        <p:spPr>
          <a:xfrm>
            <a:off x="548640" y="4434840"/>
            <a:ext cx="576072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Abhinav Dileep</a:t>
            </a:r>
            <a:r>
              <a:rPr lang="en-US" sz="1400" dirty="0">
                <a:solidFill>
                  <a:srgbClr val="AEB8C6"/>
                </a:solidFill>
                <a:latin typeface="Calibri" pitchFamily="34" charset="0"/>
                <a:ea typeface="Calibri" pitchFamily="34" charset="-122"/>
                <a:cs typeface="Calibri" pitchFamily="34" charset="-120"/>
              </a:rPr>
              <a:t>   	AM.SC.U4CSE23202</a:t>
            </a:r>
            <a:endParaRPr lang="en-US" sz="1400" dirty="0"/>
          </a:p>
        </p:txBody>
      </p:sp>
      <p:sp>
        <p:nvSpPr>
          <p:cNvPr id="7" name="Text 4"/>
          <p:cNvSpPr txBox="1"/>
          <p:nvPr/>
        </p:nvSpPr>
        <p:spPr>
          <a:xfrm>
            <a:off x="548640" y="4800600"/>
            <a:ext cx="576072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Ayyappadas M T</a:t>
            </a:r>
            <a:r>
              <a:rPr lang="en-US" sz="1400" dirty="0">
                <a:solidFill>
                  <a:srgbClr val="AEB8C6"/>
                </a:solidFill>
                <a:latin typeface="Calibri" pitchFamily="34" charset="0"/>
                <a:ea typeface="Calibri" pitchFamily="34" charset="-122"/>
                <a:cs typeface="Calibri" pitchFamily="34" charset="-120"/>
              </a:rPr>
              <a:t>   	AM.SC.U4CSE23209</a:t>
            </a:r>
            <a:endParaRPr lang="en-US" sz="1400" dirty="0"/>
          </a:p>
        </p:txBody>
      </p:sp>
      <p:sp>
        <p:nvSpPr>
          <p:cNvPr id="8" name="Text 5"/>
          <p:cNvSpPr txBox="1"/>
          <p:nvPr/>
        </p:nvSpPr>
        <p:spPr>
          <a:xfrm>
            <a:off x="548640" y="5166360"/>
            <a:ext cx="576072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Hari Sankar A</a:t>
            </a:r>
            <a:r>
              <a:rPr lang="en-US" sz="1400" dirty="0">
                <a:solidFill>
                  <a:srgbClr val="AEB8C6"/>
                </a:solidFill>
                <a:latin typeface="Calibri" pitchFamily="34" charset="0"/>
                <a:ea typeface="Calibri" pitchFamily="34" charset="-122"/>
                <a:cs typeface="Calibri" pitchFamily="34" charset="-120"/>
              </a:rPr>
              <a:t>   	AM.SC.U4CSE23221</a:t>
            </a:r>
            <a:endParaRPr lang="en-US" sz="1400" dirty="0"/>
          </a:p>
        </p:txBody>
      </p:sp>
      <p:sp>
        <p:nvSpPr>
          <p:cNvPr id="9" name="Text 6"/>
          <p:cNvSpPr txBox="1"/>
          <p:nvPr/>
        </p:nvSpPr>
        <p:spPr>
          <a:xfrm>
            <a:off x="548640" y="5532120"/>
            <a:ext cx="576072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Parthiv M</a:t>
            </a:r>
            <a:r>
              <a:rPr lang="en-US" sz="1400" dirty="0">
                <a:solidFill>
                  <a:srgbClr val="AEB8C6"/>
                </a:solidFill>
                <a:latin typeface="Calibri" pitchFamily="34" charset="0"/>
                <a:ea typeface="Calibri" pitchFamily="34" charset="-122"/>
                <a:cs typeface="Calibri" pitchFamily="34" charset="-120"/>
              </a:rPr>
              <a:t>   		AM.SC.U4CSE23240</a:t>
            </a:r>
            <a:endParaRPr lang="en-US" sz="1400" dirty="0"/>
          </a:p>
        </p:txBody>
      </p:sp>
      <p:sp>
        <p:nvSpPr>
          <p:cNvPr id="10" name="Text 7"/>
          <p:cNvSpPr txBox="1"/>
          <p:nvPr/>
        </p:nvSpPr>
        <p:spPr>
          <a:xfrm>
            <a:off x="548640" y="5897880"/>
            <a:ext cx="576072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Sai Kishen K M</a:t>
            </a:r>
            <a:r>
              <a:rPr lang="en-US" sz="1400" dirty="0">
                <a:solidFill>
                  <a:srgbClr val="AEB8C6"/>
                </a:solidFill>
                <a:latin typeface="Calibri" pitchFamily="34" charset="0"/>
                <a:ea typeface="Calibri" pitchFamily="34" charset="-122"/>
                <a:cs typeface="Calibri" pitchFamily="34" charset="-120"/>
              </a:rPr>
              <a:t>   	AM.SC.U4CSE23248</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1 · INTRODUCTION</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Why object proposals?</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1554480"/>
            <a:ext cx="6035040" cy="4389120"/>
          </a:xfrm>
          <a:prstGeom prst="rect">
            <a:avLst/>
          </a:prstGeom>
          <a:noFill/>
          <a:ln/>
        </p:spPr>
        <p:txBody>
          <a:bodyPr wrap="square" lIns="0" tIns="0" rIns="0" bIns="0" rtlCol="0" anchor="t"/>
          <a:lstStyle/>
          <a:p>
            <a:pPr marL="342900" indent="-342900">
              <a:spcAft>
                <a:spcPts val="900"/>
              </a:spcAft>
              <a:buSzPct val="100000"/>
              <a:buChar char="•"/>
            </a:pPr>
            <a:r>
              <a:rPr lang="en-US" sz="1700" b="1" dirty="0">
                <a:solidFill>
                  <a:srgbClr val="1B1F2A"/>
                </a:solidFill>
                <a:latin typeface="Calibri" pitchFamily="34" charset="0"/>
                <a:ea typeface="Calibri" pitchFamily="34" charset="-122"/>
                <a:cs typeface="Calibri" pitchFamily="34" charset="-120"/>
              </a:rPr>
              <a:t>Object detection is expensive. </a:t>
            </a:r>
            <a:r>
              <a:rPr lang="en-US" sz="1700" dirty="0">
                <a:solidFill>
                  <a:srgbClr val="5B6270"/>
                </a:solidFill>
                <a:latin typeface="Calibri" pitchFamily="34" charset="0"/>
                <a:ea typeface="Calibri" pitchFamily="34" charset="-122"/>
                <a:cs typeface="Calibri" pitchFamily="34" charset="-120"/>
              </a:rPr>
              <a:t>A sliding-window detector must classify every position × scale × aspect ratio, which is 10⁵–10⁶ windows per image.</a:t>
            </a:r>
            <a:endParaRPr lang="en-US" sz="1700" dirty="0"/>
          </a:p>
          <a:p>
            <a:pPr marL="342900" indent="-342900">
              <a:spcAft>
                <a:spcPts val="900"/>
              </a:spcAft>
              <a:buSzPct val="100000"/>
              <a:buChar char="•"/>
            </a:pPr>
            <a:r>
              <a:rPr lang="en-US" sz="1700" b="1" dirty="0">
                <a:solidFill>
                  <a:srgbClr val="1B1F2A"/>
                </a:solidFill>
                <a:latin typeface="Calibri" pitchFamily="34" charset="0"/>
                <a:ea typeface="Calibri" pitchFamily="34" charset="-122"/>
                <a:cs typeface="Calibri" pitchFamily="34" charset="-120"/>
              </a:rPr>
              <a:t>Most windows are background. </a:t>
            </a:r>
            <a:r>
              <a:rPr lang="en-US" sz="1700" dirty="0">
                <a:solidFill>
                  <a:srgbClr val="5B6270"/>
                </a:solidFill>
                <a:latin typeface="Calibri" pitchFamily="34" charset="0"/>
                <a:ea typeface="Calibri" pitchFamily="34" charset="-122"/>
                <a:cs typeface="Calibri" pitchFamily="34" charset="-120"/>
              </a:rPr>
              <a:t>Only a handful of windows actually contain an object.</a:t>
            </a:r>
            <a:endParaRPr lang="en-US" sz="1700" dirty="0"/>
          </a:p>
          <a:p>
            <a:pPr marL="342900" indent="-342900">
              <a:spcAft>
                <a:spcPts val="900"/>
              </a:spcAft>
              <a:buSzPct val="100000"/>
              <a:buChar char="•"/>
            </a:pPr>
            <a:r>
              <a:rPr lang="en-US" sz="1700" b="1" dirty="0">
                <a:solidFill>
                  <a:srgbClr val="1B1F2A"/>
                </a:solidFill>
                <a:latin typeface="Calibri" pitchFamily="34" charset="0"/>
                <a:ea typeface="Calibri" pitchFamily="34" charset="-122"/>
                <a:cs typeface="Calibri" pitchFamily="34" charset="-120"/>
              </a:rPr>
              <a:t>Object proposals. </a:t>
            </a:r>
            <a:r>
              <a:rPr lang="en-US" sz="1700" dirty="0">
                <a:solidFill>
                  <a:srgbClr val="5B6270"/>
                </a:solidFill>
                <a:latin typeface="Calibri" pitchFamily="34" charset="0"/>
                <a:ea typeface="Calibri" pitchFamily="34" charset="-122"/>
                <a:cs typeface="Calibri" pitchFamily="34" charset="-120"/>
              </a:rPr>
              <a:t>A cheap, class-agnostic objectness score ranks the windows, so the detector only examines the top ~1000.</a:t>
            </a:r>
            <a:endParaRPr lang="en-US" sz="1700" dirty="0"/>
          </a:p>
          <a:p>
            <a:pPr marL="342900" indent="-342900">
              <a:spcAft>
                <a:spcPts val="900"/>
              </a:spcAft>
              <a:buSzPct val="100000"/>
              <a:buChar char="•"/>
            </a:pPr>
            <a:r>
              <a:rPr lang="en-US" sz="1700" b="1" dirty="0">
                <a:solidFill>
                  <a:srgbClr val="1B1F2A"/>
                </a:solidFill>
                <a:latin typeface="Calibri" pitchFamily="34" charset="0"/>
                <a:ea typeface="Calibri" pitchFamily="34" charset="-122"/>
                <a:cs typeface="Calibri" pitchFamily="34" charset="-120"/>
              </a:rPr>
              <a:t>Base paper: BING (CVPR 2014). </a:t>
            </a:r>
            <a:r>
              <a:rPr lang="en-US" sz="1700" dirty="0">
                <a:solidFill>
                  <a:srgbClr val="5B6270"/>
                </a:solidFill>
                <a:latin typeface="Calibri" pitchFamily="34" charset="0"/>
                <a:ea typeface="Calibri" pitchFamily="34" charset="-122"/>
                <a:cs typeface="Calibri" pitchFamily="34" charset="-120"/>
              </a:rPr>
              <a:t>Handcrafted gradient features + bit operations produce proposals at 300 fps, with no deep learning.</a:t>
            </a:r>
            <a:endParaRPr lang="en-US" sz="1700" dirty="0"/>
          </a:p>
        </p:txBody>
      </p:sp>
      <p:sp>
        <p:nvSpPr>
          <p:cNvPr id="6" name="Shape 4"/>
          <p:cNvSpPr/>
          <p:nvPr/>
        </p:nvSpPr>
        <p:spPr>
          <a:xfrm>
            <a:off x="7040880" y="1554480"/>
            <a:ext cx="4572000" cy="4572000"/>
          </a:xfrm>
          <a:prstGeom prst="roundRect">
            <a:avLst>
              <a:gd name="adj" fmla="val 2400"/>
            </a:avLst>
          </a:prstGeom>
          <a:solidFill>
            <a:srgbClr val="F1F4F7"/>
          </a:solidFill>
          <a:ln w="12700">
            <a:solidFill>
              <a:srgbClr val="F1F4F7"/>
            </a:solidFill>
            <a:prstDash val="solid"/>
          </a:ln>
        </p:spPr>
      </p:sp>
      <p:sp>
        <p:nvSpPr>
          <p:cNvPr id="7" name="Text 5"/>
          <p:cNvSpPr txBox="1"/>
          <p:nvPr/>
        </p:nvSpPr>
        <p:spPr>
          <a:xfrm>
            <a:off x="7406640" y="1828800"/>
            <a:ext cx="3931920" cy="822960"/>
          </a:xfrm>
          <a:prstGeom prst="rect">
            <a:avLst/>
          </a:prstGeom>
          <a:noFill/>
          <a:ln/>
        </p:spPr>
        <p:txBody>
          <a:bodyPr wrap="square" lIns="0" tIns="0" rIns="0" bIns="0" rtlCol="0" anchor="ctr"/>
          <a:lstStyle/>
          <a:p>
            <a:pPr marL="0" indent="0">
              <a:buNone/>
            </a:pPr>
            <a:r>
              <a:rPr lang="en-US" sz="4400" b="1" dirty="0">
                <a:solidFill>
                  <a:srgbClr val="5B6270"/>
                </a:solidFill>
                <a:latin typeface="Cambria" pitchFamily="34" charset="0"/>
                <a:ea typeface="Cambria" pitchFamily="34" charset="-122"/>
                <a:cs typeface="Cambria" pitchFamily="34" charset="-120"/>
              </a:rPr>
              <a:t>~10⁵+</a:t>
            </a:r>
            <a:endParaRPr lang="en-US" sz="4400" dirty="0"/>
          </a:p>
        </p:txBody>
      </p:sp>
      <p:sp>
        <p:nvSpPr>
          <p:cNvPr id="8" name="Text 6"/>
          <p:cNvSpPr txBox="1"/>
          <p:nvPr/>
        </p:nvSpPr>
        <p:spPr>
          <a:xfrm>
            <a:off x="7406640" y="2651760"/>
            <a:ext cx="3931920" cy="548640"/>
          </a:xfrm>
          <a:prstGeom prst="rect">
            <a:avLst/>
          </a:prstGeom>
          <a:noFill/>
          <a:ln/>
        </p:spPr>
        <p:txBody>
          <a:bodyPr wrap="square" lIns="0" tIns="0" rIns="0" bIns="0" rtlCol="0" anchor="t"/>
          <a:lstStyle/>
          <a:p>
            <a:pPr marL="0" indent="0">
              <a:buNone/>
            </a:pPr>
            <a:r>
              <a:rPr lang="en-US" sz="1300" dirty="0">
                <a:solidFill>
                  <a:srgbClr val="5B6270"/>
                </a:solidFill>
                <a:latin typeface="Calibri" pitchFamily="34" charset="0"/>
                <a:ea typeface="Calibri" pitchFamily="34" charset="-122"/>
                <a:cs typeface="Calibri" pitchFamily="34" charset="-120"/>
              </a:rPr>
              <a:t>windows a naïve sliding-window scan evaluates per image</a:t>
            </a:r>
            <a:endParaRPr lang="en-US" sz="1300" dirty="0"/>
          </a:p>
        </p:txBody>
      </p:sp>
      <p:sp>
        <p:nvSpPr>
          <p:cNvPr id="9" name="Text 7"/>
          <p:cNvSpPr txBox="1"/>
          <p:nvPr/>
        </p:nvSpPr>
        <p:spPr>
          <a:xfrm>
            <a:off x="7406640" y="3246120"/>
            <a:ext cx="3931920" cy="822960"/>
          </a:xfrm>
          <a:prstGeom prst="rect">
            <a:avLst/>
          </a:prstGeom>
          <a:noFill/>
          <a:ln/>
        </p:spPr>
        <p:txBody>
          <a:bodyPr wrap="square" lIns="0" tIns="0" rIns="0" bIns="0" rtlCol="0" anchor="ctr"/>
          <a:lstStyle/>
          <a:p>
            <a:pPr marL="0" indent="0">
              <a:buNone/>
            </a:pPr>
            <a:r>
              <a:rPr lang="en-US" sz="4400" b="1" dirty="0">
                <a:solidFill>
                  <a:srgbClr val="1C7293"/>
                </a:solidFill>
                <a:latin typeface="Cambria" pitchFamily="34" charset="0"/>
                <a:ea typeface="Cambria" pitchFamily="34" charset="-122"/>
                <a:cs typeface="Cambria" pitchFamily="34" charset="-120"/>
              </a:rPr>
              <a:t>~1000</a:t>
            </a:r>
            <a:endParaRPr lang="en-US" sz="4400" dirty="0"/>
          </a:p>
        </p:txBody>
      </p:sp>
      <p:sp>
        <p:nvSpPr>
          <p:cNvPr id="10" name="Text 8"/>
          <p:cNvSpPr txBox="1"/>
          <p:nvPr/>
        </p:nvSpPr>
        <p:spPr>
          <a:xfrm>
            <a:off x="7406640" y="4069080"/>
            <a:ext cx="3931920" cy="548640"/>
          </a:xfrm>
          <a:prstGeom prst="rect">
            <a:avLst/>
          </a:prstGeom>
          <a:noFill/>
          <a:ln/>
        </p:spPr>
        <p:txBody>
          <a:bodyPr wrap="square" lIns="0" tIns="0" rIns="0" bIns="0" rtlCol="0" anchor="t"/>
          <a:lstStyle/>
          <a:p>
            <a:pPr marL="0" indent="0">
              <a:buNone/>
            </a:pPr>
            <a:r>
              <a:rPr lang="en-US" sz="1300" dirty="0">
                <a:solidFill>
                  <a:srgbClr val="5B6270"/>
                </a:solidFill>
                <a:latin typeface="Calibri" pitchFamily="34" charset="0"/>
                <a:ea typeface="Calibri" pitchFamily="34" charset="-122"/>
                <a:cs typeface="Calibri" pitchFamily="34" charset="-120"/>
              </a:rPr>
              <a:t>proposals that a detector needs to check instead</a:t>
            </a:r>
            <a:endParaRPr lang="en-US" sz="1300" dirty="0"/>
          </a:p>
        </p:txBody>
      </p:sp>
      <p:sp>
        <p:nvSpPr>
          <p:cNvPr id="11" name="Text 9"/>
          <p:cNvSpPr txBox="1"/>
          <p:nvPr/>
        </p:nvSpPr>
        <p:spPr>
          <a:xfrm>
            <a:off x="7406640" y="4617720"/>
            <a:ext cx="3931920" cy="822960"/>
          </a:xfrm>
          <a:prstGeom prst="rect">
            <a:avLst/>
          </a:prstGeom>
          <a:noFill/>
          <a:ln/>
        </p:spPr>
        <p:txBody>
          <a:bodyPr wrap="square" lIns="0" tIns="0" rIns="0" bIns="0" rtlCol="0" anchor="ctr"/>
          <a:lstStyle/>
          <a:p>
            <a:pPr marL="0" indent="0">
              <a:buNone/>
            </a:pPr>
            <a:r>
              <a:rPr lang="en-US" sz="4400" b="1" dirty="0">
                <a:solidFill>
                  <a:srgbClr val="E8772E"/>
                </a:solidFill>
                <a:latin typeface="Cambria" pitchFamily="34" charset="0"/>
                <a:ea typeface="Cambria" pitchFamily="34" charset="-122"/>
                <a:cs typeface="Cambria" pitchFamily="34" charset="-120"/>
              </a:rPr>
              <a:t>300 fps</a:t>
            </a:r>
            <a:endParaRPr lang="en-US" sz="4400" dirty="0"/>
          </a:p>
        </p:txBody>
      </p:sp>
      <p:sp>
        <p:nvSpPr>
          <p:cNvPr id="12" name="Text 10"/>
          <p:cNvSpPr txBox="1"/>
          <p:nvPr/>
        </p:nvSpPr>
        <p:spPr>
          <a:xfrm>
            <a:off x="7406640" y="5440680"/>
            <a:ext cx="3931920" cy="548640"/>
          </a:xfrm>
          <a:prstGeom prst="rect">
            <a:avLst/>
          </a:prstGeom>
          <a:noFill/>
          <a:ln/>
        </p:spPr>
        <p:txBody>
          <a:bodyPr wrap="square" lIns="0" tIns="0" rIns="0" bIns="0" rtlCol="0" anchor="t"/>
          <a:lstStyle/>
          <a:p>
            <a:pPr marL="0" indent="0">
              <a:buNone/>
            </a:pPr>
            <a:r>
              <a:rPr lang="en-US" sz="1300" dirty="0">
                <a:solidFill>
                  <a:srgbClr val="5B6270"/>
                </a:solidFill>
                <a:latin typeface="Calibri" pitchFamily="34" charset="0"/>
                <a:ea typeface="Calibri" pitchFamily="34" charset="-122"/>
                <a:cs typeface="Calibri" pitchFamily="34" charset="-120"/>
              </a:rPr>
              <a:t>BING's reported speed in the paper's C++ implementation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2 · PROBLEM DEFINITION</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Problem definition</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48640" y="1554480"/>
            <a:ext cx="11064240" cy="1234440"/>
          </a:xfrm>
          <a:prstGeom prst="roundRect">
            <a:avLst>
              <a:gd name="adj" fmla="val 8889"/>
            </a:avLst>
          </a:prstGeom>
          <a:solidFill>
            <a:srgbClr val="FDF1E8"/>
          </a:solidFill>
          <a:ln w="12700">
            <a:solidFill>
              <a:srgbClr val="FDF1E8"/>
            </a:solidFill>
            <a:prstDash val="solid"/>
          </a:ln>
        </p:spPr>
      </p:sp>
      <p:sp>
        <p:nvSpPr>
          <p:cNvPr id="6" name="Text 4"/>
          <p:cNvSpPr txBox="1"/>
          <p:nvPr/>
        </p:nvSpPr>
        <p:spPr>
          <a:xfrm>
            <a:off x="822960" y="1691640"/>
            <a:ext cx="10515600" cy="960120"/>
          </a:xfrm>
          <a:prstGeom prst="rect">
            <a:avLst/>
          </a:prstGeom>
          <a:noFill/>
          <a:ln/>
        </p:spPr>
        <p:txBody>
          <a:bodyPr wrap="square" lIns="0" tIns="0" rIns="0" bIns="0" rtlCol="0" anchor="ctr"/>
          <a:lstStyle/>
          <a:p>
            <a:pPr marL="0" indent="0">
              <a:buNone/>
            </a:pPr>
            <a:r>
              <a:rPr lang="en-US" sz="1900" b="1" dirty="0">
                <a:solidFill>
                  <a:srgbClr val="1B1F2A"/>
                </a:solidFill>
                <a:latin typeface="Cambria" pitchFamily="34" charset="0"/>
                <a:ea typeface="Cambria" pitchFamily="34" charset="-122"/>
                <a:cs typeface="Cambria" pitchFamily="34" charset="-120"/>
              </a:rPr>
              <a:t>Given an image I, output a ranked list of N bounding boxes such that as many objects as possible are covered (IoU ≥ 0.5) by a small N, in milliseconds, using only handcrafted features.</a:t>
            </a:r>
            <a:endParaRPr lang="en-US" sz="1900" dirty="0"/>
          </a:p>
        </p:txBody>
      </p:sp>
      <p:sp>
        <p:nvSpPr>
          <p:cNvPr id="7" name="Shape 5"/>
          <p:cNvSpPr/>
          <p:nvPr/>
        </p:nvSpPr>
        <p:spPr>
          <a:xfrm>
            <a:off x="548640" y="3063240"/>
            <a:ext cx="2606040" cy="2011680"/>
          </a:xfrm>
          <a:prstGeom prst="roundRect">
            <a:avLst>
              <a:gd name="adj" fmla="val 5455"/>
            </a:avLst>
          </a:prstGeom>
          <a:solidFill>
            <a:srgbClr val="F1F4F7"/>
          </a:solidFill>
          <a:ln w="12700">
            <a:solidFill>
              <a:srgbClr val="F1F4F7"/>
            </a:solidFill>
            <a:prstDash val="solid"/>
          </a:ln>
        </p:spPr>
      </p:sp>
      <p:sp>
        <p:nvSpPr>
          <p:cNvPr id="8" name="Shape 6"/>
          <p:cNvSpPr/>
          <p:nvPr/>
        </p:nvSpPr>
        <p:spPr>
          <a:xfrm>
            <a:off x="731520" y="3246120"/>
            <a:ext cx="420624" cy="420624"/>
          </a:xfrm>
          <a:prstGeom prst="ellipse">
            <a:avLst/>
          </a:prstGeom>
          <a:solidFill>
            <a:srgbClr val="1C7293"/>
          </a:solidFill>
          <a:ln w="12700">
            <a:solidFill>
              <a:srgbClr val="1C7293"/>
            </a:solidFill>
            <a:prstDash val="solid"/>
          </a:ln>
        </p:spPr>
      </p:sp>
      <p:sp>
        <p:nvSpPr>
          <p:cNvPr id="9" name="Text 7"/>
          <p:cNvSpPr txBox="1"/>
          <p:nvPr/>
        </p:nvSpPr>
        <p:spPr>
          <a:xfrm>
            <a:off x="731520" y="324612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731520" y="3749040"/>
            <a:ext cx="2286000" cy="365760"/>
          </a:xfrm>
          <a:prstGeom prst="rect">
            <a:avLst/>
          </a:prstGeom>
          <a:noFill/>
          <a:ln/>
        </p:spPr>
        <p:txBody>
          <a:bodyPr wrap="square" lIns="0" tIns="0" rIns="0" bIns="0" rtlCol="0" anchor="ctr"/>
          <a:lstStyle/>
          <a:p>
            <a:pPr marL="0" indent="0">
              <a:buNone/>
            </a:pPr>
            <a:r>
              <a:rPr lang="en-US" sz="1700" b="1" dirty="0">
                <a:solidFill>
                  <a:srgbClr val="1B1F2A"/>
                </a:solidFill>
                <a:latin typeface="Cambria" pitchFamily="34" charset="0"/>
                <a:ea typeface="Cambria" pitchFamily="34" charset="-122"/>
                <a:cs typeface="Cambria" pitchFamily="34" charset="-120"/>
              </a:rPr>
              <a:t>Input</a:t>
            </a:r>
            <a:endParaRPr lang="en-US" sz="1700" dirty="0"/>
          </a:p>
        </p:txBody>
      </p:sp>
      <p:sp>
        <p:nvSpPr>
          <p:cNvPr id="11" name="Text 9"/>
          <p:cNvSpPr txBox="1"/>
          <p:nvPr/>
        </p:nvSpPr>
        <p:spPr>
          <a:xfrm>
            <a:off x="731520" y="4133088"/>
            <a:ext cx="2286000" cy="868680"/>
          </a:xfrm>
          <a:prstGeom prst="rect">
            <a:avLst/>
          </a:prstGeom>
          <a:noFill/>
          <a:ln/>
        </p:spPr>
        <p:txBody>
          <a:bodyPr wrap="square" lIns="0" tIns="0" rIns="0" bIns="0" rtlCol="0" anchor="t"/>
          <a:lstStyle/>
          <a:p>
            <a:pPr marL="0" indent="0">
              <a:buNone/>
            </a:pPr>
            <a:r>
              <a:rPr lang="en-US" sz="1300" dirty="0">
                <a:solidFill>
                  <a:srgbClr val="5B6270"/>
                </a:solidFill>
                <a:latin typeface="Calibri" pitchFamily="34" charset="0"/>
                <a:ea typeface="Calibri" pitchFamily="34" charset="-122"/>
                <a:cs typeface="Calibri" pitchFamily="34" charset="-120"/>
              </a:rPr>
              <a:t>An RGB image of any size, any content</a:t>
            </a:r>
            <a:endParaRPr lang="en-US" sz="1300" dirty="0"/>
          </a:p>
        </p:txBody>
      </p:sp>
      <p:sp>
        <p:nvSpPr>
          <p:cNvPr id="12" name="Shape 10"/>
          <p:cNvSpPr/>
          <p:nvPr/>
        </p:nvSpPr>
        <p:spPr>
          <a:xfrm>
            <a:off x="3383280" y="3063240"/>
            <a:ext cx="2606040" cy="2011680"/>
          </a:xfrm>
          <a:prstGeom prst="roundRect">
            <a:avLst>
              <a:gd name="adj" fmla="val 5455"/>
            </a:avLst>
          </a:prstGeom>
          <a:solidFill>
            <a:srgbClr val="F1F4F7"/>
          </a:solidFill>
          <a:ln w="12700">
            <a:solidFill>
              <a:srgbClr val="F1F4F7"/>
            </a:solidFill>
            <a:prstDash val="solid"/>
          </a:ln>
        </p:spPr>
      </p:sp>
      <p:sp>
        <p:nvSpPr>
          <p:cNvPr id="13" name="Shape 11"/>
          <p:cNvSpPr/>
          <p:nvPr/>
        </p:nvSpPr>
        <p:spPr>
          <a:xfrm>
            <a:off x="3566160" y="3246120"/>
            <a:ext cx="420624" cy="420624"/>
          </a:xfrm>
          <a:prstGeom prst="ellipse">
            <a:avLst/>
          </a:prstGeom>
          <a:solidFill>
            <a:srgbClr val="1C7293"/>
          </a:solidFill>
          <a:ln w="12700">
            <a:solidFill>
              <a:srgbClr val="1C7293"/>
            </a:solidFill>
            <a:prstDash val="solid"/>
          </a:ln>
        </p:spPr>
      </p:sp>
      <p:sp>
        <p:nvSpPr>
          <p:cNvPr id="14" name="Text 12"/>
          <p:cNvSpPr txBox="1"/>
          <p:nvPr/>
        </p:nvSpPr>
        <p:spPr>
          <a:xfrm>
            <a:off x="3566160" y="324612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3566160" y="3749040"/>
            <a:ext cx="2286000" cy="365760"/>
          </a:xfrm>
          <a:prstGeom prst="rect">
            <a:avLst/>
          </a:prstGeom>
          <a:noFill/>
          <a:ln/>
        </p:spPr>
        <p:txBody>
          <a:bodyPr wrap="square" lIns="0" tIns="0" rIns="0" bIns="0" rtlCol="0" anchor="ctr"/>
          <a:lstStyle/>
          <a:p>
            <a:pPr marL="0" indent="0">
              <a:buNone/>
            </a:pPr>
            <a:r>
              <a:rPr lang="en-US" sz="1700" b="1" dirty="0">
                <a:solidFill>
                  <a:srgbClr val="1B1F2A"/>
                </a:solidFill>
                <a:latin typeface="Cambria" pitchFamily="34" charset="0"/>
                <a:ea typeface="Cambria" pitchFamily="34" charset="-122"/>
                <a:cs typeface="Cambria" pitchFamily="34" charset="-120"/>
              </a:rPr>
              <a:t>Output</a:t>
            </a:r>
            <a:endParaRPr lang="en-US" sz="1700" dirty="0"/>
          </a:p>
        </p:txBody>
      </p:sp>
      <p:sp>
        <p:nvSpPr>
          <p:cNvPr id="16" name="Text 14"/>
          <p:cNvSpPr txBox="1"/>
          <p:nvPr/>
        </p:nvSpPr>
        <p:spPr>
          <a:xfrm>
            <a:off x="3566160" y="4133088"/>
            <a:ext cx="2286000" cy="868680"/>
          </a:xfrm>
          <a:prstGeom prst="rect">
            <a:avLst/>
          </a:prstGeom>
          <a:noFill/>
          <a:ln/>
        </p:spPr>
        <p:txBody>
          <a:bodyPr wrap="square" lIns="0" tIns="0" rIns="0" bIns="0" rtlCol="0" anchor="t"/>
          <a:lstStyle/>
          <a:p>
            <a:pPr marL="0" indent="0">
              <a:buNone/>
            </a:pPr>
            <a:r>
              <a:rPr lang="en-US" sz="1300" dirty="0">
                <a:solidFill>
                  <a:srgbClr val="5B6270"/>
                </a:solidFill>
                <a:latin typeface="Calibri" pitchFamily="34" charset="0"/>
                <a:ea typeface="Calibri" pitchFamily="34" charset="-122"/>
                <a:cs typeface="Calibri" pitchFamily="34" charset="-120"/>
              </a:rPr>
              <a:t>Boxes (x₁, y₁, x₂, y₂) ranked by objectness score, plus an objectness heat-map</a:t>
            </a:r>
            <a:endParaRPr lang="en-US" sz="1300" dirty="0"/>
          </a:p>
        </p:txBody>
      </p:sp>
      <p:sp>
        <p:nvSpPr>
          <p:cNvPr id="17" name="Shape 15"/>
          <p:cNvSpPr/>
          <p:nvPr/>
        </p:nvSpPr>
        <p:spPr>
          <a:xfrm>
            <a:off x="6217920" y="3063240"/>
            <a:ext cx="2606040" cy="2011680"/>
          </a:xfrm>
          <a:prstGeom prst="roundRect">
            <a:avLst>
              <a:gd name="adj" fmla="val 5455"/>
            </a:avLst>
          </a:prstGeom>
          <a:solidFill>
            <a:srgbClr val="F1F4F7"/>
          </a:solidFill>
          <a:ln w="12700">
            <a:solidFill>
              <a:srgbClr val="F1F4F7"/>
            </a:solidFill>
            <a:prstDash val="solid"/>
          </a:ln>
        </p:spPr>
      </p:sp>
      <p:sp>
        <p:nvSpPr>
          <p:cNvPr id="18" name="Shape 16"/>
          <p:cNvSpPr/>
          <p:nvPr/>
        </p:nvSpPr>
        <p:spPr>
          <a:xfrm>
            <a:off x="6400800" y="3246120"/>
            <a:ext cx="420624" cy="420624"/>
          </a:xfrm>
          <a:prstGeom prst="ellipse">
            <a:avLst/>
          </a:prstGeom>
          <a:solidFill>
            <a:srgbClr val="1C7293"/>
          </a:solidFill>
          <a:ln w="12700">
            <a:solidFill>
              <a:srgbClr val="1C7293"/>
            </a:solidFill>
            <a:prstDash val="solid"/>
          </a:ln>
        </p:spPr>
      </p:sp>
      <p:sp>
        <p:nvSpPr>
          <p:cNvPr id="19" name="Text 17"/>
          <p:cNvSpPr txBox="1"/>
          <p:nvPr/>
        </p:nvSpPr>
        <p:spPr>
          <a:xfrm>
            <a:off x="6400800" y="324612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6400800" y="3749040"/>
            <a:ext cx="2286000" cy="365760"/>
          </a:xfrm>
          <a:prstGeom prst="rect">
            <a:avLst/>
          </a:prstGeom>
          <a:noFill/>
          <a:ln/>
        </p:spPr>
        <p:txBody>
          <a:bodyPr wrap="square" lIns="0" tIns="0" rIns="0" bIns="0" rtlCol="0" anchor="ctr"/>
          <a:lstStyle/>
          <a:p>
            <a:pPr marL="0" indent="0">
              <a:buNone/>
            </a:pPr>
            <a:r>
              <a:rPr lang="en-US" sz="1700" b="1" dirty="0">
                <a:solidFill>
                  <a:srgbClr val="1B1F2A"/>
                </a:solidFill>
                <a:latin typeface="Cambria" pitchFamily="34" charset="0"/>
                <a:ea typeface="Cambria" pitchFamily="34" charset="-122"/>
                <a:cs typeface="Cambria" pitchFamily="34" charset="-120"/>
              </a:rPr>
              <a:t>Constraints</a:t>
            </a:r>
            <a:endParaRPr lang="en-US" sz="1700" dirty="0"/>
          </a:p>
        </p:txBody>
      </p:sp>
      <p:sp>
        <p:nvSpPr>
          <p:cNvPr id="21" name="Text 19"/>
          <p:cNvSpPr txBox="1"/>
          <p:nvPr/>
        </p:nvSpPr>
        <p:spPr>
          <a:xfrm>
            <a:off x="6400800" y="4133088"/>
            <a:ext cx="2286000" cy="868680"/>
          </a:xfrm>
          <a:prstGeom prst="rect">
            <a:avLst/>
          </a:prstGeom>
          <a:noFill/>
          <a:ln/>
        </p:spPr>
        <p:txBody>
          <a:bodyPr wrap="square" lIns="0" tIns="0" rIns="0" bIns="0" rtlCol="0" anchor="t"/>
          <a:lstStyle/>
          <a:p>
            <a:pPr marL="0" indent="0">
              <a:buNone/>
            </a:pPr>
            <a:r>
              <a:rPr lang="en-US" sz="1300" dirty="0">
                <a:solidFill>
                  <a:srgbClr val="5B6270"/>
                </a:solidFill>
                <a:latin typeface="Calibri" pitchFamily="34" charset="0"/>
                <a:ea typeface="Calibri" pitchFamily="34" charset="-122"/>
                <a:cs typeface="Calibri" pitchFamily="34" charset="-120"/>
              </a:rPr>
              <a:t>Class-agnostic, real-time, CPU only, no deep networks</a:t>
            </a:r>
            <a:endParaRPr lang="en-US" sz="1300" dirty="0"/>
          </a:p>
        </p:txBody>
      </p:sp>
      <p:sp>
        <p:nvSpPr>
          <p:cNvPr id="22" name="Shape 20"/>
          <p:cNvSpPr/>
          <p:nvPr/>
        </p:nvSpPr>
        <p:spPr>
          <a:xfrm>
            <a:off x="9052560" y="3063240"/>
            <a:ext cx="2606040" cy="2011680"/>
          </a:xfrm>
          <a:prstGeom prst="roundRect">
            <a:avLst>
              <a:gd name="adj" fmla="val 5455"/>
            </a:avLst>
          </a:prstGeom>
          <a:solidFill>
            <a:srgbClr val="F1F4F7"/>
          </a:solidFill>
          <a:ln w="12700">
            <a:solidFill>
              <a:srgbClr val="F1F4F7"/>
            </a:solidFill>
            <a:prstDash val="solid"/>
          </a:ln>
        </p:spPr>
      </p:sp>
      <p:sp>
        <p:nvSpPr>
          <p:cNvPr id="23" name="Shape 21"/>
          <p:cNvSpPr/>
          <p:nvPr/>
        </p:nvSpPr>
        <p:spPr>
          <a:xfrm>
            <a:off x="9235440" y="3246120"/>
            <a:ext cx="420624" cy="420624"/>
          </a:xfrm>
          <a:prstGeom prst="ellipse">
            <a:avLst/>
          </a:prstGeom>
          <a:solidFill>
            <a:srgbClr val="1C7293"/>
          </a:solidFill>
          <a:ln w="12700">
            <a:solidFill>
              <a:srgbClr val="1C7293"/>
            </a:solidFill>
            <a:prstDash val="solid"/>
          </a:ln>
        </p:spPr>
      </p:sp>
      <p:sp>
        <p:nvSpPr>
          <p:cNvPr id="24" name="Text 22"/>
          <p:cNvSpPr txBox="1"/>
          <p:nvPr/>
        </p:nvSpPr>
        <p:spPr>
          <a:xfrm>
            <a:off x="9235440" y="324612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9235440" y="3749040"/>
            <a:ext cx="2286000" cy="365760"/>
          </a:xfrm>
          <a:prstGeom prst="rect">
            <a:avLst/>
          </a:prstGeom>
          <a:noFill/>
          <a:ln/>
        </p:spPr>
        <p:txBody>
          <a:bodyPr wrap="square" lIns="0" tIns="0" rIns="0" bIns="0" rtlCol="0" anchor="ctr"/>
          <a:lstStyle/>
          <a:p>
            <a:pPr marL="0" indent="0">
              <a:buNone/>
            </a:pPr>
            <a:r>
              <a:rPr lang="en-US" sz="1700" b="1" dirty="0">
                <a:solidFill>
                  <a:srgbClr val="1B1F2A"/>
                </a:solidFill>
                <a:latin typeface="Cambria" pitchFamily="34" charset="0"/>
                <a:ea typeface="Cambria" pitchFamily="34" charset="-122"/>
                <a:cs typeface="Cambria" pitchFamily="34" charset="-120"/>
              </a:rPr>
              <a:t>Success measures</a:t>
            </a:r>
            <a:endParaRPr lang="en-US" sz="1700" dirty="0"/>
          </a:p>
        </p:txBody>
      </p:sp>
      <p:sp>
        <p:nvSpPr>
          <p:cNvPr id="26" name="Text 24"/>
          <p:cNvSpPr txBox="1"/>
          <p:nvPr/>
        </p:nvSpPr>
        <p:spPr>
          <a:xfrm>
            <a:off x="9235440" y="4133088"/>
            <a:ext cx="2286000" cy="868680"/>
          </a:xfrm>
          <a:prstGeom prst="rect">
            <a:avLst/>
          </a:prstGeom>
          <a:noFill/>
          <a:ln/>
        </p:spPr>
        <p:txBody>
          <a:bodyPr wrap="square" lIns="0" tIns="0" rIns="0" bIns="0" rtlCol="0" anchor="t"/>
          <a:lstStyle/>
          <a:p>
            <a:pPr marL="0" indent="0">
              <a:buNone/>
            </a:pPr>
            <a:r>
              <a:rPr lang="en-US" sz="1300" dirty="0">
                <a:solidFill>
                  <a:srgbClr val="5B6270"/>
                </a:solidFill>
                <a:latin typeface="Calibri" pitchFamily="34" charset="0"/>
                <a:ea typeface="Calibri" pitchFamily="34" charset="-122"/>
                <a:cs typeface="Calibri" pitchFamily="34" charset="-120"/>
              </a:rPr>
              <a:t>Detection rate vs #proposals (DR@N), MABO (box tightness), runtime (fps)</a:t>
            </a:r>
            <a:endParaRPr lang="en-US" sz="1300" dirty="0"/>
          </a:p>
        </p:txBody>
      </p:sp>
      <p:sp>
        <p:nvSpPr>
          <p:cNvPr id="27" name="Text 25"/>
          <p:cNvSpPr txBox="1"/>
          <p:nvPr/>
        </p:nvSpPr>
        <p:spPr>
          <a:xfrm>
            <a:off x="548640" y="5349240"/>
            <a:ext cx="11064240" cy="548640"/>
          </a:xfrm>
          <a:prstGeom prst="rect">
            <a:avLst/>
          </a:prstGeom>
          <a:noFill/>
          <a:ln/>
        </p:spPr>
        <p:txBody>
          <a:bodyPr wrap="square" lIns="0" tIns="0" rIns="0" bIns="0" rtlCol="0" anchor="ctr"/>
          <a:lstStyle/>
          <a:p>
            <a:pPr marL="0" indent="0">
              <a:buNone/>
            </a:pPr>
            <a:r>
              <a:rPr lang="en-US" sz="1400" i="1" dirty="0">
                <a:solidFill>
                  <a:srgbClr val="5B6270"/>
                </a:solidFill>
                <a:latin typeface="Calibri" pitchFamily="34" charset="0"/>
                <a:ea typeface="Calibri" pitchFamily="34" charset="-122"/>
                <a:cs typeface="Calibri" pitchFamily="34" charset="-120"/>
              </a:rPr>
              <a:t>Scope: we answer “Which regions are likely to contain objects?”, not “What is the object?” (classification is a later stage).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3 · PROPOSED SOLUTION &amp; NOVELTY</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Proposed solution: BING, rebuilt and extended</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1508760"/>
            <a:ext cx="5852160" cy="2743200"/>
          </a:xfrm>
          <a:prstGeom prst="rect">
            <a:avLst/>
          </a:prstGeom>
          <a:noFill/>
          <a:ln/>
        </p:spPr>
        <p:txBody>
          <a:bodyPr wrap="square" lIns="0" tIns="0" rIns="0" bIns="0" rtlCol="0" anchor="t"/>
          <a:lstStyle/>
          <a:p>
            <a:pPr marL="342900" indent="-342900">
              <a:spcAft>
                <a:spcPts val="900"/>
              </a:spcAft>
              <a:buSzPct val="100000"/>
              <a:buChar char="•"/>
            </a:pPr>
            <a:r>
              <a:rPr lang="en-US" sz="1500" b="1" dirty="0">
                <a:solidFill>
                  <a:srgbClr val="1B1F2A"/>
                </a:solidFill>
                <a:latin typeface="Calibri" pitchFamily="34" charset="0"/>
                <a:ea typeface="Calibri" pitchFamily="34" charset="-122"/>
                <a:cs typeface="Calibri" pitchFamily="34" charset="-120"/>
              </a:rPr>
              <a:t>Key idea. </a:t>
            </a:r>
            <a:r>
              <a:rPr lang="en-US" sz="1500" dirty="0">
                <a:solidFill>
                  <a:srgbClr val="5B6270"/>
                </a:solidFill>
                <a:latin typeface="Calibri" pitchFamily="34" charset="0"/>
                <a:ea typeface="Calibri" pitchFamily="34" charset="-122"/>
                <a:cs typeface="Calibri" pitchFamily="34" charset="-120"/>
              </a:rPr>
              <a:t>Objects have closed boundaries. Shrink any window to 8×8 and look at gradient magnitudes: object windows show a ring of edges.</a:t>
            </a:r>
            <a:endParaRPr lang="en-US" sz="1500" dirty="0"/>
          </a:p>
          <a:p>
            <a:pPr marL="342900" indent="-342900">
              <a:spcAft>
                <a:spcPts val="900"/>
              </a:spcAft>
              <a:buSzPct val="100000"/>
              <a:buChar char="•"/>
            </a:pPr>
            <a:r>
              <a:rPr lang="en-US" sz="1500" b="1" dirty="0">
                <a:solidFill>
                  <a:srgbClr val="1B1F2A"/>
                </a:solidFill>
                <a:latin typeface="Calibri" pitchFamily="34" charset="0"/>
                <a:ea typeface="Calibri" pitchFamily="34" charset="-122"/>
                <a:cs typeface="Calibri" pitchFamily="34" charset="-120"/>
              </a:rPr>
              <a:t>64-weight linear model. </a:t>
            </a:r>
            <a:r>
              <a:rPr lang="en-US" sz="1500" dirty="0">
                <a:solidFill>
                  <a:srgbClr val="5B6270"/>
                </a:solidFill>
                <a:latin typeface="Calibri" pitchFamily="34" charset="0"/>
                <a:ea typeface="Calibri" pitchFamily="34" charset="-122"/>
                <a:cs typeface="Calibri" pitchFamily="34" charset="-120"/>
              </a:rPr>
              <a:t>An SVM filter learns this “closed boundary” template (right); a second stage calibrates each window size.</a:t>
            </a:r>
            <a:endParaRPr lang="en-US" sz="1500" dirty="0"/>
          </a:p>
          <a:p>
            <a:pPr marL="342900" indent="-342900">
              <a:spcAft>
                <a:spcPts val="900"/>
              </a:spcAft>
              <a:buSzPct val="100000"/>
              <a:buChar char="•"/>
            </a:pPr>
            <a:r>
              <a:rPr lang="en-US" sz="1500" b="1" dirty="0">
                <a:solidFill>
                  <a:srgbClr val="1B1F2A"/>
                </a:solidFill>
                <a:latin typeface="Calibri" pitchFamily="34" charset="0"/>
                <a:ea typeface="Calibri" pitchFamily="34" charset="-122"/>
                <a:cs typeface="Calibri" pitchFamily="34" charset="-120"/>
              </a:rPr>
              <a:t>Bits instead of floats. </a:t>
            </a:r>
            <a:r>
              <a:rPr lang="en-US" sz="1500" dirty="0">
                <a:solidFill>
                  <a:srgbClr val="5B6270"/>
                </a:solidFill>
                <a:latin typeface="Calibri" pitchFamily="34" charset="0"/>
                <a:ea typeface="Calibri" pitchFamily="34" charset="-122"/>
                <a:cs typeface="Calibri" pitchFamily="34" charset="-120"/>
              </a:rPr>
              <a:t>Filter and features are binarized, so each window costs a few AND + POPCOUNT operations.</a:t>
            </a:r>
            <a:endParaRPr lang="en-US" sz="1500" dirty="0"/>
          </a:p>
        </p:txBody>
      </p:sp>
      <p:pic>
        <p:nvPicPr>
          <p:cNvPr id="6" name="Image 0" descr="/home/user/cvprojectg10/results/figures/filter_w.png"/>
          <p:cNvPicPr>
            <a:picLocks noChangeAspect="1"/>
          </p:cNvPicPr>
          <p:nvPr/>
        </p:nvPicPr>
        <p:blipFill>
          <a:blip r:embed="rId3"/>
          <a:srcRect/>
          <a:stretch/>
        </p:blipFill>
        <p:spPr>
          <a:xfrm>
            <a:off x="6675120" y="1463040"/>
            <a:ext cx="5029200" cy="1600200"/>
          </a:xfrm>
          <a:prstGeom prst="rect">
            <a:avLst/>
          </a:prstGeom>
        </p:spPr>
      </p:pic>
      <p:sp>
        <p:nvSpPr>
          <p:cNvPr id="7" name="Text 4"/>
          <p:cNvSpPr txBox="1"/>
          <p:nvPr/>
        </p:nvSpPr>
        <p:spPr>
          <a:xfrm>
            <a:off x="548640" y="3931920"/>
            <a:ext cx="7315200" cy="365760"/>
          </a:xfrm>
          <a:prstGeom prst="rect">
            <a:avLst/>
          </a:prstGeom>
          <a:noFill/>
          <a:ln/>
        </p:spPr>
        <p:txBody>
          <a:bodyPr wrap="square" lIns="0" tIns="0" rIns="0" bIns="0" rtlCol="0" anchor="ctr"/>
          <a:lstStyle/>
          <a:p>
            <a:pPr marL="0" indent="0">
              <a:buNone/>
            </a:pPr>
            <a:r>
              <a:rPr lang="en-US" sz="1800" b="1" dirty="0">
                <a:solidFill>
                  <a:srgbClr val="E8772E"/>
                </a:solidFill>
                <a:latin typeface="Cambria" pitchFamily="34" charset="0"/>
                <a:ea typeface="Cambria" pitchFamily="34" charset="-122"/>
                <a:cs typeface="Cambria" pitchFamily="34" charset="-120"/>
              </a:rPr>
              <a:t>Our novelty beyond the paper</a:t>
            </a:r>
            <a:endParaRPr lang="en-US" sz="1800" dirty="0"/>
          </a:p>
        </p:txBody>
      </p:sp>
      <p:sp>
        <p:nvSpPr>
          <p:cNvPr id="8" name="Shape 5"/>
          <p:cNvSpPr/>
          <p:nvPr/>
        </p:nvSpPr>
        <p:spPr>
          <a:xfrm>
            <a:off x="548640" y="4389120"/>
            <a:ext cx="2606040" cy="1737360"/>
          </a:xfrm>
          <a:prstGeom prst="roundRect">
            <a:avLst>
              <a:gd name="adj" fmla="val 6316"/>
            </a:avLst>
          </a:prstGeom>
          <a:solidFill>
            <a:srgbClr val="F1F4F7"/>
          </a:solidFill>
          <a:ln w="12700">
            <a:solidFill>
              <a:srgbClr val="F1F4F7"/>
            </a:solidFill>
            <a:prstDash val="solid"/>
          </a:ln>
        </p:spPr>
      </p:sp>
      <p:sp>
        <p:nvSpPr>
          <p:cNvPr id="9" name="Text 6"/>
          <p:cNvSpPr txBox="1"/>
          <p:nvPr/>
        </p:nvSpPr>
        <p:spPr>
          <a:xfrm>
            <a:off x="731520" y="4526280"/>
            <a:ext cx="2286000" cy="411480"/>
          </a:xfrm>
          <a:prstGeom prst="rect">
            <a:avLst/>
          </a:prstGeom>
          <a:noFill/>
          <a:ln/>
        </p:spPr>
        <p:txBody>
          <a:bodyPr wrap="square" lIns="0" tIns="0" rIns="0" bIns="0" rtlCol="0" anchor="ctr"/>
          <a:lstStyle/>
          <a:p>
            <a:pPr marL="0" indent="0">
              <a:buNone/>
            </a:pPr>
            <a:r>
              <a:rPr lang="en-US" sz="1500" b="1" dirty="0">
                <a:solidFill>
                  <a:srgbClr val="1B1F2A"/>
                </a:solidFill>
                <a:latin typeface="Cambria" pitchFamily="34" charset="0"/>
                <a:ea typeface="Cambria" pitchFamily="34" charset="-122"/>
                <a:cs typeface="Cambria" pitchFamily="34" charset="-120"/>
              </a:rPr>
              <a:t>Stage III re-ranking</a:t>
            </a:r>
            <a:endParaRPr lang="en-US" sz="1500" dirty="0"/>
          </a:p>
        </p:txBody>
      </p:sp>
      <p:sp>
        <p:nvSpPr>
          <p:cNvPr id="10" name="Text 7"/>
          <p:cNvSpPr txBox="1"/>
          <p:nvPr/>
        </p:nvSpPr>
        <p:spPr>
          <a:xfrm>
            <a:off x="731520" y="4956048"/>
            <a:ext cx="2286000" cy="1097280"/>
          </a:xfrm>
          <a:prstGeom prst="rect">
            <a:avLst/>
          </a:prstGeom>
          <a:noFill/>
          <a:ln/>
        </p:spPr>
        <p:txBody>
          <a:bodyPr wrap="square" lIns="0" tIns="0" rIns="0" bIns="0" rtlCol="0" anchor="t"/>
          <a:lstStyle/>
          <a:p>
            <a:pPr marL="0" indent="0">
              <a:buNone/>
            </a:pPr>
            <a:r>
              <a:rPr lang="en-US" sz="1250" dirty="0">
                <a:solidFill>
                  <a:srgbClr val="5B6270"/>
                </a:solidFill>
                <a:latin typeface="Calibri" pitchFamily="34" charset="0"/>
                <a:ea typeface="Calibri" pitchFamily="34" charset="-122"/>
                <a:cs typeface="Calibri" pitchFamily="34" charset="-120"/>
              </a:rPr>
              <a:t>Colour, edge and geometry cues re-order BING's windows</a:t>
            </a:r>
            <a:endParaRPr lang="en-US" sz="1250" dirty="0"/>
          </a:p>
        </p:txBody>
      </p:sp>
      <p:sp>
        <p:nvSpPr>
          <p:cNvPr id="11" name="Shape 8"/>
          <p:cNvSpPr/>
          <p:nvPr/>
        </p:nvSpPr>
        <p:spPr>
          <a:xfrm>
            <a:off x="3383280" y="4389120"/>
            <a:ext cx="2606040" cy="1737360"/>
          </a:xfrm>
          <a:prstGeom prst="roundRect">
            <a:avLst>
              <a:gd name="adj" fmla="val 6316"/>
            </a:avLst>
          </a:prstGeom>
          <a:solidFill>
            <a:srgbClr val="F1F4F7"/>
          </a:solidFill>
          <a:ln w="12700">
            <a:solidFill>
              <a:srgbClr val="F1F4F7"/>
            </a:solidFill>
            <a:prstDash val="solid"/>
          </a:ln>
        </p:spPr>
      </p:sp>
      <p:sp>
        <p:nvSpPr>
          <p:cNvPr id="12" name="Text 9"/>
          <p:cNvSpPr txBox="1"/>
          <p:nvPr/>
        </p:nvSpPr>
        <p:spPr>
          <a:xfrm>
            <a:off x="3566160" y="4526280"/>
            <a:ext cx="2286000" cy="411480"/>
          </a:xfrm>
          <a:prstGeom prst="rect">
            <a:avLst/>
          </a:prstGeom>
          <a:noFill/>
          <a:ln/>
        </p:spPr>
        <p:txBody>
          <a:bodyPr wrap="square" lIns="0" tIns="0" rIns="0" bIns="0" rtlCol="0" anchor="ctr"/>
          <a:lstStyle/>
          <a:p>
            <a:pPr marL="0" indent="0">
              <a:buNone/>
            </a:pPr>
            <a:r>
              <a:rPr lang="en-US" sz="1500" b="1" dirty="0">
                <a:solidFill>
                  <a:srgbClr val="1B1F2A"/>
                </a:solidFill>
                <a:latin typeface="Cambria" pitchFamily="34" charset="0"/>
                <a:ea typeface="Cambria" pitchFamily="34" charset="-122"/>
                <a:cs typeface="Cambria" pitchFamily="34" charset="-120"/>
              </a:rPr>
              <a:t>Complete detector</a:t>
            </a:r>
            <a:endParaRPr lang="en-US" sz="1500" dirty="0"/>
          </a:p>
        </p:txBody>
      </p:sp>
      <p:sp>
        <p:nvSpPr>
          <p:cNvPr id="13" name="Text 10"/>
          <p:cNvSpPr txBox="1"/>
          <p:nvPr/>
        </p:nvSpPr>
        <p:spPr>
          <a:xfrm>
            <a:off x="3566160" y="4956048"/>
            <a:ext cx="2286000" cy="1097280"/>
          </a:xfrm>
          <a:prstGeom prst="rect">
            <a:avLst/>
          </a:prstGeom>
          <a:noFill/>
          <a:ln/>
        </p:spPr>
        <p:txBody>
          <a:bodyPr wrap="square" lIns="0" tIns="0" rIns="0" bIns="0" rtlCol="0" anchor="t"/>
          <a:lstStyle/>
          <a:p>
            <a:pPr marL="0" indent="0">
              <a:buNone/>
            </a:pPr>
            <a:r>
              <a:rPr lang="en-US" sz="1250" dirty="0">
                <a:solidFill>
                  <a:srgbClr val="5B6270"/>
                </a:solidFill>
                <a:latin typeface="Calibri" pitchFamily="34" charset="0"/>
                <a:ea typeface="Calibri" pitchFamily="34" charset="-122"/>
                <a:cs typeface="Calibri" pitchFamily="34" charset="-120"/>
              </a:rPr>
              <a:t>HOG or CNN features + linear SVMs on our proposals, scored by VOC mAP</a:t>
            </a:r>
            <a:endParaRPr lang="en-US" sz="1250" dirty="0"/>
          </a:p>
        </p:txBody>
      </p:sp>
      <p:sp>
        <p:nvSpPr>
          <p:cNvPr id="14" name="Shape 11"/>
          <p:cNvSpPr/>
          <p:nvPr/>
        </p:nvSpPr>
        <p:spPr>
          <a:xfrm>
            <a:off x="6217920" y="4389120"/>
            <a:ext cx="2606040" cy="1737360"/>
          </a:xfrm>
          <a:prstGeom prst="roundRect">
            <a:avLst>
              <a:gd name="adj" fmla="val 6316"/>
            </a:avLst>
          </a:prstGeom>
          <a:solidFill>
            <a:srgbClr val="F1F4F7"/>
          </a:solidFill>
          <a:ln w="12700">
            <a:solidFill>
              <a:srgbClr val="F1F4F7"/>
            </a:solidFill>
            <a:prstDash val="solid"/>
          </a:ln>
        </p:spPr>
      </p:sp>
      <p:sp>
        <p:nvSpPr>
          <p:cNvPr id="15" name="Text 12"/>
          <p:cNvSpPr txBox="1"/>
          <p:nvPr/>
        </p:nvSpPr>
        <p:spPr>
          <a:xfrm>
            <a:off x="6400800" y="4526280"/>
            <a:ext cx="2286000" cy="411480"/>
          </a:xfrm>
          <a:prstGeom prst="rect">
            <a:avLst/>
          </a:prstGeom>
          <a:noFill/>
          <a:ln/>
        </p:spPr>
        <p:txBody>
          <a:bodyPr wrap="square" lIns="0" tIns="0" rIns="0" bIns="0" rtlCol="0" anchor="ctr"/>
          <a:lstStyle/>
          <a:p>
            <a:pPr marL="0" indent="0">
              <a:buNone/>
            </a:pPr>
            <a:r>
              <a:rPr lang="en-US" sz="1500" b="1" dirty="0">
                <a:solidFill>
                  <a:srgbClr val="1B1F2A"/>
                </a:solidFill>
                <a:latin typeface="Cambria" pitchFamily="34" charset="0"/>
                <a:ea typeface="Cambria" pitchFamily="34" charset="-122"/>
                <a:cs typeface="Cambria" pitchFamily="34" charset="-120"/>
              </a:rPr>
              <a:t>Head-to-head on VOC</a:t>
            </a:r>
            <a:endParaRPr lang="en-US" sz="1500" dirty="0"/>
          </a:p>
        </p:txBody>
      </p:sp>
      <p:sp>
        <p:nvSpPr>
          <p:cNvPr id="16" name="Text 13"/>
          <p:cNvSpPr txBox="1"/>
          <p:nvPr/>
        </p:nvSpPr>
        <p:spPr>
          <a:xfrm>
            <a:off x="6400800" y="4956048"/>
            <a:ext cx="2286000" cy="1097280"/>
          </a:xfrm>
          <a:prstGeom prst="rect">
            <a:avLst/>
          </a:prstGeom>
          <a:noFill/>
          <a:ln/>
        </p:spPr>
        <p:txBody>
          <a:bodyPr wrap="square" lIns="0" tIns="0" rIns="0" bIns="0" rtlCol="0" anchor="t"/>
          <a:lstStyle/>
          <a:p>
            <a:pPr marL="0" indent="0">
              <a:buNone/>
            </a:pPr>
            <a:r>
              <a:rPr lang="en-US" sz="1250" dirty="0">
                <a:solidFill>
                  <a:srgbClr val="5B6270"/>
                </a:solidFill>
                <a:latin typeface="Calibri" pitchFamily="34" charset="0"/>
                <a:ea typeface="Calibri" pitchFamily="34" charset="-122"/>
                <a:cs typeface="Calibri" pitchFamily="34" charset="-120"/>
              </a:rPr>
              <a:t>Authors' C++ code, same images and evaluator; two missing details found</a:t>
            </a:r>
            <a:endParaRPr lang="en-US" sz="1250" dirty="0"/>
          </a:p>
        </p:txBody>
      </p:sp>
      <p:sp>
        <p:nvSpPr>
          <p:cNvPr id="17" name="Shape 14"/>
          <p:cNvSpPr/>
          <p:nvPr/>
        </p:nvSpPr>
        <p:spPr>
          <a:xfrm>
            <a:off x="9052560" y="4389120"/>
            <a:ext cx="2606040" cy="1737360"/>
          </a:xfrm>
          <a:prstGeom prst="roundRect">
            <a:avLst>
              <a:gd name="adj" fmla="val 6316"/>
            </a:avLst>
          </a:prstGeom>
          <a:solidFill>
            <a:srgbClr val="F1F4F7"/>
          </a:solidFill>
          <a:ln w="12700">
            <a:solidFill>
              <a:srgbClr val="F1F4F7"/>
            </a:solidFill>
            <a:prstDash val="solid"/>
          </a:ln>
        </p:spPr>
      </p:sp>
      <p:sp>
        <p:nvSpPr>
          <p:cNvPr id="18" name="Text 15"/>
          <p:cNvSpPr txBox="1"/>
          <p:nvPr/>
        </p:nvSpPr>
        <p:spPr>
          <a:xfrm>
            <a:off x="9235440" y="4526280"/>
            <a:ext cx="2286000" cy="411480"/>
          </a:xfrm>
          <a:prstGeom prst="rect">
            <a:avLst/>
          </a:prstGeom>
          <a:noFill/>
          <a:ln/>
        </p:spPr>
        <p:txBody>
          <a:bodyPr wrap="square" lIns="0" tIns="0" rIns="0" bIns="0" rtlCol="0" anchor="ctr"/>
          <a:lstStyle/>
          <a:p>
            <a:pPr marL="0" indent="0">
              <a:buNone/>
            </a:pPr>
            <a:r>
              <a:rPr lang="en-US" sz="1500" b="1" dirty="0">
                <a:solidFill>
                  <a:srgbClr val="1B1F2A"/>
                </a:solidFill>
                <a:latin typeface="Cambria" pitchFamily="34" charset="0"/>
                <a:ea typeface="Cambria" pitchFamily="34" charset="-122"/>
                <a:cs typeface="Cambria" pitchFamily="34" charset="-120"/>
              </a:rPr>
              <a:t>From-scratch Python</a:t>
            </a:r>
            <a:endParaRPr lang="en-US" sz="1500" dirty="0"/>
          </a:p>
        </p:txBody>
      </p:sp>
      <p:sp>
        <p:nvSpPr>
          <p:cNvPr id="19" name="Text 16"/>
          <p:cNvSpPr txBox="1"/>
          <p:nvPr/>
        </p:nvSpPr>
        <p:spPr>
          <a:xfrm>
            <a:off x="9235440" y="4956048"/>
            <a:ext cx="2286000" cy="1097280"/>
          </a:xfrm>
          <a:prstGeom prst="rect">
            <a:avLst/>
          </a:prstGeom>
          <a:noFill/>
          <a:ln/>
        </p:spPr>
        <p:txBody>
          <a:bodyPr wrap="square" lIns="0" tIns="0" rIns="0" bIns="0" rtlCol="0" anchor="t"/>
          <a:lstStyle/>
          <a:p>
            <a:pPr marL="0" indent="0">
              <a:buNone/>
            </a:pPr>
            <a:r>
              <a:rPr lang="en-US" sz="1250" dirty="0">
                <a:solidFill>
                  <a:srgbClr val="5B6270"/>
                </a:solidFill>
                <a:latin typeface="Calibri" pitchFamily="34" charset="0"/>
                <a:ea typeface="Calibri" pitchFamily="34" charset="-122"/>
                <a:cs typeface="Calibri" pitchFamily="34" charset="-120"/>
              </a:rPr>
              <a:t>Numba kernels of the paper's Alg. 2, now multi-threaded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4 · DESIGN &amp; SOLUTION</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System design: 8-stage pipeline</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48640" y="1600200"/>
            <a:ext cx="2560320" cy="1920240"/>
          </a:xfrm>
          <a:prstGeom prst="roundRect">
            <a:avLst>
              <a:gd name="adj" fmla="val 5714"/>
            </a:avLst>
          </a:prstGeom>
          <a:solidFill>
            <a:srgbClr val="F1F4F7"/>
          </a:solidFill>
          <a:ln w="12700">
            <a:solidFill>
              <a:srgbClr val="F1F4F7"/>
            </a:solidFill>
            <a:prstDash val="solid"/>
          </a:ln>
        </p:spPr>
      </p:sp>
      <p:sp>
        <p:nvSpPr>
          <p:cNvPr id="6" name="Shape 4"/>
          <p:cNvSpPr/>
          <p:nvPr/>
        </p:nvSpPr>
        <p:spPr>
          <a:xfrm>
            <a:off x="731520" y="1783080"/>
            <a:ext cx="420624" cy="420624"/>
          </a:xfrm>
          <a:prstGeom prst="ellipse">
            <a:avLst/>
          </a:prstGeom>
          <a:solidFill>
            <a:srgbClr val="1C7293"/>
          </a:solidFill>
          <a:ln w="12700">
            <a:solidFill>
              <a:srgbClr val="1C7293"/>
            </a:solidFill>
            <a:prstDash val="solid"/>
          </a:ln>
        </p:spPr>
      </p:sp>
      <p:sp>
        <p:nvSpPr>
          <p:cNvPr id="7" name="Text 5"/>
          <p:cNvSpPr txBox="1"/>
          <p:nvPr/>
        </p:nvSpPr>
        <p:spPr>
          <a:xfrm>
            <a:off x="731520" y="178308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731520" y="2313432"/>
            <a:ext cx="2194560" cy="411480"/>
          </a:xfrm>
          <a:prstGeom prst="rect">
            <a:avLst/>
          </a:prstGeom>
          <a:noFill/>
          <a:ln/>
        </p:spPr>
        <p:txBody>
          <a:bodyPr wrap="square" lIns="0" tIns="0" rIns="0" bIns="0" rtlCol="0" anchor="ctr"/>
          <a:lstStyle/>
          <a:p>
            <a:pPr marL="0" indent="0">
              <a:buNone/>
            </a:pPr>
            <a:r>
              <a:rPr lang="en-US" sz="1700" b="1" dirty="0">
                <a:solidFill>
                  <a:srgbClr val="1B1F2A"/>
                </a:solidFill>
                <a:latin typeface="Cambria" pitchFamily="34" charset="0"/>
                <a:ea typeface="Cambria" pitchFamily="34" charset="-122"/>
                <a:cs typeface="Cambria" pitchFamily="34" charset="-120"/>
              </a:rPr>
              <a:t>Input image</a:t>
            </a:r>
            <a:endParaRPr lang="en-US" sz="1700" dirty="0"/>
          </a:p>
        </p:txBody>
      </p:sp>
      <p:sp>
        <p:nvSpPr>
          <p:cNvPr id="9" name="Text 7"/>
          <p:cNvSpPr txBox="1"/>
          <p:nvPr/>
        </p:nvSpPr>
        <p:spPr>
          <a:xfrm>
            <a:off x="731520" y="2734056"/>
            <a:ext cx="2240280" cy="731520"/>
          </a:xfrm>
          <a:prstGeom prst="rect">
            <a:avLst/>
          </a:prstGeom>
          <a:noFill/>
          <a:ln/>
        </p:spPr>
        <p:txBody>
          <a:bodyPr wrap="square" lIns="0" tIns="0" rIns="0" bIns="0" rtlCol="0" anchor="t"/>
          <a:lstStyle/>
          <a:p>
            <a:pPr marL="0" indent="0">
              <a:buNone/>
            </a:pPr>
            <a:r>
              <a:rPr lang="en-US" sz="1250" dirty="0">
                <a:solidFill>
                  <a:srgbClr val="5B6270"/>
                </a:solidFill>
                <a:latin typeface="Calibri" pitchFamily="34" charset="0"/>
                <a:ea typeface="Calibri" pitchFamily="34" charset="-122"/>
                <a:cs typeface="Calibri" pitchFamily="34" charset="-120"/>
              </a:rPr>
              <a:t>longer side ≤ 500 px</a:t>
            </a:r>
            <a:endParaRPr lang="en-US" sz="1250" dirty="0"/>
          </a:p>
        </p:txBody>
      </p:sp>
      <p:sp>
        <p:nvSpPr>
          <p:cNvPr id="10" name="Text 8"/>
          <p:cNvSpPr txBox="1"/>
          <p:nvPr/>
        </p:nvSpPr>
        <p:spPr>
          <a:xfrm>
            <a:off x="3108960" y="2331720"/>
            <a:ext cx="274320" cy="365760"/>
          </a:xfrm>
          <a:prstGeom prst="rect">
            <a:avLst/>
          </a:prstGeom>
          <a:noFill/>
          <a:ln/>
        </p:spPr>
        <p:txBody>
          <a:bodyPr wrap="square" lIns="0" tIns="0" rIns="0" bIns="0" rtlCol="0" anchor="ctr"/>
          <a:lstStyle/>
          <a:p>
            <a:pPr marL="0" indent="0" algn="ctr">
              <a:buNone/>
            </a:pPr>
            <a:r>
              <a:rPr lang="en-US" sz="2000" dirty="0">
                <a:solidFill>
                  <a:srgbClr val="AEB8C6"/>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3383280" y="1600200"/>
            <a:ext cx="2560320" cy="1920240"/>
          </a:xfrm>
          <a:prstGeom prst="roundRect">
            <a:avLst>
              <a:gd name="adj" fmla="val 5714"/>
            </a:avLst>
          </a:prstGeom>
          <a:solidFill>
            <a:srgbClr val="F1F4F7"/>
          </a:solidFill>
          <a:ln w="12700">
            <a:solidFill>
              <a:srgbClr val="F1F4F7"/>
            </a:solidFill>
            <a:prstDash val="solid"/>
          </a:ln>
        </p:spPr>
      </p:sp>
      <p:sp>
        <p:nvSpPr>
          <p:cNvPr id="12" name="Shape 10"/>
          <p:cNvSpPr/>
          <p:nvPr/>
        </p:nvSpPr>
        <p:spPr>
          <a:xfrm>
            <a:off x="3566160" y="1783080"/>
            <a:ext cx="420624" cy="420624"/>
          </a:xfrm>
          <a:prstGeom prst="ellipse">
            <a:avLst/>
          </a:prstGeom>
          <a:solidFill>
            <a:srgbClr val="1C7293"/>
          </a:solidFill>
          <a:ln w="12700">
            <a:solidFill>
              <a:srgbClr val="1C7293"/>
            </a:solidFill>
            <a:prstDash val="solid"/>
          </a:ln>
        </p:spPr>
      </p:sp>
      <p:sp>
        <p:nvSpPr>
          <p:cNvPr id="13" name="Text 11"/>
          <p:cNvSpPr txBox="1"/>
          <p:nvPr/>
        </p:nvSpPr>
        <p:spPr>
          <a:xfrm>
            <a:off x="3566160" y="178308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3566160" y="2313432"/>
            <a:ext cx="2194560" cy="411480"/>
          </a:xfrm>
          <a:prstGeom prst="rect">
            <a:avLst/>
          </a:prstGeom>
          <a:noFill/>
          <a:ln/>
        </p:spPr>
        <p:txBody>
          <a:bodyPr wrap="square" lIns="0" tIns="0" rIns="0" bIns="0" rtlCol="0" anchor="ctr"/>
          <a:lstStyle/>
          <a:p>
            <a:pPr marL="0" indent="0">
              <a:buNone/>
            </a:pPr>
            <a:r>
              <a:rPr lang="en-US" sz="1700" b="1" dirty="0">
                <a:solidFill>
                  <a:srgbClr val="1B1F2A"/>
                </a:solidFill>
                <a:latin typeface="Cambria" pitchFamily="34" charset="0"/>
                <a:ea typeface="Cambria" pitchFamily="34" charset="-122"/>
                <a:cs typeface="Cambria" pitchFamily="34" charset="-120"/>
              </a:rPr>
              <a:t>Pre-processing</a:t>
            </a:r>
            <a:endParaRPr lang="en-US" sz="1700" dirty="0"/>
          </a:p>
        </p:txBody>
      </p:sp>
      <p:sp>
        <p:nvSpPr>
          <p:cNvPr id="15" name="Text 13"/>
          <p:cNvSpPr txBox="1"/>
          <p:nvPr/>
        </p:nvSpPr>
        <p:spPr>
          <a:xfrm>
            <a:off x="3566160" y="2734056"/>
            <a:ext cx="2240280" cy="731520"/>
          </a:xfrm>
          <a:prstGeom prst="rect">
            <a:avLst/>
          </a:prstGeom>
          <a:noFill/>
          <a:ln/>
        </p:spPr>
        <p:txBody>
          <a:bodyPr wrap="square" lIns="0" tIns="0" rIns="0" bIns="0" rtlCol="0" anchor="t"/>
          <a:lstStyle/>
          <a:p>
            <a:pPr marL="0" indent="0">
              <a:buNone/>
            </a:pPr>
            <a:r>
              <a:rPr lang="en-US" sz="1250" dirty="0">
                <a:solidFill>
                  <a:srgbClr val="5B6270"/>
                </a:solidFill>
                <a:latin typeface="Calibri" pitchFamily="34" charset="0"/>
                <a:ea typeface="Calibri" pitchFamily="34" charset="-122"/>
                <a:cs typeface="Calibri" pitchFamily="34" charset="-120"/>
              </a:rPr>
              <a:t>colour space: RGB / HSV / Gray / Lab</a:t>
            </a:r>
            <a:endParaRPr lang="en-US" sz="1250" dirty="0"/>
          </a:p>
        </p:txBody>
      </p:sp>
      <p:sp>
        <p:nvSpPr>
          <p:cNvPr id="16" name="Text 14"/>
          <p:cNvSpPr txBox="1"/>
          <p:nvPr/>
        </p:nvSpPr>
        <p:spPr>
          <a:xfrm>
            <a:off x="5943600" y="2331720"/>
            <a:ext cx="274320" cy="365760"/>
          </a:xfrm>
          <a:prstGeom prst="rect">
            <a:avLst/>
          </a:prstGeom>
          <a:noFill/>
          <a:ln/>
        </p:spPr>
        <p:txBody>
          <a:bodyPr wrap="square" lIns="0" tIns="0" rIns="0" bIns="0" rtlCol="0" anchor="ctr"/>
          <a:lstStyle/>
          <a:p>
            <a:pPr marL="0" indent="0" algn="ctr">
              <a:buNone/>
            </a:pPr>
            <a:r>
              <a:rPr lang="en-US" sz="2000" dirty="0">
                <a:solidFill>
                  <a:srgbClr val="AEB8C6"/>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6217920" y="1600200"/>
            <a:ext cx="2560320" cy="1920240"/>
          </a:xfrm>
          <a:prstGeom prst="roundRect">
            <a:avLst>
              <a:gd name="adj" fmla="val 5714"/>
            </a:avLst>
          </a:prstGeom>
          <a:solidFill>
            <a:srgbClr val="F1F4F7"/>
          </a:solidFill>
          <a:ln w="12700">
            <a:solidFill>
              <a:srgbClr val="F1F4F7"/>
            </a:solidFill>
            <a:prstDash val="solid"/>
          </a:ln>
        </p:spPr>
      </p:sp>
      <p:sp>
        <p:nvSpPr>
          <p:cNvPr id="18" name="Shape 16"/>
          <p:cNvSpPr/>
          <p:nvPr/>
        </p:nvSpPr>
        <p:spPr>
          <a:xfrm>
            <a:off x="6400800" y="1783080"/>
            <a:ext cx="420624" cy="420624"/>
          </a:xfrm>
          <a:prstGeom prst="ellipse">
            <a:avLst/>
          </a:prstGeom>
          <a:solidFill>
            <a:srgbClr val="1C7293"/>
          </a:solidFill>
          <a:ln w="12700">
            <a:solidFill>
              <a:srgbClr val="1C7293"/>
            </a:solidFill>
            <a:prstDash val="solid"/>
          </a:ln>
        </p:spPr>
      </p:sp>
      <p:sp>
        <p:nvSpPr>
          <p:cNvPr id="19" name="Text 17"/>
          <p:cNvSpPr txBox="1"/>
          <p:nvPr/>
        </p:nvSpPr>
        <p:spPr>
          <a:xfrm>
            <a:off x="6400800" y="178308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6400800" y="2313432"/>
            <a:ext cx="2194560" cy="411480"/>
          </a:xfrm>
          <a:prstGeom prst="rect">
            <a:avLst/>
          </a:prstGeom>
          <a:noFill/>
          <a:ln/>
        </p:spPr>
        <p:txBody>
          <a:bodyPr wrap="square" lIns="0" tIns="0" rIns="0" bIns="0" rtlCol="0" anchor="ctr"/>
          <a:lstStyle/>
          <a:p>
            <a:pPr marL="0" indent="0">
              <a:buNone/>
            </a:pPr>
            <a:r>
              <a:rPr lang="en-US" sz="1700" b="1" dirty="0">
                <a:solidFill>
                  <a:srgbClr val="1B1F2A"/>
                </a:solidFill>
                <a:latin typeface="Cambria" pitchFamily="34" charset="0"/>
                <a:ea typeface="Cambria" pitchFamily="34" charset="-122"/>
                <a:cs typeface="Cambria" pitchFamily="34" charset="-120"/>
              </a:rPr>
              <a:t>Candidates</a:t>
            </a:r>
            <a:endParaRPr lang="en-US" sz="1700" dirty="0"/>
          </a:p>
        </p:txBody>
      </p:sp>
      <p:sp>
        <p:nvSpPr>
          <p:cNvPr id="21" name="Text 19"/>
          <p:cNvSpPr txBox="1"/>
          <p:nvPr/>
        </p:nvSpPr>
        <p:spPr>
          <a:xfrm>
            <a:off x="6400800" y="2734056"/>
            <a:ext cx="2240280" cy="731520"/>
          </a:xfrm>
          <a:prstGeom prst="rect">
            <a:avLst/>
          </a:prstGeom>
          <a:noFill/>
          <a:ln/>
        </p:spPr>
        <p:txBody>
          <a:bodyPr wrap="square" lIns="0" tIns="0" rIns="0" bIns="0" rtlCol="0" anchor="t"/>
          <a:lstStyle/>
          <a:p>
            <a:pPr marL="0" indent="0">
              <a:buNone/>
            </a:pPr>
            <a:r>
              <a:rPr lang="en-US" sz="1250" dirty="0">
                <a:solidFill>
                  <a:srgbClr val="5B6270"/>
                </a:solidFill>
                <a:latin typeface="Calibri" pitchFamily="34" charset="0"/>
                <a:ea typeface="Calibri" pitchFamily="34" charset="-122"/>
                <a:cs typeface="Calibri" pitchFamily="34" charset="-120"/>
              </a:rPr>
              <a:t>36 power-of-two sizes (16…512, clipped), every 8×8 position</a:t>
            </a:r>
            <a:endParaRPr lang="en-US" sz="1250" dirty="0"/>
          </a:p>
        </p:txBody>
      </p:sp>
      <p:sp>
        <p:nvSpPr>
          <p:cNvPr id="22" name="Text 20"/>
          <p:cNvSpPr txBox="1"/>
          <p:nvPr/>
        </p:nvSpPr>
        <p:spPr>
          <a:xfrm>
            <a:off x="8778240" y="2331720"/>
            <a:ext cx="274320" cy="365760"/>
          </a:xfrm>
          <a:prstGeom prst="rect">
            <a:avLst/>
          </a:prstGeom>
          <a:noFill/>
          <a:ln/>
        </p:spPr>
        <p:txBody>
          <a:bodyPr wrap="square" lIns="0" tIns="0" rIns="0" bIns="0" rtlCol="0" anchor="ctr"/>
          <a:lstStyle/>
          <a:p>
            <a:pPr marL="0" indent="0" algn="ctr">
              <a:buNone/>
            </a:pPr>
            <a:r>
              <a:rPr lang="en-US" sz="2000" dirty="0">
                <a:solidFill>
                  <a:srgbClr val="AEB8C6"/>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9052560" y="1600200"/>
            <a:ext cx="2560320" cy="1920240"/>
          </a:xfrm>
          <a:prstGeom prst="roundRect">
            <a:avLst>
              <a:gd name="adj" fmla="val 5714"/>
            </a:avLst>
          </a:prstGeom>
          <a:solidFill>
            <a:srgbClr val="F1F4F7"/>
          </a:solidFill>
          <a:ln w="12700">
            <a:solidFill>
              <a:srgbClr val="F1F4F7"/>
            </a:solidFill>
            <a:prstDash val="solid"/>
          </a:ln>
        </p:spPr>
      </p:sp>
      <p:sp>
        <p:nvSpPr>
          <p:cNvPr id="24" name="Shape 22"/>
          <p:cNvSpPr/>
          <p:nvPr/>
        </p:nvSpPr>
        <p:spPr>
          <a:xfrm>
            <a:off x="9235440" y="1783080"/>
            <a:ext cx="420624" cy="420624"/>
          </a:xfrm>
          <a:prstGeom prst="ellipse">
            <a:avLst/>
          </a:prstGeom>
          <a:solidFill>
            <a:srgbClr val="1C7293"/>
          </a:solidFill>
          <a:ln w="12700">
            <a:solidFill>
              <a:srgbClr val="1C7293"/>
            </a:solidFill>
            <a:prstDash val="solid"/>
          </a:ln>
        </p:spPr>
      </p:sp>
      <p:sp>
        <p:nvSpPr>
          <p:cNvPr id="25" name="Text 23"/>
          <p:cNvSpPr txBox="1"/>
          <p:nvPr/>
        </p:nvSpPr>
        <p:spPr>
          <a:xfrm>
            <a:off x="9235440" y="178308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txBox="1"/>
          <p:nvPr/>
        </p:nvSpPr>
        <p:spPr>
          <a:xfrm>
            <a:off x="9235440" y="2313432"/>
            <a:ext cx="2194560" cy="411480"/>
          </a:xfrm>
          <a:prstGeom prst="rect">
            <a:avLst/>
          </a:prstGeom>
          <a:noFill/>
          <a:ln/>
        </p:spPr>
        <p:txBody>
          <a:bodyPr wrap="square" lIns="0" tIns="0" rIns="0" bIns="0" rtlCol="0" anchor="ctr"/>
          <a:lstStyle/>
          <a:p>
            <a:pPr marL="0" indent="0">
              <a:buNone/>
            </a:pPr>
            <a:r>
              <a:rPr lang="en-US" sz="1700" b="1" dirty="0">
                <a:solidFill>
                  <a:srgbClr val="1B1F2A"/>
                </a:solidFill>
                <a:latin typeface="Cambria" pitchFamily="34" charset="0"/>
                <a:ea typeface="Cambria" pitchFamily="34" charset="-122"/>
                <a:cs typeface="Cambria" pitchFamily="34" charset="-120"/>
              </a:rPr>
              <a:t>Gradient features</a:t>
            </a:r>
            <a:endParaRPr lang="en-US" sz="1700" dirty="0"/>
          </a:p>
        </p:txBody>
      </p:sp>
      <p:sp>
        <p:nvSpPr>
          <p:cNvPr id="27" name="Text 25"/>
          <p:cNvSpPr txBox="1"/>
          <p:nvPr/>
        </p:nvSpPr>
        <p:spPr>
          <a:xfrm>
            <a:off x="9235440" y="2734056"/>
            <a:ext cx="2240280" cy="731520"/>
          </a:xfrm>
          <a:prstGeom prst="rect">
            <a:avLst/>
          </a:prstGeom>
          <a:noFill/>
          <a:ln/>
        </p:spPr>
        <p:txBody>
          <a:bodyPr wrap="square" lIns="0" tIns="0" rIns="0" bIns="0" rtlCol="0" anchor="t"/>
          <a:lstStyle/>
          <a:p>
            <a:pPr marL="0" indent="0">
              <a:buNone/>
            </a:pPr>
            <a:r>
              <a:rPr lang="en-US" sz="1250" dirty="0">
                <a:solidFill>
                  <a:srgbClr val="5B6270"/>
                </a:solidFill>
                <a:latin typeface="Calibri" pitchFamily="34" charset="0"/>
                <a:ea typeface="Calibri" pitchFamily="34" charset="-122"/>
                <a:cs typeface="Calibri" pitchFamily="34" charset="-120"/>
              </a:rPr>
              <a:t>image resized per size, [-1 0 1] gradient</a:t>
            </a:r>
            <a:endParaRPr lang="en-US" sz="1250" dirty="0"/>
          </a:p>
        </p:txBody>
      </p:sp>
      <p:sp>
        <p:nvSpPr>
          <p:cNvPr id="28" name="Shape 26"/>
          <p:cNvSpPr/>
          <p:nvPr/>
        </p:nvSpPr>
        <p:spPr>
          <a:xfrm>
            <a:off x="548640" y="3840480"/>
            <a:ext cx="2560320" cy="1920240"/>
          </a:xfrm>
          <a:prstGeom prst="roundRect">
            <a:avLst>
              <a:gd name="adj" fmla="val 5714"/>
            </a:avLst>
          </a:prstGeom>
          <a:solidFill>
            <a:srgbClr val="FDF1E8"/>
          </a:solidFill>
          <a:ln w="12700">
            <a:solidFill>
              <a:srgbClr val="FDF1E8"/>
            </a:solidFill>
            <a:prstDash val="solid"/>
          </a:ln>
        </p:spPr>
      </p:sp>
      <p:sp>
        <p:nvSpPr>
          <p:cNvPr id="29" name="Shape 27"/>
          <p:cNvSpPr/>
          <p:nvPr/>
        </p:nvSpPr>
        <p:spPr>
          <a:xfrm>
            <a:off x="731520" y="4023360"/>
            <a:ext cx="420624" cy="420624"/>
          </a:xfrm>
          <a:prstGeom prst="ellipse">
            <a:avLst/>
          </a:prstGeom>
          <a:solidFill>
            <a:srgbClr val="E8772E"/>
          </a:solidFill>
          <a:ln w="12700">
            <a:solidFill>
              <a:srgbClr val="E8772E"/>
            </a:solidFill>
            <a:prstDash val="solid"/>
          </a:ln>
        </p:spPr>
      </p:sp>
      <p:sp>
        <p:nvSpPr>
          <p:cNvPr id="30" name="Text 28"/>
          <p:cNvSpPr txBox="1"/>
          <p:nvPr/>
        </p:nvSpPr>
        <p:spPr>
          <a:xfrm>
            <a:off x="731520" y="4023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txBox="1"/>
          <p:nvPr/>
        </p:nvSpPr>
        <p:spPr>
          <a:xfrm>
            <a:off x="731520" y="4553712"/>
            <a:ext cx="2194560" cy="411480"/>
          </a:xfrm>
          <a:prstGeom prst="rect">
            <a:avLst/>
          </a:prstGeom>
          <a:noFill/>
          <a:ln/>
        </p:spPr>
        <p:txBody>
          <a:bodyPr wrap="square" lIns="0" tIns="0" rIns="0" bIns="0" rtlCol="0" anchor="ctr"/>
          <a:lstStyle/>
          <a:p>
            <a:pPr marL="0" indent="0">
              <a:buNone/>
            </a:pPr>
            <a:r>
              <a:rPr lang="en-US" sz="1700" b="1" dirty="0">
                <a:solidFill>
                  <a:srgbClr val="1B1F2A"/>
                </a:solidFill>
                <a:latin typeface="Cambria" pitchFamily="34" charset="0"/>
                <a:ea typeface="Cambria" pitchFamily="34" charset="-122"/>
                <a:cs typeface="Cambria" pitchFamily="34" charset="-120"/>
              </a:rPr>
              <a:t>Binarized NG</a:t>
            </a:r>
            <a:endParaRPr lang="en-US" sz="1700" dirty="0"/>
          </a:p>
        </p:txBody>
      </p:sp>
      <p:sp>
        <p:nvSpPr>
          <p:cNvPr id="32" name="Text 30"/>
          <p:cNvSpPr txBox="1"/>
          <p:nvPr/>
        </p:nvSpPr>
        <p:spPr>
          <a:xfrm>
            <a:off x="731520" y="4974336"/>
            <a:ext cx="2240280" cy="731520"/>
          </a:xfrm>
          <a:prstGeom prst="rect">
            <a:avLst/>
          </a:prstGeom>
          <a:noFill/>
          <a:ln/>
        </p:spPr>
        <p:txBody>
          <a:bodyPr wrap="square" lIns="0" tIns="0" rIns="0" bIns="0" rtlCol="0" anchor="t"/>
          <a:lstStyle/>
          <a:p>
            <a:pPr marL="0" indent="0">
              <a:buNone/>
            </a:pPr>
            <a:r>
              <a:rPr lang="en-US" sz="1250" dirty="0">
                <a:solidFill>
                  <a:srgbClr val="5B6270"/>
                </a:solidFill>
                <a:latin typeface="Calibri" pitchFamily="34" charset="0"/>
                <a:ea typeface="Calibri" pitchFamily="34" charset="-122"/>
                <a:cs typeface="Calibri" pitchFamily="34" charset="-120"/>
              </a:rPr>
              <a:t>top Ng=4 bit-planes packed into 64-bit words</a:t>
            </a:r>
            <a:endParaRPr lang="en-US" sz="1250" dirty="0"/>
          </a:p>
        </p:txBody>
      </p:sp>
      <p:sp>
        <p:nvSpPr>
          <p:cNvPr id="33" name="Text 31"/>
          <p:cNvSpPr txBox="1"/>
          <p:nvPr/>
        </p:nvSpPr>
        <p:spPr>
          <a:xfrm>
            <a:off x="3108960" y="4572000"/>
            <a:ext cx="274320" cy="365760"/>
          </a:xfrm>
          <a:prstGeom prst="rect">
            <a:avLst/>
          </a:prstGeom>
          <a:noFill/>
          <a:ln/>
        </p:spPr>
        <p:txBody>
          <a:bodyPr wrap="square" lIns="0" tIns="0" rIns="0" bIns="0" rtlCol="0" anchor="ctr"/>
          <a:lstStyle/>
          <a:p>
            <a:pPr marL="0" indent="0" algn="ctr">
              <a:buNone/>
            </a:pPr>
            <a:r>
              <a:rPr lang="en-US" sz="2000" dirty="0">
                <a:solidFill>
                  <a:srgbClr val="AEB8C6"/>
                </a:solidFill>
                <a:latin typeface="Calibri" pitchFamily="34" charset="0"/>
                <a:ea typeface="Calibri" pitchFamily="34" charset="-122"/>
                <a:cs typeface="Calibri" pitchFamily="34" charset="-120"/>
              </a:rPr>
              <a:t>→</a:t>
            </a:r>
            <a:endParaRPr lang="en-US" sz="2000" dirty="0"/>
          </a:p>
        </p:txBody>
      </p:sp>
      <p:sp>
        <p:nvSpPr>
          <p:cNvPr id="34" name="Shape 32"/>
          <p:cNvSpPr/>
          <p:nvPr/>
        </p:nvSpPr>
        <p:spPr>
          <a:xfrm>
            <a:off x="3383280" y="3840480"/>
            <a:ext cx="2560320" cy="1920240"/>
          </a:xfrm>
          <a:prstGeom prst="roundRect">
            <a:avLst>
              <a:gd name="adj" fmla="val 5714"/>
            </a:avLst>
          </a:prstGeom>
          <a:solidFill>
            <a:srgbClr val="FDF1E8"/>
          </a:solidFill>
          <a:ln w="12700">
            <a:solidFill>
              <a:srgbClr val="FDF1E8"/>
            </a:solidFill>
            <a:prstDash val="solid"/>
          </a:ln>
        </p:spPr>
      </p:sp>
      <p:sp>
        <p:nvSpPr>
          <p:cNvPr id="35" name="Shape 33"/>
          <p:cNvSpPr/>
          <p:nvPr/>
        </p:nvSpPr>
        <p:spPr>
          <a:xfrm>
            <a:off x="3566160" y="4023360"/>
            <a:ext cx="420624" cy="420624"/>
          </a:xfrm>
          <a:prstGeom prst="ellipse">
            <a:avLst/>
          </a:prstGeom>
          <a:solidFill>
            <a:srgbClr val="E8772E"/>
          </a:solidFill>
          <a:ln w="12700">
            <a:solidFill>
              <a:srgbClr val="E8772E"/>
            </a:solidFill>
            <a:prstDash val="solid"/>
          </a:ln>
        </p:spPr>
      </p:sp>
      <p:sp>
        <p:nvSpPr>
          <p:cNvPr id="36" name="Text 34"/>
          <p:cNvSpPr txBox="1"/>
          <p:nvPr/>
        </p:nvSpPr>
        <p:spPr>
          <a:xfrm>
            <a:off x="3566160" y="4023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5"/>
          <p:cNvSpPr txBox="1"/>
          <p:nvPr/>
        </p:nvSpPr>
        <p:spPr>
          <a:xfrm>
            <a:off x="3566160" y="4553712"/>
            <a:ext cx="2194560" cy="411480"/>
          </a:xfrm>
          <a:prstGeom prst="rect">
            <a:avLst/>
          </a:prstGeom>
          <a:noFill/>
          <a:ln/>
        </p:spPr>
        <p:txBody>
          <a:bodyPr wrap="square" lIns="0" tIns="0" rIns="0" bIns="0" rtlCol="0" anchor="ctr"/>
          <a:lstStyle/>
          <a:p>
            <a:pPr marL="0" indent="0">
              <a:buNone/>
            </a:pPr>
            <a:r>
              <a:rPr lang="en-US" sz="1700" b="1" dirty="0">
                <a:solidFill>
                  <a:srgbClr val="1B1F2A"/>
                </a:solidFill>
                <a:latin typeface="Cambria" pitchFamily="34" charset="0"/>
                <a:ea typeface="Cambria" pitchFamily="34" charset="-122"/>
                <a:cs typeface="Cambria" pitchFamily="34" charset="-120"/>
              </a:rPr>
              <a:t>Objectness score</a:t>
            </a:r>
            <a:endParaRPr lang="en-US" sz="1700" dirty="0"/>
          </a:p>
        </p:txBody>
      </p:sp>
      <p:sp>
        <p:nvSpPr>
          <p:cNvPr id="38" name="Text 36"/>
          <p:cNvSpPr txBox="1"/>
          <p:nvPr/>
        </p:nvSpPr>
        <p:spPr>
          <a:xfrm>
            <a:off x="3566160" y="4974336"/>
            <a:ext cx="2240280" cy="731520"/>
          </a:xfrm>
          <a:prstGeom prst="rect">
            <a:avLst/>
          </a:prstGeom>
          <a:noFill/>
          <a:ln/>
        </p:spPr>
        <p:txBody>
          <a:bodyPr wrap="square" lIns="0" tIns="0" rIns="0" bIns="0" rtlCol="0" anchor="t"/>
          <a:lstStyle/>
          <a:p>
            <a:pPr marL="0" indent="0">
              <a:buNone/>
            </a:pPr>
            <a:r>
              <a:rPr lang="en-US" sz="1250" dirty="0">
                <a:solidFill>
                  <a:srgbClr val="5B6270"/>
                </a:solidFill>
                <a:latin typeface="Calibri" pitchFamily="34" charset="0"/>
                <a:ea typeface="Calibri" pitchFamily="34" charset="-122"/>
                <a:cs typeface="Calibri" pitchFamily="34" charset="-120"/>
              </a:rPr>
              <a:t>s = ⟨w, g⟩ via AND + POPCOUNT (Nw=2)</a:t>
            </a:r>
            <a:endParaRPr lang="en-US" sz="1250" dirty="0"/>
          </a:p>
        </p:txBody>
      </p:sp>
      <p:sp>
        <p:nvSpPr>
          <p:cNvPr id="39" name="Text 37"/>
          <p:cNvSpPr txBox="1"/>
          <p:nvPr/>
        </p:nvSpPr>
        <p:spPr>
          <a:xfrm>
            <a:off x="5943600" y="4572000"/>
            <a:ext cx="274320" cy="365760"/>
          </a:xfrm>
          <a:prstGeom prst="rect">
            <a:avLst/>
          </a:prstGeom>
          <a:noFill/>
          <a:ln/>
        </p:spPr>
        <p:txBody>
          <a:bodyPr wrap="square" lIns="0" tIns="0" rIns="0" bIns="0" rtlCol="0" anchor="ctr"/>
          <a:lstStyle/>
          <a:p>
            <a:pPr marL="0" indent="0" algn="ctr">
              <a:buNone/>
            </a:pPr>
            <a:r>
              <a:rPr lang="en-US" sz="2000" dirty="0">
                <a:solidFill>
                  <a:srgbClr val="AEB8C6"/>
                </a:solidFill>
                <a:latin typeface="Calibri" pitchFamily="34" charset="0"/>
                <a:ea typeface="Calibri" pitchFamily="34" charset="-122"/>
                <a:cs typeface="Calibri" pitchFamily="34" charset="-120"/>
              </a:rPr>
              <a:t>→</a:t>
            </a:r>
            <a:endParaRPr lang="en-US" sz="2000" dirty="0"/>
          </a:p>
        </p:txBody>
      </p:sp>
      <p:sp>
        <p:nvSpPr>
          <p:cNvPr id="40" name="Shape 38"/>
          <p:cNvSpPr/>
          <p:nvPr/>
        </p:nvSpPr>
        <p:spPr>
          <a:xfrm>
            <a:off x="6217920" y="3840480"/>
            <a:ext cx="2560320" cy="1920240"/>
          </a:xfrm>
          <a:prstGeom prst="roundRect">
            <a:avLst>
              <a:gd name="adj" fmla="val 5714"/>
            </a:avLst>
          </a:prstGeom>
          <a:solidFill>
            <a:srgbClr val="FDF1E8"/>
          </a:solidFill>
          <a:ln w="12700">
            <a:solidFill>
              <a:srgbClr val="FDF1E8"/>
            </a:solidFill>
            <a:prstDash val="solid"/>
          </a:ln>
        </p:spPr>
      </p:sp>
      <p:sp>
        <p:nvSpPr>
          <p:cNvPr id="41" name="Shape 39"/>
          <p:cNvSpPr/>
          <p:nvPr/>
        </p:nvSpPr>
        <p:spPr>
          <a:xfrm>
            <a:off x="6400800" y="4023360"/>
            <a:ext cx="420624" cy="420624"/>
          </a:xfrm>
          <a:prstGeom prst="ellipse">
            <a:avLst/>
          </a:prstGeom>
          <a:solidFill>
            <a:srgbClr val="E8772E"/>
          </a:solidFill>
          <a:ln w="12700">
            <a:solidFill>
              <a:srgbClr val="E8772E"/>
            </a:solidFill>
            <a:prstDash val="solid"/>
          </a:ln>
        </p:spPr>
      </p:sp>
      <p:sp>
        <p:nvSpPr>
          <p:cNvPr id="42" name="Text 40"/>
          <p:cNvSpPr txBox="1"/>
          <p:nvPr/>
        </p:nvSpPr>
        <p:spPr>
          <a:xfrm>
            <a:off x="6400800" y="4023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3" name="Text 41"/>
          <p:cNvSpPr txBox="1"/>
          <p:nvPr/>
        </p:nvSpPr>
        <p:spPr>
          <a:xfrm>
            <a:off x="6400800" y="4553712"/>
            <a:ext cx="2194560" cy="411480"/>
          </a:xfrm>
          <a:prstGeom prst="rect">
            <a:avLst/>
          </a:prstGeom>
          <a:noFill/>
          <a:ln/>
        </p:spPr>
        <p:txBody>
          <a:bodyPr wrap="square" lIns="0" tIns="0" rIns="0" bIns="0" rtlCol="0" anchor="ctr"/>
          <a:lstStyle/>
          <a:p>
            <a:pPr marL="0" indent="0">
              <a:buNone/>
            </a:pPr>
            <a:r>
              <a:rPr lang="en-US" sz="1700" b="1" dirty="0">
                <a:solidFill>
                  <a:srgbClr val="1B1F2A"/>
                </a:solidFill>
                <a:latin typeface="Cambria" pitchFamily="34" charset="0"/>
                <a:ea typeface="Cambria" pitchFamily="34" charset="-122"/>
                <a:cs typeface="Cambria" pitchFamily="34" charset="-120"/>
              </a:rPr>
              <a:t>Ranking</a:t>
            </a:r>
            <a:endParaRPr lang="en-US" sz="1700" dirty="0"/>
          </a:p>
        </p:txBody>
      </p:sp>
      <p:sp>
        <p:nvSpPr>
          <p:cNvPr id="44" name="Text 42"/>
          <p:cNvSpPr txBox="1"/>
          <p:nvPr/>
        </p:nvSpPr>
        <p:spPr>
          <a:xfrm>
            <a:off x="6400800" y="4974336"/>
            <a:ext cx="2240280" cy="731520"/>
          </a:xfrm>
          <a:prstGeom prst="rect">
            <a:avLst/>
          </a:prstGeom>
          <a:noFill/>
          <a:ln/>
        </p:spPr>
        <p:txBody>
          <a:bodyPr wrap="square" lIns="0" tIns="0" rIns="0" bIns="0" rtlCol="0" anchor="t"/>
          <a:lstStyle/>
          <a:p>
            <a:pPr marL="0" indent="0">
              <a:buNone/>
            </a:pPr>
            <a:r>
              <a:rPr lang="en-US" sz="1250" dirty="0">
                <a:solidFill>
                  <a:srgbClr val="5B6270"/>
                </a:solidFill>
                <a:latin typeface="Calibri" pitchFamily="34" charset="0"/>
                <a:ea typeface="Calibri" pitchFamily="34" charset="-122"/>
                <a:cs typeface="Calibri" pitchFamily="34" charset="-120"/>
              </a:rPr>
              <a:t>greedy NMS per score map, per-size calibration v·s + t</a:t>
            </a:r>
            <a:endParaRPr lang="en-US" sz="1250" dirty="0"/>
          </a:p>
        </p:txBody>
      </p:sp>
      <p:sp>
        <p:nvSpPr>
          <p:cNvPr id="45" name="Text 43"/>
          <p:cNvSpPr txBox="1"/>
          <p:nvPr/>
        </p:nvSpPr>
        <p:spPr>
          <a:xfrm>
            <a:off x="8778240" y="4572000"/>
            <a:ext cx="274320" cy="365760"/>
          </a:xfrm>
          <a:prstGeom prst="rect">
            <a:avLst/>
          </a:prstGeom>
          <a:noFill/>
          <a:ln/>
        </p:spPr>
        <p:txBody>
          <a:bodyPr wrap="square" lIns="0" tIns="0" rIns="0" bIns="0" rtlCol="0" anchor="ctr"/>
          <a:lstStyle/>
          <a:p>
            <a:pPr marL="0" indent="0" algn="ctr">
              <a:buNone/>
            </a:pPr>
            <a:r>
              <a:rPr lang="en-US" sz="2000" dirty="0">
                <a:solidFill>
                  <a:srgbClr val="AEB8C6"/>
                </a:solidFill>
                <a:latin typeface="Calibri" pitchFamily="34" charset="0"/>
                <a:ea typeface="Calibri" pitchFamily="34" charset="-122"/>
                <a:cs typeface="Calibri" pitchFamily="34" charset="-120"/>
              </a:rPr>
              <a:t>→</a:t>
            </a:r>
            <a:endParaRPr lang="en-US" sz="2000" dirty="0"/>
          </a:p>
        </p:txBody>
      </p:sp>
      <p:sp>
        <p:nvSpPr>
          <p:cNvPr id="46" name="Shape 44"/>
          <p:cNvSpPr/>
          <p:nvPr/>
        </p:nvSpPr>
        <p:spPr>
          <a:xfrm>
            <a:off x="9052560" y="3840480"/>
            <a:ext cx="2560320" cy="1920240"/>
          </a:xfrm>
          <a:prstGeom prst="roundRect">
            <a:avLst>
              <a:gd name="adj" fmla="val 5714"/>
            </a:avLst>
          </a:prstGeom>
          <a:solidFill>
            <a:srgbClr val="FDF1E8"/>
          </a:solidFill>
          <a:ln w="12700">
            <a:solidFill>
              <a:srgbClr val="FDF1E8"/>
            </a:solidFill>
            <a:prstDash val="solid"/>
          </a:ln>
        </p:spPr>
      </p:sp>
      <p:sp>
        <p:nvSpPr>
          <p:cNvPr id="47" name="Shape 45"/>
          <p:cNvSpPr/>
          <p:nvPr/>
        </p:nvSpPr>
        <p:spPr>
          <a:xfrm>
            <a:off x="9235440" y="4023360"/>
            <a:ext cx="420624" cy="420624"/>
          </a:xfrm>
          <a:prstGeom prst="ellipse">
            <a:avLst/>
          </a:prstGeom>
          <a:solidFill>
            <a:srgbClr val="E8772E"/>
          </a:solidFill>
          <a:ln w="12700">
            <a:solidFill>
              <a:srgbClr val="E8772E"/>
            </a:solidFill>
            <a:prstDash val="solid"/>
          </a:ln>
        </p:spPr>
      </p:sp>
      <p:sp>
        <p:nvSpPr>
          <p:cNvPr id="48" name="Text 46"/>
          <p:cNvSpPr txBox="1"/>
          <p:nvPr/>
        </p:nvSpPr>
        <p:spPr>
          <a:xfrm>
            <a:off x="9235440" y="4023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9" name="Text 47"/>
          <p:cNvSpPr txBox="1"/>
          <p:nvPr/>
        </p:nvSpPr>
        <p:spPr>
          <a:xfrm>
            <a:off x="9235440" y="4553712"/>
            <a:ext cx="2194560" cy="411480"/>
          </a:xfrm>
          <a:prstGeom prst="rect">
            <a:avLst/>
          </a:prstGeom>
          <a:noFill/>
          <a:ln/>
        </p:spPr>
        <p:txBody>
          <a:bodyPr wrap="square" lIns="0" tIns="0" rIns="0" bIns="0" rtlCol="0" anchor="ctr"/>
          <a:lstStyle/>
          <a:p>
            <a:pPr marL="0" indent="0">
              <a:buNone/>
            </a:pPr>
            <a:r>
              <a:rPr lang="en-US" sz="1700" b="1" dirty="0">
                <a:solidFill>
                  <a:srgbClr val="1B1F2A"/>
                </a:solidFill>
                <a:latin typeface="Cambria" pitchFamily="34" charset="0"/>
                <a:ea typeface="Cambria" pitchFamily="34" charset="-122"/>
                <a:cs typeface="Cambria" pitchFamily="34" charset="-120"/>
              </a:rPr>
              <a:t>Top proposals</a:t>
            </a:r>
            <a:endParaRPr lang="en-US" sz="1700" dirty="0"/>
          </a:p>
        </p:txBody>
      </p:sp>
      <p:sp>
        <p:nvSpPr>
          <p:cNvPr id="50" name="Text 48"/>
          <p:cNvSpPr txBox="1"/>
          <p:nvPr/>
        </p:nvSpPr>
        <p:spPr>
          <a:xfrm>
            <a:off x="9235440" y="4974336"/>
            <a:ext cx="2240280" cy="731520"/>
          </a:xfrm>
          <a:prstGeom prst="rect">
            <a:avLst/>
          </a:prstGeom>
          <a:noFill/>
          <a:ln/>
        </p:spPr>
        <p:txBody>
          <a:bodyPr wrap="square" lIns="0" tIns="0" rIns="0" bIns="0" rtlCol="0" anchor="t"/>
          <a:lstStyle/>
          <a:p>
            <a:pPr marL="0" indent="0">
              <a:buNone/>
            </a:pPr>
            <a:r>
              <a:rPr lang="en-US" sz="1250" dirty="0">
                <a:solidFill>
                  <a:srgbClr val="5B6270"/>
                </a:solidFill>
                <a:latin typeface="Calibri" pitchFamily="34" charset="0"/>
                <a:ea typeface="Calibri" pitchFamily="34" charset="-122"/>
                <a:cs typeface="Calibri" pitchFamily="34" charset="-120"/>
              </a:rPr>
              <a:t>sorted boxes + objectness heat-map</a:t>
            </a:r>
            <a:endParaRPr lang="en-US" sz="1250" dirty="0"/>
          </a:p>
        </p:txBody>
      </p:sp>
      <p:sp>
        <p:nvSpPr>
          <p:cNvPr id="51" name="Text 49"/>
          <p:cNvSpPr txBox="1"/>
          <p:nvPr/>
        </p:nvSpPr>
        <p:spPr>
          <a:xfrm>
            <a:off x="548640" y="5943600"/>
            <a:ext cx="11064240" cy="365760"/>
          </a:xfrm>
          <a:prstGeom prst="rect">
            <a:avLst/>
          </a:prstGeom>
          <a:noFill/>
          <a:ln/>
        </p:spPr>
        <p:txBody>
          <a:bodyPr wrap="square" lIns="0" tIns="0" rIns="0" bIns="0" rtlCol="0" anchor="ctr"/>
          <a:lstStyle/>
          <a:p>
            <a:pPr marL="0" indent="0">
              <a:buNone/>
            </a:pPr>
            <a:r>
              <a:rPr lang="en-US" sz="1300" i="1" dirty="0">
                <a:solidFill>
                  <a:srgbClr val="5B6270"/>
                </a:solidFill>
                <a:latin typeface="Calibri" pitchFamily="34" charset="0"/>
                <a:ea typeface="Calibri" pitchFamily="34" charset="-122"/>
                <a:cs typeface="Calibri" pitchFamily="34" charset="-120"/>
              </a:rPr>
              <a:t>Training: stage I is a linear SVM on 8×8 NG features of object boxes vs random background windows; stage II is a 1-D calibration per window size. Our stage III then re-ranks the output (next slide).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4 · DESIGN &amp; SOLUTION</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Our novelty: multi-cue re-ranking (stage III)</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6</a:t>
            </a:r>
            <a:endParaRPr lang="en-US" sz="1000" dirty="0"/>
          </a:p>
        </p:txBody>
      </p:sp>
      <p:pic>
        <p:nvPicPr>
          <p:cNvPr id="5" name="Image 0" descr="Top 20 windows of BING on a VOC test image before and after re-ranking"/>
          <p:cNvPicPr>
            <a:picLocks noChangeAspect="1"/>
          </p:cNvPicPr>
          <p:nvPr/>
        </p:nvPicPr>
        <p:blipFill>
          <a:blip r:embed="rId3"/>
          <a:srcRect/>
          <a:stretch/>
        </p:blipFill>
        <p:spPr>
          <a:xfrm>
            <a:off x="457200" y="1463040"/>
            <a:ext cx="6583680" cy="2641550"/>
          </a:xfrm>
          <a:prstGeom prst="rect">
            <a:avLst/>
          </a:prstGeom>
        </p:spPr>
      </p:pic>
      <p:sp>
        <p:nvSpPr>
          <p:cNvPr id="6" name="Text 3"/>
          <p:cNvSpPr txBox="1"/>
          <p:nvPr/>
        </p:nvSpPr>
        <p:spPr>
          <a:xfrm>
            <a:off x="548640" y="4196030"/>
            <a:ext cx="6400800" cy="548640"/>
          </a:xfrm>
          <a:prstGeom prst="rect">
            <a:avLst/>
          </a:prstGeom>
          <a:noFill/>
          <a:ln/>
        </p:spPr>
        <p:txBody>
          <a:bodyPr wrap="square" lIns="0" tIns="0" rIns="0" bIns="0" rtlCol="0" anchor="ctr"/>
          <a:lstStyle/>
          <a:p>
            <a:pPr marL="0" indent="0">
              <a:buNone/>
            </a:pPr>
            <a:r>
              <a:rPr lang="en-US" sz="1200" i="1" dirty="0">
                <a:solidFill>
                  <a:srgbClr val="5B6270"/>
                </a:solidFill>
                <a:latin typeface="Calibri" pitchFamily="34" charset="0"/>
                <a:ea typeface="Calibri" pitchFamily="34" charset="-122"/>
                <a:cs typeface="Calibri" pitchFamily="34" charset="-120"/>
              </a:rPr>
              <a:t>Top 20 windows (yellow) on a VOC 2007 test image. Green: object found (IoU ≥ 0.5); red: missed.</a:t>
            </a:r>
            <a:endParaRPr lang="en-US" sz="1200" dirty="0"/>
          </a:p>
        </p:txBody>
      </p:sp>
      <p:sp>
        <p:nvSpPr>
          <p:cNvPr id="7" name="Shape 4"/>
          <p:cNvSpPr/>
          <p:nvPr/>
        </p:nvSpPr>
        <p:spPr>
          <a:xfrm>
            <a:off x="7269480" y="1463040"/>
            <a:ext cx="4389120" cy="4663440"/>
          </a:xfrm>
          <a:prstGeom prst="roundRect">
            <a:avLst>
              <a:gd name="adj" fmla="val 2500"/>
            </a:avLst>
          </a:prstGeom>
          <a:solidFill>
            <a:srgbClr val="F1F4F7"/>
          </a:solidFill>
          <a:ln w="12700">
            <a:solidFill>
              <a:srgbClr val="F1F4F7"/>
            </a:solidFill>
            <a:prstDash val="solid"/>
          </a:ln>
        </p:spPr>
      </p:sp>
      <p:sp>
        <p:nvSpPr>
          <p:cNvPr id="8" name="Text 5"/>
          <p:cNvSpPr txBox="1"/>
          <p:nvPr/>
        </p:nvSpPr>
        <p:spPr>
          <a:xfrm>
            <a:off x="7543800" y="1691640"/>
            <a:ext cx="3931920" cy="4297680"/>
          </a:xfrm>
          <a:prstGeom prst="rect">
            <a:avLst/>
          </a:prstGeom>
          <a:noFill/>
          <a:ln/>
        </p:spPr>
        <p:txBody>
          <a:bodyPr wrap="square" lIns="0" tIns="0" rIns="0" bIns="0" rtlCol="0" anchor="t"/>
          <a:lstStyle/>
          <a:p>
            <a:pPr marL="0" indent="0">
              <a:buNone/>
            </a:pPr>
            <a:r>
              <a:rPr lang="en-US" sz="1500" b="1" dirty="0">
                <a:solidFill>
                  <a:srgbClr val="1B1F2A"/>
                </a:solidFill>
                <a:latin typeface="Calibri" pitchFamily="34" charset="0"/>
                <a:ea typeface="Calibri" pitchFamily="34" charset="-122"/>
                <a:cs typeface="Calibri" pitchFamily="34" charset="-120"/>
              </a:rPr>
              <a:t>1 · Colour contrast</a:t>
            </a:r>
            <a:endParaRPr lang="en-US" sz="1500" dirty="0"/>
          </a:p>
          <a:p>
            <a:pPr marL="0" indent="0">
              <a:buNone/>
            </a:pPr>
            <a:r>
              <a:rPr lang="en-US" sz="1500" dirty="0">
                <a:solidFill>
                  <a:srgbClr val="5B6270"/>
                </a:solidFill>
                <a:latin typeface="Calibri" pitchFamily="34" charset="0"/>
                <a:ea typeface="Calibri" pitchFamily="34" charset="-122"/>
                <a:cs typeface="Calibri" pitchFamily="34" charset="-120"/>
              </a:rPr>
              <a:t>Lab colour inside the window vs. a ring around it</a:t>
            </a:r>
            <a:endParaRPr lang="en-US" sz="15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b="1" dirty="0">
                <a:solidFill>
                  <a:srgbClr val="1B1F2A"/>
                </a:solidFill>
                <a:latin typeface="Calibri" pitchFamily="34" charset="0"/>
                <a:ea typeface="Calibri" pitchFamily="34" charset="-122"/>
                <a:cs typeface="Calibri" pitchFamily="34" charset="-120"/>
              </a:rPr>
              <a:t>2 · Edge density</a:t>
            </a:r>
            <a:endParaRPr lang="en-US" sz="1500" dirty="0"/>
          </a:p>
          <a:p>
            <a:pPr marL="0" indent="0">
              <a:buNone/>
            </a:pPr>
            <a:r>
              <a:rPr lang="en-US" sz="1500" dirty="0">
                <a:solidFill>
                  <a:srgbClr val="5B6270"/>
                </a:solidFill>
                <a:latin typeface="Calibri" pitchFamily="34" charset="0"/>
                <a:ea typeface="Calibri" pitchFamily="34" charset="-122"/>
                <a:cs typeface="Calibri" pitchFamily="34" charset="-120"/>
              </a:rPr>
              <a:t>Gradient energy inside vs. the ring</a:t>
            </a:r>
            <a:endParaRPr lang="en-US" sz="15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b="1" dirty="0">
                <a:solidFill>
                  <a:srgbClr val="1B1F2A"/>
                </a:solidFill>
                <a:latin typeface="Calibri" pitchFamily="34" charset="0"/>
                <a:ea typeface="Calibri" pitchFamily="34" charset="-122"/>
                <a:cs typeface="Calibri" pitchFamily="34" charset="-120"/>
              </a:rPr>
              <a:t>3 · Geometry</a:t>
            </a:r>
            <a:endParaRPr lang="en-US" sz="1500" dirty="0"/>
          </a:p>
          <a:p>
            <a:pPr marL="0" indent="0">
              <a:buNone/>
            </a:pPr>
            <a:r>
              <a:rPr lang="en-US" sz="1500" dirty="0">
                <a:solidFill>
                  <a:srgbClr val="5B6270"/>
                </a:solidFill>
                <a:latin typeface="Calibri" pitchFamily="34" charset="0"/>
                <a:ea typeface="Calibri" pitchFamily="34" charset="-122"/>
                <a:cs typeface="Calibri" pitchFamily="34" charset="-120"/>
              </a:rPr>
              <a:t>Position, size and aspect ratio of the window</a:t>
            </a:r>
            <a:endParaRPr lang="en-US" sz="15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b="1" dirty="0">
                <a:solidFill>
                  <a:srgbClr val="1B1F2A"/>
                </a:solidFill>
                <a:latin typeface="Calibri" pitchFamily="34" charset="0"/>
                <a:ea typeface="Calibri" pitchFamily="34" charset="-122"/>
                <a:cs typeface="Calibri" pitchFamily="34" charset="-120"/>
              </a:rPr>
              <a:t>4 · BING itself</a:t>
            </a:r>
            <a:endParaRPr lang="en-US" sz="1500" dirty="0"/>
          </a:p>
          <a:p>
            <a:pPr marL="0" indent="0">
              <a:buNone/>
            </a:pPr>
            <a:r>
              <a:rPr lang="en-US" sz="1500" dirty="0">
                <a:solidFill>
                  <a:srgbClr val="5B6270"/>
                </a:solidFill>
                <a:latin typeface="Calibri" pitchFamily="34" charset="0"/>
                <a:ea typeface="Calibri" pitchFamily="34" charset="-122"/>
                <a:cs typeface="Calibri" pitchFamily="34" charset="-120"/>
              </a:rPr>
              <a:t>Its calibrated score and rank</a:t>
            </a:r>
            <a:endParaRPr lang="en-US" sz="15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b="1" dirty="0">
                <a:solidFill>
                  <a:srgbClr val="E8772E"/>
                </a:solidFill>
                <a:latin typeface="Calibri" pitchFamily="34" charset="0"/>
                <a:ea typeface="Calibri" pitchFamily="34" charset="-122"/>
                <a:cs typeface="Calibri" pitchFamily="34" charset="-120"/>
              </a:rPr>
              <a:t>A small gradient-boosted tree model combines the 16 values into a new score. Every cue is read from integral images in O(1): no deep network.</a:t>
            </a:r>
            <a:endParaRPr lang="en-US" sz="1500" dirty="0"/>
          </a:p>
        </p:txBody>
      </p:sp>
      <p:sp>
        <p:nvSpPr>
          <p:cNvPr id="9" name="Text 6"/>
          <p:cNvSpPr txBox="1"/>
          <p:nvPr/>
        </p:nvSpPr>
        <p:spPr>
          <a:xfrm>
            <a:off x="548640" y="4881830"/>
            <a:ext cx="6400800" cy="137160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rgbClr val="1B1F2A"/>
                </a:solidFill>
                <a:latin typeface="Calibri" pitchFamily="34" charset="0"/>
                <a:ea typeface="Calibri" pitchFamily="34" charset="-122"/>
                <a:cs typeface="Calibri" pitchFamily="34" charset="-120"/>
              </a:rPr>
              <a:t>Problem. </a:t>
            </a:r>
            <a:r>
              <a:rPr lang="en-US" sz="1500" dirty="0">
                <a:solidFill>
                  <a:srgbClr val="5B6270"/>
                </a:solidFill>
                <a:latin typeface="Calibri" pitchFamily="34" charset="0"/>
                <a:ea typeface="Calibri" pitchFamily="34" charset="-122"/>
                <a:cs typeface="Calibri" pitchFamily="34" charset="-120"/>
              </a:rPr>
              <a:t>BING ranks windows with a single cue, its 8×8 edge template, so object windows can sit far down the list.</a:t>
            </a:r>
            <a:endParaRPr lang="en-US" sz="1500" dirty="0"/>
          </a:p>
          <a:p>
            <a:pPr marL="342900" indent="-342900">
              <a:spcAft>
                <a:spcPts val="600"/>
              </a:spcAft>
              <a:buSzPct val="100000"/>
              <a:buChar char="•"/>
            </a:pPr>
            <a:r>
              <a:rPr lang="en-US" sz="1500" b="1" dirty="0">
                <a:solidFill>
                  <a:srgbClr val="1B1F2A"/>
                </a:solidFill>
                <a:latin typeface="Calibri" pitchFamily="34" charset="0"/>
                <a:ea typeface="Calibri" pitchFamily="34" charset="-122"/>
                <a:cs typeface="Calibri" pitchFamily="34" charset="-120"/>
              </a:rPr>
              <a:t>Our idea. </a:t>
            </a:r>
            <a:r>
              <a:rPr lang="en-US" sz="1500" dirty="0">
                <a:solidFill>
                  <a:srgbClr val="5B6270"/>
                </a:solidFill>
                <a:latin typeface="Calibri" pitchFamily="34" charset="0"/>
                <a:ea typeface="Calibri" pitchFamily="34" charset="-122"/>
                <a:cs typeface="Calibri" pitchFamily="34" charset="-120"/>
              </a:rPr>
              <a:t>Re-score BING's windows with extra cheap, handcrafted cues, learned from VOC trainval.</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4 · DESIGN &amp; SOLUTION</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Normed gradients → bit operations</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7</a:t>
            </a:r>
            <a:endParaRPr lang="en-US" sz="1000" dirty="0"/>
          </a:p>
        </p:txBody>
      </p:sp>
      <p:pic>
        <p:nvPicPr>
          <p:cNvPr id="5" name="Image 0" descr="/home/user/cvprojectg10/results/figures/ng_pipeline.png"/>
          <p:cNvPicPr>
            <a:picLocks noChangeAspect="1"/>
          </p:cNvPicPr>
          <p:nvPr/>
        </p:nvPicPr>
        <p:blipFill>
          <a:blip r:embed="rId3"/>
          <a:srcRect/>
          <a:stretch/>
        </p:blipFill>
        <p:spPr>
          <a:xfrm>
            <a:off x="457200" y="1417320"/>
            <a:ext cx="6583680" cy="3063240"/>
          </a:xfrm>
          <a:prstGeom prst="rect">
            <a:avLst/>
          </a:prstGeom>
        </p:spPr>
      </p:pic>
      <p:sp>
        <p:nvSpPr>
          <p:cNvPr id="6" name="Text 3"/>
          <p:cNvSpPr txBox="1"/>
          <p:nvPr/>
        </p:nvSpPr>
        <p:spPr>
          <a:xfrm>
            <a:off x="548640" y="4526280"/>
            <a:ext cx="6400800" cy="548640"/>
          </a:xfrm>
          <a:prstGeom prst="rect">
            <a:avLst/>
          </a:prstGeom>
          <a:noFill/>
          <a:ln/>
        </p:spPr>
        <p:txBody>
          <a:bodyPr wrap="square" lIns="0" tIns="0" rIns="0" bIns="0" rtlCol="0" anchor="ctr"/>
          <a:lstStyle/>
          <a:p>
            <a:pPr marL="0" indent="0">
              <a:buNone/>
            </a:pPr>
            <a:r>
              <a:rPr lang="en-US" sz="1200" i="1" dirty="0">
                <a:solidFill>
                  <a:srgbClr val="5B6270"/>
                </a:solidFill>
                <a:latin typeface="Calibri" pitchFamily="34" charset="0"/>
                <a:ea typeface="Calibri" pitchFamily="34" charset="-122"/>
                <a:cs typeface="Calibri" pitchFamily="34" charset="-120"/>
              </a:rPr>
              <a:t>Top: NG maps for three window sizes (each 8×8 patch = one window). Bottom: the 4 bit-planes forming the binarized feature.</a:t>
            </a:r>
            <a:endParaRPr lang="en-US" sz="1200" dirty="0"/>
          </a:p>
        </p:txBody>
      </p:sp>
      <p:sp>
        <p:nvSpPr>
          <p:cNvPr id="7" name="Shape 4"/>
          <p:cNvSpPr/>
          <p:nvPr/>
        </p:nvSpPr>
        <p:spPr>
          <a:xfrm>
            <a:off x="7269480" y="1463040"/>
            <a:ext cx="4389120" cy="4663440"/>
          </a:xfrm>
          <a:prstGeom prst="roundRect">
            <a:avLst>
              <a:gd name="adj" fmla="val 2500"/>
            </a:avLst>
          </a:prstGeom>
          <a:solidFill>
            <a:srgbClr val="F1F4F7"/>
          </a:solidFill>
          <a:ln w="12700">
            <a:solidFill>
              <a:srgbClr val="F1F4F7"/>
            </a:solidFill>
            <a:prstDash val="solid"/>
          </a:ln>
        </p:spPr>
      </p:sp>
      <p:sp>
        <p:nvSpPr>
          <p:cNvPr id="8" name="Text 5"/>
          <p:cNvSpPr txBox="1"/>
          <p:nvPr/>
        </p:nvSpPr>
        <p:spPr>
          <a:xfrm>
            <a:off x="7543800" y="1691640"/>
            <a:ext cx="3931920" cy="4297680"/>
          </a:xfrm>
          <a:prstGeom prst="rect">
            <a:avLst/>
          </a:prstGeom>
          <a:noFill/>
          <a:ln/>
        </p:spPr>
        <p:txBody>
          <a:bodyPr wrap="square" lIns="0" tIns="0" rIns="0" bIns="0" rtlCol="0" anchor="t"/>
          <a:lstStyle/>
          <a:p>
            <a:pPr marL="0" indent="0">
              <a:buNone/>
            </a:pPr>
            <a:r>
              <a:rPr lang="en-US" sz="1500" b="1" dirty="0">
                <a:solidFill>
                  <a:srgbClr val="1B1F2A"/>
                </a:solidFill>
                <a:latin typeface="Calibri" pitchFamily="34" charset="0"/>
                <a:ea typeface="Calibri" pitchFamily="34" charset="-122"/>
                <a:cs typeface="Calibri" pitchFamily="34" charset="-120"/>
              </a:rPr>
              <a:t>Approximate the filter</a:t>
            </a:r>
            <a:endParaRPr lang="en-US" sz="1500" dirty="0"/>
          </a:p>
          <a:p>
            <a:pPr marL="0" indent="0">
              <a:buNone/>
            </a:pPr>
            <a:r>
              <a:rPr lang="en-US" sz="1500" dirty="0">
                <a:solidFill>
                  <a:srgbClr val="5B6270"/>
                </a:solidFill>
                <a:latin typeface="Calibri" pitchFamily="34" charset="0"/>
                <a:ea typeface="Calibri" pitchFamily="34" charset="-122"/>
                <a:cs typeface="Calibri" pitchFamily="34" charset="-120"/>
              </a:rPr>
              <a:t>w ≈ Σⱼ βⱼ aⱼ,   aⱼ ∈ {−1, +1}⁶⁴</a:t>
            </a:r>
            <a:endParaRPr lang="en-US" sz="15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b="1" dirty="0">
                <a:solidFill>
                  <a:srgbClr val="1B1F2A"/>
                </a:solidFill>
                <a:latin typeface="Calibri" pitchFamily="34" charset="0"/>
                <a:ea typeface="Calibri" pitchFamily="34" charset="-122"/>
                <a:cs typeface="Calibri" pitchFamily="34" charset="-120"/>
              </a:rPr>
              <a:t>Approximate the feature</a:t>
            </a:r>
            <a:endParaRPr lang="en-US" sz="1500" dirty="0"/>
          </a:p>
          <a:p>
            <a:pPr marL="0" indent="0">
              <a:buNone/>
            </a:pPr>
            <a:r>
              <a:rPr lang="en-US" sz="1500" dirty="0">
                <a:solidFill>
                  <a:srgbClr val="5B6270"/>
                </a:solidFill>
                <a:latin typeface="Calibri" pitchFamily="34" charset="0"/>
                <a:ea typeface="Calibri" pitchFamily="34" charset="-122"/>
                <a:cs typeface="Calibri" pitchFamily="34" charset="-120"/>
              </a:rPr>
              <a:t>g ≈ Σₖ 2^(8−k) bₖ,   bₖ ∈ {0, 1}⁶⁴</a:t>
            </a:r>
            <a:endParaRPr lang="en-US" sz="15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b="1" dirty="0">
                <a:solidFill>
                  <a:srgbClr val="1B1F2A"/>
                </a:solidFill>
                <a:latin typeface="Calibri" pitchFamily="34" charset="0"/>
                <a:ea typeface="Calibri" pitchFamily="34" charset="-122"/>
                <a:cs typeface="Calibri" pitchFamily="34" charset="-120"/>
              </a:rPr>
              <a:t>Score with bits only</a:t>
            </a:r>
            <a:endParaRPr lang="en-US" sz="1500" dirty="0"/>
          </a:p>
          <a:p>
            <a:pPr marL="0" indent="0">
              <a:buNone/>
            </a:pPr>
            <a:r>
              <a:rPr lang="en-US" sz="1500" dirty="0">
                <a:solidFill>
                  <a:srgbClr val="5B6270"/>
                </a:solidFill>
                <a:latin typeface="Calibri" pitchFamily="34" charset="0"/>
                <a:ea typeface="Calibri" pitchFamily="34" charset="-122"/>
                <a:cs typeface="Calibri" pitchFamily="34" charset="-120"/>
              </a:rPr>
              <a:t>⟨aⱼ, bₖ⟩ = 2·popcnt(aⱼ⁺ AND bₖ) − popcnt(bₖ)</a:t>
            </a:r>
            <a:endParaRPr lang="en-US" sz="15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b="1" dirty="0">
                <a:solidFill>
                  <a:srgbClr val="E8772E"/>
                </a:solidFill>
                <a:latin typeface="Calibri" pitchFamily="34" charset="0"/>
                <a:ea typeface="Calibri" pitchFamily="34" charset="-122"/>
                <a:cs typeface="Calibri" pitchFamily="34" charset="-120"/>
              </a:rPr>
              <a:t>12 POPCOUNTs per window instead of 64 multiply-adds.</a:t>
            </a:r>
            <a:endParaRPr lang="en-US" sz="1500" dirty="0"/>
          </a:p>
        </p:txBody>
      </p:sp>
      <p:sp>
        <p:nvSpPr>
          <p:cNvPr id="9" name="Text 6"/>
          <p:cNvSpPr txBox="1"/>
          <p:nvPr/>
        </p:nvSpPr>
        <p:spPr>
          <a:xfrm>
            <a:off x="548640" y="5257800"/>
            <a:ext cx="6400800" cy="9144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B1F2A"/>
                </a:solidFill>
                <a:latin typeface="Calibri" pitchFamily="34" charset="0"/>
                <a:ea typeface="Calibri" pitchFamily="34" charset="-122"/>
                <a:cs typeface="Calibri" pitchFamily="34" charset="-120"/>
              </a:rPr>
              <a:t>Implemented in Python: bing/ package (features, binary, Numba fast path, model, metrics, datasets); unit tests prove bitwise score = float score.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4 · DESIGN &amp; SOLUTION</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Experimental setup</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8</a:t>
            </a:r>
            <a:endParaRPr lang="en-US" sz="1000" dirty="0"/>
          </a:p>
        </p:txBody>
      </p:sp>
      <p:pic>
        <p:nvPicPr>
          <p:cNvPr id="5" name="Image 0" descr="/home/user/cvprojectg10/results/figures/dataset_synthetic.png"/>
          <p:cNvPicPr>
            <a:picLocks noChangeAspect="1"/>
          </p:cNvPicPr>
          <p:nvPr/>
        </p:nvPicPr>
        <p:blipFill>
          <a:blip r:embed="rId3"/>
          <a:srcRect/>
          <a:stretch/>
        </p:blipFill>
        <p:spPr>
          <a:xfrm>
            <a:off x="548640" y="1463040"/>
            <a:ext cx="5486400" cy="2148840"/>
          </a:xfrm>
          <a:prstGeom prst="rect">
            <a:avLst/>
          </a:prstGeom>
        </p:spPr>
      </p:pic>
      <p:pic>
        <p:nvPicPr>
          <p:cNvPr id="6" name="Image 1" descr="/home/user/cvprojectg10/results/figures/dataset_real.png"/>
          <p:cNvPicPr>
            <a:picLocks noChangeAspect="1"/>
          </p:cNvPicPr>
          <p:nvPr/>
        </p:nvPicPr>
        <p:blipFill>
          <a:blip r:embed="rId4"/>
          <a:srcRect/>
          <a:stretch/>
        </p:blipFill>
        <p:spPr>
          <a:xfrm>
            <a:off x="6217920" y="1463040"/>
            <a:ext cx="5486400" cy="2148840"/>
          </a:xfrm>
          <a:prstGeom prst="rect">
            <a:avLst/>
          </a:prstGeom>
        </p:spPr>
      </p:pic>
      <p:sp>
        <p:nvSpPr>
          <p:cNvPr id="7" name="Text 3"/>
          <p:cNvSpPr txBox="1"/>
          <p:nvPr/>
        </p:nvSpPr>
        <p:spPr>
          <a:xfrm>
            <a:off x="548640" y="3794760"/>
            <a:ext cx="3566160" cy="365760"/>
          </a:xfrm>
          <a:prstGeom prst="rect">
            <a:avLst/>
          </a:prstGeom>
          <a:noFill/>
          <a:ln/>
        </p:spPr>
        <p:txBody>
          <a:bodyPr wrap="square" lIns="0" tIns="0" rIns="0" bIns="0" rtlCol="0" anchor="ctr"/>
          <a:lstStyle/>
          <a:p>
            <a:pPr marL="0" indent="0">
              <a:buNone/>
            </a:pPr>
            <a:r>
              <a:rPr lang="en-US" sz="1800" b="1" dirty="0">
                <a:solidFill>
                  <a:srgbClr val="E8772E"/>
                </a:solidFill>
                <a:latin typeface="Cambria" pitchFamily="34" charset="0"/>
                <a:ea typeface="Cambria" pitchFamily="34" charset="-122"/>
                <a:cs typeface="Cambria" pitchFamily="34" charset="-120"/>
              </a:rPr>
              <a:t>PASCAL VOC 2007</a:t>
            </a:r>
            <a:endParaRPr lang="en-US" sz="1800" dirty="0"/>
          </a:p>
        </p:txBody>
      </p:sp>
      <p:sp>
        <p:nvSpPr>
          <p:cNvPr id="8" name="Text 4"/>
          <p:cNvSpPr txBox="1"/>
          <p:nvPr/>
        </p:nvSpPr>
        <p:spPr>
          <a:xfrm>
            <a:off x="548640" y="4206240"/>
            <a:ext cx="3474720" cy="1188720"/>
          </a:xfrm>
          <a:prstGeom prst="rect">
            <a:avLst/>
          </a:prstGeom>
          <a:noFill/>
          <a:ln/>
        </p:spPr>
        <p:txBody>
          <a:bodyPr wrap="square" lIns="0" tIns="0" rIns="0" bIns="0" rtlCol="0" anchor="t"/>
          <a:lstStyle/>
          <a:p>
            <a:pPr marL="0" indent="0">
              <a:buNone/>
            </a:pPr>
            <a:r>
              <a:rPr lang="en-US" sz="1350" dirty="0">
                <a:solidFill>
                  <a:srgbClr val="5B6270"/>
                </a:solidFill>
                <a:latin typeface="Calibri" pitchFamily="34" charset="0"/>
                <a:ea typeface="Calibri" pitchFamily="34" charset="-122"/>
                <a:cs typeface="Calibri" pitchFamily="34" charset="-120"/>
              </a:rPr>
              <a:t>The paper's benchmark: train on 5011 trainval images, test on 4952 test images (12,032 objects, “difficult” ones ignored).</a:t>
            </a:r>
            <a:endParaRPr lang="en-US" sz="1350" dirty="0"/>
          </a:p>
        </p:txBody>
      </p:sp>
      <p:sp>
        <p:nvSpPr>
          <p:cNvPr id="9" name="Text 5"/>
          <p:cNvSpPr txBox="1"/>
          <p:nvPr/>
        </p:nvSpPr>
        <p:spPr>
          <a:xfrm>
            <a:off x="4297680" y="3794760"/>
            <a:ext cx="3566160" cy="365760"/>
          </a:xfrm>
          <a:prstGeom prst="rect">
            <a:avLst/>
          </a:prstGeom>
          <a:noFill/>
          <a:ln/>
        </p:spPr>
        <p:txBody>
          <a:bodyPr wrap="square" lIns="0" tIns="0" rIns="0" bIns="0" rtlCol="0" anchor="ctr"/>
          <a:lstStyle/>
          <a:p>
            <a:pPr marL="0" indent="0">
              <a:buNone/>
            </a:pPr>
            <a:r>
              <a:rPr lang="en-US" sz="1800" b="1" dirty="0">
                <a:solidFill>
                  <a:srgbClr val="1B1F2A"/>
                </a:solidFill>
                <a:latin typeface="Cambria" pitchFamily="34" charset="0"/>
                <a:ea typeface="Cambria" pitchFamily="34" charset="-122"/>
                <a:cs typeface="Cambria" pitchFamily="34" charset="-120"/>
              </a:rPr>
              <a:t>Synthetic scenes</a:t>
            </a:r>
            <a:endParaRPr lang="en-US" sz="1800" dirty="0"/>
          </a:p>
        </p:txBody>
      </p:sp>
      <p:sp>
        <p:nvSpPr>
          <p:cNvPr id="10" name="Text 6"/>
          <p:cNvSpPr txBox="1"/>
          <p:nvPr/>
        </p:nvSpPr>
        <p:spPr>
          <a:xfrm>
            <a:off x="4297680" y="4206240"/>
            <a:ext cx="3474720" cy="1188720"/>
          </a:xfrm>
          <a:prstGeom prst="rect">
            <a:avLst/>
          </a:prstGeom>
          <a:noFill/>
          <a:ln/>
        </p:spPr>
        <p:txBody>
          <a:bodyPr wrap="square" lIns="0" tIns="0" rIns="0" bIns="0" rtlCol="0" anchor="t"/>
          <a:lstStyle/>
          <a:p>
            <a:pPr marL="0" indent="0">
              <a:buNone/>
            </a:pPr>
            <a:r>
              <a:rPr lang="en-US" sz="1350" dirty="0">
                <a:solidFill>
                  <a:srgbClr val="5B6270"/>
                </a:solidFill>
                <a:latin typeface="Calibri" pitchFamily="34" charset="0"/>
                <a:ea typeface="Calibri" pitchFamily="34" charset="-122"/>
                <a:cs typeface="Calibri" pitchFamily="34" charset="-120"/>
              </a:rPr>
              <a:t>600 train / 300 test images: shapes with texture and shading on cluttered backgrounds (edges that are not objects).</a:t>
            </a:r>
            <a:endParaRPr lang="en-US" sz="1350" dirty="0"/>
          </a:p>
        </p:txBody>
      </p:sp>
      <p:sp>
        <p:nvSpPr>
          <p:cNvPr id="11" name="Text 7"/>
          <p:cNvSpPr txBox="1"/>
          <p:nvPr/>
        </p:nvSpPr>
        <p:spPr>
          <a:xfrm>
            <a:off x="8046720" y="3794760"/>
            <a:ext cx="3566160" cy="365760"/>
          </a:xfrm>
          <a:prstGeom prst="rect">
            <a:avLst/>
          </a:prstGeom>
          <a:noFill/>
          <a:ln/>
        </p:spPr>
        <p:txBody>
          <a:bodyPr wrap="square" lIns="0" tIns="0" rIns="0" bIns="0" rtlCol="0" anchor="ctr"/>
          <a:lstStyle/>
          <a:p>
            <a:pPr marL="0" indent="0">
              <a:buNone/>
            </a:pPr>
            <a:r>
              <a:rPr lang="en-US" sz="1800" b="1" dirty="0">
                <a:solidFill>
                  <a:srgbClr val="1B1F2A"/>
                </a:solidFill>
                <a:latin typeface="Cambria" pitchFamily="34" charset="0"/>
                <a:ea typeface="Cambria" pitchFamily="34" charset="-122"/>
                <a:cs typeface="Cambria" pitchFamily="34" charset="-120"/>
              </a:rPr>
              <a:t>Real photographs</a:t>
            </a:r>
            <a:endParaRPr lang="en-US" sz="1800" dirty="0"/>
          </a:p>
        </p:txBody>
      </p:sp>
      <p:sp>
        <p:nvSpPr>
          <p:cNvPr id="12" name="Text 8"/>
          <p:cNvSpPr txBox="1"/>
          <p:nvPr/>
        </p:nvSpPr>
        <p:spPr>
          <a:xfrm>
            <a:off x="8046720" y="4206240"/>
            <a:ext cx="3474720" cy="1188720"/>
          </a:xfrm>
          <a:prstGeom prst="rect">
            <a:avLst/>
          </a:prstGeom>
          <a:noFill/>
          <a:ln/>
        </p:spPr>
        <p:txBody>
          <a:bodyPr wrap="square" lIns="0" tIns="0" rIns="0" bIns="0" rtlCol="0" anchor="t"/>
          <a:lstStyle/>
          <a:p>
            <a:pPr marL="0" indent="0">
              <a:buNone/>
            </a:pPr>
            <a:r>
              <a:rPr lang="en-US" sz="1350" dirty="0">
                <a:solidFill>
                  <a:srgbClr val="5B6270"/>
                </a:solidFill>
                <a:latin typeface="Calibri" pitchFamily="34" charset="0"/>
                <a:ea typeface="Calibri" pitchFamily="34" charset="-122"/>
                <a:cs typeface="Calibri" pitchFamily="34" charset="-120"/>
              </a:rPr>
              <a:t>10 photos, 58 annotated objects, never used for training: tests generalisation.</a:t>
            </a:r>
            <a:endParaRPr lang="en-US" sz="1350" dirty="0"/>
          </a:p>
        </p:txBody>
      </p:sp>
      <p:sp>
        <p:nvSpPr>
          <p:cNvPr id="13" name="Text 9"/>
          <p:cNvSpPr txBox="1"/>
          <p:nvPr/>
        </p:nvSpPr>
        <p:spPr>
          <a:xfrm>
            <a:off x="548640" y="5577840"/>
            <a:ext cx="11155680" cy="731520"/>
          </a:xfrm>
          <a:prstGeom prst="rect">
            <a:avLst/>
          </a:prstGeom>
          <a:noFill/>
          <a:ln/>
        </p:spPr>
        <p:txBody>
          <a:bodyPr wrap="square" lIns="0" tIns="0" rIns="0" bIns="0" rtlCol="0" anchor="ctr"/>
          <a:lstStyle/>
          <a:p>
            <a:pPr marL="0" indent="0">
              <a:buNone/>
            </a:pPr>
            <a:r>
              <a:rPr lang="en-US" sz="1250" i="1" dirty="0">
                <a:solidFill>
                  <a:srgbClr val="5B6270"/>
                </a:solidFill>
                <a:latin typeface="Calibri" pitchFamily="34" charset="0"/>
                <a:ea typeface="Calibri" pitchFamily="34" charset="-122"/>
                <a:cs typeface="Calibri" pitchFamily="34" charset="-120"/>
              </a:rPr>
              <a:t>Metrics: detection rate DR@N (share of objects covered with IoU ≥ 0.5 by the top N proposals), MABO (mean best overlap), images/s; for the detector, VOC mean average precision (mAP). Baselines: the authors' own C++ BING, Selective Search, sliding windows, random boxes. All scored with the same evaluator.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4 · DESIGN &amp; SOLUTION</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Design choice: RGB, HSV or Gray?</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9</a:t>
            </a:r>
            <a:endParaRPr lang="en-US" sz="1000" dirty="0"/>
          </a:p>
        </p:txBody>
      </p:sp>
      <p:pic>
        <p:nvPicPr>
          <p:cNvPr id="5" name="Image 0" descr="BING on RGB, HSV and Gray: VOC 2007 recall, recall by object size, and DR@1000 on three datasets"/>
          <p:cNvPicPr>
            <a:picLocks noChangeAspect="1"/>
          </p:cNvPicPr>
          <p:nvPr/>
        </p:nvPicPr>
        <p:blipFill>
          <a:blip r:embed="rId3"/>
          <a:srcRect/>
          <a:stretch/>
        </p:blipFill>
        <p:spPr>
          <a:xfrm>
            <a:off x="365760" y="1417320"/>
            <a:ext cx="7680960" cy="2130334"/>
          </a:xfrm>
          <a:prstGeom prst="rect">
            <a:avLst/>
          </a:prstGeom>
        </p:spPr>
      </p:pic>
      <p:sp>
        <p:nvSpPr>
          <p:cNvPr id="6" name="Text 3"/>
          <p:cNvSpPr txBox="1"/>
          <p:nvPr/>
        </p:nvSpPr>
        <p:spPr>
          <a:xfrm>
            <a:off x="8321040" y="1463040"/>
            <a:ext cx="3474720" cy="822960"/>
          </a:xfrm>
          <a:prstGeom prst="rect">
            <a:avLst/>
          </a:prstGeom>
          <a:noFill/>
          <a:ln/>
        </p:spPr>
        <p:txBody>
          <a:bodyPr wrap="square" lIns="0" tIns="0" rIns="0" bIns="0" rtlCol="0" anchor="ctr"/>
          <a:lstStyle/>
          <a:p>
            <a:pPr marL="0" indent="0">
              <a:buNone/>
            </a:pPr>
            <a:r>
              <a:rPr lang="en-US" sz="4400" b="1" dirty="0">
                <a:solidFill>
                  <a:srgbClr val="E8772E"/>
                </a:solidFill>
                <a:latin typeface="Cambria" pitchFamily="34" charset="0"/>
                <a:ea typeface="Cambria" pitchFamily="34" charset="-122"/>
                <a:cs typeface="Cambria" pitchFamily="34" charset="-120"/>
              </a:rPr>
              <a:t>94.4%</a:t>
            </a:r>
            <a:endParaRPr lang="en-US" sz="4400" dirty="0"/>
          </a:p>
        </p:txBody>
      </p:sp>
      <p:sp>
        <p:nvSpPr>
          <p:cNvPr id="7" name="Text 4"/>
          <p:cNvSpPr txBox="1"/>
          <p:nvPr/>
        </p:nvSpPr>
        <p:spPr>
          <a:xfrm>
            <a:off x="8321040" y="2286000"/>
            <a:ext cx="3474720" cy="548640"/>
          </a:xfrm>
          <a:prstGeom prst="rect">
            <a:avLst/>
          </a:prstGeom>
          <a:noFill/>
          <a:ln/>
        </p:spPr>
        <p:txBody>
          <a:bodyPr wrap="square" lIns="0" tIns="0" rIns="0" bIns="0" rtlCol="0" anchor="t"/>
          <a:lstStyle/>
          <a:p>
            <a:pPr marL="0" indent="0">
              <a:buNone/>
            </a:pPr>
            <a:r>
              <a:rPr lang="en-US" sz="1500" dirty="0">
                <a:solidFill>
                  <a:srgbClr val="5B6270"/>
                </a:solidFill>
                <a:latin typeface="Calibri" pitchFamily="34" charset="0"/>
                <a:ea typeface="Calibri" pitchFamily="34" charset="-122"/>
                <a:cs typeface="Calibri" pitchFamily="34" charset="-120"/>
              </a:rPr>
              <a:t>HSV: VOC objects in the top 1000 (RGB 94.0%, Gray 93.2%)</a:t>
            </a:r>
            <a:endParaRPr lang="en-US" sz="1500" dirty="0"/>
          </a:p>
        </p:txBody>
      </p:sp>
      <p:sp>
        <p:nvSpPr>
          <p:cNvPr id="8" name="Text 5"/>
          <p:cNvSpPr txBox="1"/>
          <p:nvPr/>
        </p:nvSpPr>
        <p:spPr>
          <a:xfrm>
            <a:off x="8321040" y="2834640"/>
            <a:ext cx="3474720" cy="822960"/>
          </a:xfrm>
          <a:prstGeom prst="rect">
            <a:avLst/>
          </a:prstGeom>
          <a:noFill/>
          <a:ln/>
        </p:spPr>
        <p:txBody>
          <a:bodyPr wrap="square" lIns="0" tIns="0" rIns="0" bIns="0" rtlCol="0" anchor="ctr"/>
          <a:lstStyle/>
          <a:p>
            <a:pPr marL="0" indent="0">
              <a:buNone/>
            </a:pPr>
            <a:r>
              <a:rPr lang="en-US" sz="4400" b="1" dirty="0">
                <a:solidFill>
                  <a:srgbClr val="1C7293"/>
                </a:solidFill>
                <a:latin typeface="Cambria" pitchFamily="34" charset="0"/>
                <a:ea typeface="Cambria" pitchFamily="34" charset="-122"/>
                <a:cs typeface="Cambria" pitchFamily="34" charset="-120"/>
              </a:rPr>
              <a:t>98.4%</a:t>
            </a:r>
            <a:endParaRPr lang="en-US" sz="4400" dirty="0"/>
          </a:p>
        </p:txBody>
      </p:sp>
      <p:sp>
        <p:nvSpPr>
          <p:cNvPr id="9" name="Text 6"/>
          <p:cNvSpPr txBox="1"/>
          <p:nvPr/>
        </p:nvSpPr>
        <p:spPr>
          <a:xfrm>
            <a:off x="8321040" y="3657600"/>
            <a:ext cx="3474720" cy="548640"/>
          </a:xfrm>
          <a:prstGeom prst="rect">
            <a:avLst/>
          </a:prstGeom>
          <a:noFill/>
          <a:ln/>
        </p:spPr>
        <p:txBody>
          <a:bodyPr wrap="square" lIns="0" tIns="0" rIns="0" bIns="0" rtlCol="0" anchor="t"/>
          <a:lstStyle/>
          <a:p>
            <a:pPr marL="0" indent="0">
              <a:buNone/>
            </a:pPr>
            <a:r>
              <a:rPr lang="en-US" sz="1500" dirty="0">
                <a:solidFill>
                  <a:srgbClr val="5B6270"/>
                </a:solidFill>
                <a:latin typeface="Calibri" pitchFamily="34" charset="0"/>
                <a:ea typeface="Calibri" pitchFamily="34" charset="-122"/>
                <a:cs typeface="Calibri" pitchFamily="34" charset="-120"/>
              </a:rPr>
              <a:t>all three merged, top 5000 (best single: 96.4%)</a:t>
            </a:r>
            <a:endParaRPr lang="en-US" sz="1500" dirty="0"/>
          </a:p>
        </p:txBody>
      </p:sp>
      <p:sp>
        <p:nvSpPr>
          <p:cNvPr id="10" name="Text 7"/>
          <p:cNvSpPr txBox="1"/>
          <p:nvPr/>
        </p:nvSpPr>
        <p:spPr>
          <a:xfrm>
            <a:off x="8321040" y="4206240"/>
            <a:ext cx="3474720" cy="822960"/>
          </a:xfrm>
          <a:prstGeom prst="rect">
            <a:avLst/>
          </a:prstGeom>
          <a:noFill/>
          <a:ln/>
        </p:spPr>
        <p:txBody>
          <a:bodyPr wrap="square" lIns="0" tIns="0" rIns="0" bIns="0" rtlCol="0" anchor="ctr"/>
          <a:lstStyle/>
          <a:p>
            <a:pPr marL="0" indent="0">
              <a:buNone/>
            </a:pPr>
            <a:r>
              <a:rPr lang="en-US" sz="4400" b="1" dirty="0">
                <a:solidFill>
                  <a:srgbClr val="5B6270"/>
                </a:solidFill>
                <a:latin typeface="Cambria" pitchFamily="34" charset="0"/>
                <a:ea typeface="Cambria" pitchFamily="34" charset="-122"/>
                <a:cs typeface="Cambria" pitchFamily="34" charset="-120"/>
              </a:rPr>
              <a:t>91.4%</a:t>
            </a:r>
            <a:endParaRPr lang="en-US" sz="4400" dirty="0"/>
          </a:p>
        </p:txBody>
      </p:sp>
      <p:sp>
        <p:nvSpPr>
          <p:cNvPr id="11" name="Text 8"/>
          <p:cNvSpPr txBox="1"/>
          <p:nvPr/>
        </p:nvSpPr>
        <p:spPr>
          <a:xfrm>
            <a:off x="8321040" y="5029200"/>
            <a:ext cx="3474720" cy="548640"/>
          </a:xfrm>
          <a:prstGeom prst="rect">
            <a:avLst/>
          </a:prstGeom>
          <a:noFill/>
          <a:ln/>
        </p:spPr>
        <p:txBody>
          <a:bodyPr wrap="square" lIns="0" tIns="0" rIns="0" bIns="0" rtlCol="0" anchor="t"/>
          <a:lstStyle/>
          <a:p>
            <a:pPr marL="0" indent="0">
              <a:buNone/>
            </a:pPr>
            <a:r>
              <a:rPr lang="en-US" sz="1500" dirty="0">
                <a:solidFill>
                  <a:srgbClr val="5B6270"/>
                </a:solidFill>
                <a:latin typeface="Calibri" pitchFamily="34" charset="0"/>
                <a:ea typeface="Calibri" pitchFamily="34" charset="-122"/>
                <a:cs typeface="Calibri" pitchFamily="34" charset="-120"/>
              </a:rPr>
              <a:t>Gray on real photos, trained on synthetic only (RGB, HSV: 87.9%)</a:t>
            </a:r>
            <a:endParaRPr lang="en-US" sz="1500" dirty="0"/>
          </a:p>
        </p:txBody>
      </p:sp>
      <p:sp>
        <p:nvSpPr>
          <p:cNvPr id="12" name="Text 9"/>
          <p:cNvSpPr txBox="1"/>
          <p:nvPr/>
        </p:nvSpPr>
        <p:spPr>
          <a:xfrm>
            <a:off x="548640" y="3821974"/>
            <a:ext cx="7498080" cy="2487386"/>
          </a:xfrm>
          <a:prstGeom prst="rect">
            <a:avLst/>
          </a:prstGeom>
          <a:noFill/>
          <a:ln/>
        </p:spPr>
        <p:txBody>
          <a:bodyPr wrap="square" lIns="0" tIns="0" rIns="0" bIns="0" rtlCol="0" anchor="t"/>
          <a:lstStyle/>
          <a:p>
            <a:pPr marL="342900" indent="-342900">
              <a:spcAft>
                <a:spcPts val="500"/>
              </a:spcAft>
              <a:buSzPct val="100000"/>
              <a:buChar char="•"/>
            </a:pPr>
            <a:r>
              <a:rPr lang="en-US" sz="1400" b="1" dirty="0">
                <a:solidFill>
                  <a:srgbClr val="1B1F2A"/>
                </a:solidFill>
                <a:latin typeface="Calibri" pitchFamily="34" charset="0"/>
                <a:ea typeface="Calibri" pitchFamily="34" charset="-122"/>
                <a:cs typeface="Calibri" pitchFamily="34" charset="-120"/>
              </a:rPr>
              <a:t>Setup: </a:t>
            </a:r>
            <a:r>
              <a:rPr lang="en-US" sz="1400" dirty="0">
                <a:solidFill>
                  <a:srgbClr val="5B6270"/>
                </a:solidFill>
                <a:latin typeface="Calibri" pitchFamily="34" charset="0"/>
                <a:ea typeface="Calibri" pitchFamily="34" charset="-122"/>
                <a:cs typeface="Calibri" pitchFamily="34" charset="-120"/>
              </a:rPr>
              <a:t>one BING model per colour space, trained on VOC trainval; the gradient is the strongest of the channels.</a:t>
            </a:r>
            <a:endParaRPr lang="en-US" sz="1400" dirty="0"/>
          </a:p>
          <a:p>
            <a:pPr marL="342900" indent="-342900">
              <a:spcAft>
                <a:spcPts val="500"/>
              </a:spcAft>
              <a:buSzPct val="100000"/>
              <a:buChar char="•"/>
            </a:pPr>
            <a:r>
              <a:rPr lang="en-US" sz="1400" b="1" dirty="0">
                <a:solidFill>
                  <a:srgbClr val="1B1F2A"/>
                </a:solidFill>
                <a:latin typeface="Calibri" pitchFamily="34" charset="0"/>
                <a:ea typeface="Calibri" pitchFamily="34" charset="-122"/>
                <a:cs typeface="Calibri" pitchFamily="34" charset="-120"/>
              </a:rPr>
              <a:t>VOC: </a:t>
            </a:r>
            <a:r>
              <a:rPr lang="en-US" sz="1400" dirty="0">
                <a:solidFill>
                  <a:srgbClr val="5B6270"/>
                </a:solidFill>
                <a:latin typeface="Calibri" pitchFamily="34" charset="0"/>
                <a:ea typeface="Calibri" pitchFamily="34" charset="-122"/>
                <a:cs typeface="Calibri" pitchFamily="34" charset="-120"/>
              </a:rPr>
              <a:t>HSV is best and wins 15 of 20 classes at 100 boxes. Gray misses colour-only edges, most on small objects (34.5% vs 39.3%).</a:t>
            </a:r>
            <a:endParaRPr lang="en-US" sz="1400" dirty="0"/>
          </a:p>
          <a:p>
            <a:pPr marL="342900" indent="-342900">
              <a:spcAft>
                <a:spcPts val="500"/>
              </a:spcAft>
              <a:buSzPct val="100000"/>
              <a:buChar char="•"/>
            </a:pPr>
            <a:r>
              <a:rPr lang="en-US" sz="1400" b="1" dirty="0">
                <a:solidFill>
                  <a:srgbClr val="1B1F2A"/>
                </a:solidFill>
                <a:latin typeface="Calibri" pitchFamily="34" charset="0"/>
                <a:ea typeface="Calibri" pitchFamily="34" charset="-122"/>
                <a:cs typeface="Calibri" pitchFamily="34" charset="-120"/>
              </a:rPr>
              <a:t>Other data: </a:t>
            </a:r>
            <a:r>
              <a:rPr lang="en-US" sz="1400" dirty="0">
                <a:solidFill>
                  <a:srgbClr val="5B6270"/>
                </a:solidFill>
                <a:latin typeface="Calibri" pitchFamily="34" charset="0"/>
                <a:ea typeface="Calibri" pitchFamily="34" charset="-122"/>
                <a:cs typeface="Calibri" pitchFamily="34" charset="-120"/>
              </a:rPr>
              <a:t>RGB is best on the synthetic scenes; Gray transfers best from synthetic training to real photos.</a:t>
            </a:r>
            <a:endParaRPr lang="en-US" sz="1400" dirty="0"/>
          </a:p>
          <a:p>
            <a:pPr marL="342900" indent="-342900">
              <a:spcAft>
                <a:spcPts val="500"/>
              </a:spcAft>
              <a:buSzPct val="100000"/>
              <a:buChar char="•"/>
            </a:pPr>
            <a:r>
              <a:rPr lang="en-US" sz="1400" b="1" dirty="0">
                <a:solidFill>
                  <a:srgbClr val="1B1F2A"/>
                </a:solidFill>
                <a:latin typeface="Calibri" pitchFamily="34" charset="0"/>
                <a:ea typeface="Calibri" pitchFamily="34" charset="-122"/>
                <a:cs typeface="Calibri" pitchFamily="34" charset="-120"/>
              </a:rPr>
              <a:t>Merging all three </a:t>
            </a:r>
            <a:r>
              <a:rPr lang="en-US" sz="1400" dirty="0">
                <a:solidFill>
                  <a:srgbClr val="5B6270"/>
                </a:solidFill>
                <a:latin typeface="Calibri" pitchFamily="34" charset="0"/>
                <a:ea typeface="Calibri" pitchFamily="34" charset="-122"/>
                <a:cs typeface="Calibri" pitchFamily="34" charset="-120"/>
              </a:rPr>
              <a:t>(the paper's BING-Diversified) only pays off at large budgets.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5 · RESULT ANALYSIS</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PASCAL VOC 2007: reproducing the paper</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10</a:t>
            </a:r>
            <a:endParaRPr lang="en-US" sz="1000" dirty="0"/>
          </a:p>
        </p:txBody>
      </p:sp>
      <p:pic>
        <p:nvPicPr>
          <p:cNvPr id="5" name="Image 0" descr="/home/user/cvprojectg10/results/figures/voc_curves.png"/>
          <p:cNvPicPr>
            <a:picLocks noChangeAspect="1"/>
          </p:cNvPicPr>
          <p:nvPr/>
        </p:nvPicPr>
        <p:blipFill>
          <a:blip r:embed="rId3"/>
          <a:srcRect/>
          <a:stretch/>
        </p:blipFill>
        <p:spPr>
          <a:xfrm>
            <a:off x="365760" y="1371600"/>
            <a:ext cx="7680960" cy="2834640"/>
          </a:xfrm>
          <a:prstGeom prst="rect">
            <a:avLst/>
          </a:prstGeom>
        </p:spPr>
      </p:pic>
      <p:sp>
        <p:nvSpPr>
          <p:cNvPr id="6" name="Text 3"/>
          <p:cNvSpPr txBox="1"/>
          <p:nvPr/>
        </p:nvSpPr>
        <p:spPr>
          <a:xfrm>
            <a:off x="8321040" y="1463040"/>
            <a:ext cx="3474720" cy="822960"/>
          </a:xfrm>
          <a:prstGeom prst="rect">
            <a:avLst/>
          </a:prstGeom>
          <a:noFill/>
          <a:ln/>
        </p:spPr>
        <p:txBody>
          <a:bodyPr wrap="square" lIns="0" tIns="0" rIns="0" bIns="0" rtlCol="0" anchor="ctr"/>
          <a:lstStyle/>
          <a:p>
            <a:pPr marL="0" indent="0">
              <a:buNone/>
            </a:pPr>
            <a:r>
              <a:rPr lang="en-US" sz="4400" b="1" dirty="0">
                <a:solidFill>
                  <a:srgbClr val="E8772E"/>
                </a:solidFill>
                <a:latin typeface="Cambria" pitchFamily="34" charset="0"/>
                <a:ea typeface="Cambria" pitchFamily="34" charset="-122"/>
                <a:cs typeface="Cambria" pitchFamily="34" charset="-120"/>
              </a:rPr>
              <a:t>94.0%</a:t>
            </a:r>
            <a:endParaRPr lang="en-US" sz="4400" dirty="0"/>
          </a:p>
        </p:txBody>
      </p:sp>
      <p:sp>
        <p:nvSpPr>
          <p:cNvPr id="7" name="Text 4"/>
          <p:cNvSpPr txBox="1"/>
          <p:nvPr/>
        </p:nvSpPr>
        <p:spPr>
          <a:xfrm>
            <a:off x="8321040" y="2286000"/>
            <a:ext cx="3474720" cy="548640"/>
          </a:xfrm>
          <a:prstGeom prst="rect">
            <a:avLst/>
          </a:prstGeom>
          <a:noFill/>
          <a:ln/>
        </p:spPr>
        <p:txBody>
          <a:bodyPr wrap="square" lIns="0" tIns="0" rIns="0" bIns="0" rtlCol="0" anchor="t"/>
          <a:lstStyle/>
          <a:p>
            <a:pPr marL="0" indent="0">
              <a:buNone/>
            </a:pPr>
            <a:r>
              <a:rPr lang="en-US" sz="1300" dirty="0">
                <a:solidFill>
                  <a:srgbClr val="5B6270"/>
                </a:solidFill>
                <a:latin typeface="Calibri" pitchFamily="34" charset="0"/>
                <a:ea typeface="Calibri" pitchFamily="34" charset="-122"/>
                <a:cs typeface="Calibri" pitchFamily="34" charset="-120"/>
              </a:rPr>
              <a:t>objects found in the top 1000, our final BING</a:t>
            </a:r>
            <a:endParaRPr lang="en-US" sz="1300" dirty="0"/>
          </a:p>
        </p:txBody>
      </p:sp>
      <p:sp>
        <p:nvSpPr>
          <p:cNvPr id="8" name="Text 5"/>
          <p:cNvSpPr txBox="1"/>
          <p:nvPr/>
        </p:nvSpPr>
        <p:spPr>
          <a:xfrm>
            <a:off x="8321040" y="2834640"/>
            <a:ext cx="3474720" cy="822960"/>
          </a:xfrm>
          <a:prstGeom prst="rect">
            <a:avLst/>
          </a:prstGeom>
          <a:noFill/>
          <a:ln/>
        </p:spPr>
        <p:txBody>
          <a:bodyPr wrap="square" lIns="0" tIns="0" rIns="0" bIns="0" rtlCol="0" anchor="ctr"/>
          <a:lstStyle/>
          <a:p>
            <a:pPr marL="0" indent="0">
              <a:buNone/>
            </a:pPr>
            <a:r>
              <a:rPr lang="en-US" sz="4400" b="1" dirty="0">
                <a:solidFill>
                  <a:srgbClr val="1C7293"/>
                </a:solidFill>
                <a:latin typeface="Cambria" pitchFamily="34" charset="0"/>
                <a:ea typeface="Cambria" pitchFamily="34" charset="-122"/>
                <a:cs typeface="Cambria" pitchFamily="34" charset="-120"/>
              </a:rPr>
              <a:t>93.8%</a:t>
            </a:r>
            <a:endParaRPr lang="en-US" sz="4400" dirty="0"/>
          </a:p>
        </p:txBody>
      </p:sp>
      <p:sp>
        <p:nvSpPr>
          <p:cNvPr id="9" name="Text 6"/>
          <p:cNvSpPr txBox="1"/>
          <p:nvPr/>
        </p:nvSpPr>
        <p:spPr>
          <a:xfrm>
            <a:off x="8321040" y="3657600"/>
            <a:ext cx="3474720" cy="548640"/>
          </a:xfrm>
          <a:prstGeom prst="rect">
            <a:avLst/>
          </a:prstGeom>
          <a:noFill/>
          <a:ln/>
        </p:spPr>
        <p:txBody>
          <a:bodyPr wrap="square" lIns="0" tIns="0" rIns="0" bIns="0" rtlCol="0" anchor="t"/>
          <a:lstStyle/>
          <a:p>
            <a:pPr marL="0" indent="0">
              <a:buNone/>
            </a:pPr>
            <a:r>
              <a:rPr lang="en-US" sz="1300" dirty="0">
                <a:solidFill>
                  <a:srgbClr val="5B6270"/>
                </a:solidFill>
                <a:latin typeface="Calibri" pitchFamily="34" charset="0"/>
                <a:ea typeface="Calibri" pitchFamily="34" charset="-122"/>
                <a:cs typeface="Calibri" pitchFamily="34" charset="-120"/>
              </a:rPr>
              <a:t>the authors' C++ code, same images and evaluator</a:t>
            </a:r>
            <a:endParaRPr lang="en-US" sz="1300" dirty="0"/>
          </a:p>
        </p:txBody>
      </p:sp>
      <p:sp>
        <p:nvSpPr>
          <p:cNvPr id="10" name="Text 7"/>
          <p:cNvSpPr txBox="1"/>
          <p:nvPr/>
        </p:nvSpPr>
        <p:spPr>
          <a:xfrm>
            <a:off x="8321040" y="4206240"/>
            <a:ext cx="3474720" cy="822960"/>
          </a:xfrm>
          <a:prstGeom prst="rect">
            <a:avLst/>
          </a:prstGeom>
          <a:noFill/>
          <a:ln/>
        </p:spPr>
        <p:txBody>
          <a:bodyPr wrap="square" lIns="0" tIns="0" rIns="0" bIns="0" rtlCol="0" anchor="ctr"/>
          <a:lstStyle/>
          <a:p>
            <a:pPr marL="0" indent="0">
              <a:buNone/>
            </a:pPr>
            <a:r>
              <a:rPr lang="en-US" sz="4400" b="1" dirty="0">
                <a:solidFill>
                  <a:srgbClr val="5B6270"/>
                </a:solidFill>
                <a:latin typeface="Cambria" pitchFamily="34" charset="0"/>
                <a:ea typeface="Cambria" pitchFamily="34" charset="-122"/>
                <a:cs typeface="Cambria" pitchFamily="34" charset="-120"/>
              </a:rPr>
              <a:t>96.2%</a:t>
            </a:r>
            <a:endParaRPr lang="en-US" sz="4400" dirty="0"/>
          </a:p>
        </p:txBody>
      </p:sp>
      <p:sp>
        <p:nvSpPr>
          <p:cNvPr id="11" name="Text 8"/>
          <p:cNvSpPr txBox="1"/>
          <p:nvPr/>
        </p:nvSpPr>
        <p:spPr>
          <a:xfrm>
            <a:off x="8321040" y="5029200"/>
            <a:ext cx="3474720" cy="548640"/>
          </a:xfrm>
          <a:prstGeom prst="rect">
            <a:avLst/>
          </a:prstGeom>
          <a:noFill/>
          <a:ln/>
        </p:spPr>
        <p:txBody>
          <a:bodyPr wrap="square" lIns="0" tIns="0" rIns="0" bIns="0" rtlCol="0" anchor="t"/>
          <a:lstStyle/>
          <a:p>
            <a:pPr marL="0" indent="0">
              <a:buNone/>
            </a:pPr>
            <a:r>
              <a:rPr lang="en-US" sz="1300" dirty="0">
                <a:solidFill>
                  <a:srgbClr val="5B6270"/>
                </a:solidFill>
                <a:latin typeface="Calibri" pitchFamily="34" charset="0"/>
                <a:ea typeface="Calibri" pitchFamily="34" charset="-122"/>
                <a:cs typeface="Calibri" pitchFamily="34" charset="-120"/>
              </a:rPr>
              <a:t>reported in the paper (authors' evaluator)</a:t>
            </a:r>
            <a:endParaRPr lang="en-US" sz="1300" dirty="0"/>
          </a:p>
        </p:txBody>
      </p:sp>
      <p:sp>
        <p:nvSpPr>
          <p:cNvPr id="12" name="Text 9"/>
          <p:cNvSpPr txBox="1"/>
          <p:nvPr/>
        </p:nvSpPr>
        <p:spPr>
          <a:xfrm>
            <a:off x="548640" y="4434840"/>
            <a:ext cx="7498080" cy="1828800"/>
          </a:xfrm>
          <a:prstGeom prst="rect">
            <a:avLst/>
          </a:prstGeom>
          <a:noFill/>
          <a:ln/>
        </p:spPr>
        <p:txBody>
          <a:bodyPr wrap="square" lIns="0" tIns="0" rIns="0" bIns="0" rtlCol="0" anchor="t"/>
          <a:lstStyle/>
          <a:p>
            <a:pPr marL="342900" indent="-342900">
              <a:spcAft>
                <a:spcPts val="900"/>
              </a:spcAft>
              <a:buSzPct val="100000"/>
              <a:buChar char="•"/>
            </a:pPr>
            <a:r>
              <a:rPr lang="en-US" sz="1350" b="1" dirty="0">
                <a:solidFill>
                  <a:srgbClr val="1B1F2A"/>
                </a:solidFill>
                <a:latin typeface="Calibri" pitchFamily="34" charset="0"/>
                <a:ea typeface="Calibri" pitchFamily="34" charset="-122"/>
                <a:cs typeface="Calibri" pitchFamily="34" charset="-120"/>
              </a:rPr>
              <a:t>Our rebuild matches the authors' code </a:t>
            </a:r>
            <a:r>
              <a:rPr lang="en-US" sz="1350" dirty="0">
                <a:solidFill>
                  <a:srgbClr val="5B6270"/>
                </a:solidFill>
                <a:latin typeface="Calibri" pitchFamily="34" charset="0"/>
                <a:ea typeface="Calibri" pitchFamily="34" charset="-122"/>
                <a:cs typeface="Calibri" pitchFamily="34" charset="-120"/>
              </a:rPr>
              <a:t>on their own benchmark: 94.0% vs 93.8% at 1000, 96.0% vs 95.7% at 5000; box tightness 0.651 vs 0.646.</a:t>
            </a:r>
            <a:endParaRPr lang="en-US" sz="1350" dirty="0"/>
          </a:p>
          <a:p>
            <a:pPr marL="342900" indent="-342900">
              <a:spcAft>
                <a:spcPts val="900"/>
              </a:spcAft>
              <a:buSzPct val="100000"/>
              <a:buChar char="•"/>
            </a:pPr>
            <a:r>
              <a:rPr lang="en-US" sz="1350" b="1" dirty="0">
                <a:solidFill>
                  <a:srgbClr val="1B1F2A"/>
                </a:solidFill>
                <a:latin typeface="Calibri" pitchFamily="34" charset="0"/>
                <a:ea typeface="Calibri" pitchFamily="34" charset="-122"/>
                <a:cs typeface="Calibri" pitchFamily="34" charset="-120"/>
              </a:rPr>
              <a:t>By the authors' own evaluator </a:t>
            </a:r>
            <a:r>
              <a:rPr lang="en-US" sz="1350" dirty="0">
                <a:solidFill>
                  <a:srgbClr val="5B6270"/>
                </a:solidFill>
                <a:latin typeface="Calibri" pitchFamily="34" charset="0"/>
                <a:ea typeface="Calibri" pitchFamily="34" charset="-122"/>
                <a:cs typeface="Calibri" pitchFamily="34" charset="-120"/>
              </a:rPr>
              <a:t>their code scores 96.0% here, so the paper's number reproduces.</a:t>
            </a:r>
            <a:endParaRPr lang="en-US" sz="1350" dirty="0"/>
          </a:p>
          <a:p>
            <a:pPr marL="342900" indent="-342900">
              <a:spcAft>
                <a:spcPts val="900"/>
              </a:spcAft>
              <a:buSzPct val="100000"/>
              <a:buChar char="•"/>
            </a:pPr>
            <a:r>
              <a:rPr lang="en-US" sz="1500" b="1" dirty="0">
                <a:solidFill>
                  <a:srgbClr val="1B1F2A"/>
                </a:solidFill>
                <a:latin typeface="Calibri" pitchFamily="34" charset="0"/>
                <a:ea typeface="Calibri" pitchFamily="34" charset="-122"/>
                <a:cs typeface="Calibri" pitchFamily="34" charset="-120"/>
              </a:rPr>
              <a:t>Unseen classes (the paper's test): </a:t>
            </a:r>
            <a:r>
              <a:rPr lang="en-US" sz="1500" dirty="0">
                <a:solidFill>
                  <a:srgbClr val="5B6270"/>
                </a:solidFill>
                <a:latin typeface="Calibri" pitchFamily="34" charset="0"/>
                <a:ea typeface="Calibri" pitchFamily="34" charset="-122"/>
                <a:cs typeface="Calibri" pitchFamily="34" charset="-120"/>
              </a:rPr>
              <a:t>trained on only 6 classes, BING finds 91.1% of objects of the other 14 (trained on all 20: 93.3%).</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5 · RESULT ANALYSIS</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Comparison with existing methods</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11</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2743200"/>
        </p:xfrm>
        <a:graphic>
          <a:graphicData uri="http://schemas.openxmlformats.org/drawingml/2006/table">
            <a:tbl>
              <a:tblPr/>
              <a:tblGrid>
                <a:gridCol w="3291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45720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Method</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1A24"/>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VOC DR@1k</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1A24"/>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VOC MABO</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1A24"/>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Synth. DR@1k</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1A24"/>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Real DR@1k</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1A24"/>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img/s (1 thread)</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1A24"/>
                    </a:solidFill>
                  </a:tcPr>
                </a:tc>
                <a:extLst>
                  <a:ext uri="{0D108BD9-81ED-4DB2-BD59-A6C34878D82A}">
                    <a16:rowId xmlns:a16="http://schemas.microsoft.com/office/drawing/2014/main" val="10000"/>
                  </a:ext>
                </a:extLst>
              </a:tr>
              <a:tr h="457200">
                <a:tc>
                  <a:txBody>
                    <a:bodyPr/>
                    <a:lstStyle/>
                    <a:p>
                      <a:pPr marL="0" indent="0" algn="l">
                        <a:buNone/>
                      </a:pPr>
                      <a:r>
                        <a:rPr lang="en-US" sz="1350" b="1" dirty="0">
                          <a:solidFill>
                            <a:srgbClr val="1B1F2A"/>
                          </a:solidFill>
                          <a:latin typeface="Calibri" pitchFamily="34" charset="0"/>
                          <a:ea typeface="Calibri" pitchFamily="34" charset="-122"/>
                          <a:cs typeface="Calibri" pitchFamily="34" charset="-120"/>
                        </a:rPr>
                        <a:t>BING — ours (Python + Numba)</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DF1E8"/>
                    </a:solidFill>
                  </a:tcPr>
                </a:tc>
                <a:tc>
                  <a:txBody>
                    <a:bodyPr/>
                    <a:lstStyle/>
                    <a:p>
                      <a:pPr marL="0" indent="0" algn="ctr">
                        <a:buNone/>
                      </a:pPr>
                      <a:r>
                        <a:rPr lang="en-US" sz="1350" b="1" dirty="0">
                          <a:solidFill>
                            <a:srgbClr val="1B1F2A"/>
                          </a:solidFill>
                          <a:latin typeface="Calibri" pitchFamily="34" charset="0"/>
                          <a:ea typeface="Calibri" pitchFamily="34" charset="-122"/>
                          <a:cs typeface="Calibri" pitchFamily="34" charset="-120"/>
                        </a:rPr>
                        <a:t>94.0%</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DF1E8"/>
                    </a:solidFill>
                  </a:tcPr>
                </a:tc>
                <a:tc>
                  <a:txBody>
                    <a:bodyPr/>
                    <a:lstStyle/>
                    <a:p>
                      <a:pPr marL="0" indent="0" algn="ctr">
                        <a:buNone/>
                      </a:pPr>
                      <a:r>
                        <a:rPr lang="en-US" sz="1350" b="1" dirty="0">
                          <a:solidFill>
                            <a:srgbClr val="1B1F2A"/>
                          </a:solidFill>
                          <a:latin typeface="Calibri" pitchFamily="34" charset="0"/>
                          <a:ea typeface="Calibri" pitchFamily="34" charset="-122"/>
                          <a:cs typeface="Calibri" pitchFamily="34" charset="-120"/>
                        </a:rPr>
                        <a:t>0.651</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DF1E8"/>
                    </a:solidFill>
                  </a:tcPr>
                </a:tc>
                <a:tc>
                  <a:txBody>
                    <a:bodyPr/>
                    <a:lstStyle/>
                    <a:p>
                      <a:pPr marL="0" indent="0" algn="ctr">
                        <a:buNone/>
                      </a:pPr>
                      <a:r>
                        <a:rPr lang="en-US" sz="1350" b="1" dirty="0">
                          <a:solidFill>
                            <a:srgbClr val="1B1F2A"/>
                          </a:solidFill>
                          <a:latin typeface="Calibri" pitchFamily="34" charset="0"/>
                          <a:ea typeface="Calibri" pitchFamily="34" charset="-122"/>
                          <a:cs typeface="Calibri" pitchFamily="34" charset="-120"/>
                        </a:rPr>
                        <a:t>98.5%</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DF1E8"/>
                    </a:solidFill>
                  </a:tcPr>
                </a:tc>
                <a:tc>
                  <a:txBody>
                    <a:bodyPr/>
                    <a:lstStyle/>
                    <a:p>
                      <a:pPr marL="0" indent="0" algn="ctr">
                        <a:buNone/>
                      </a:pPr>
                      <a:r>
                        <a:rPr lang="en-US" sz="1350" b="1" dirty="0">
                          <a:solidFill>
                            <a:srgbClr val="1B1F2A"/>
                          </a:solidFill>
                          <a:latin typeface="Calibri" pitchFamily="34" charset="0"/>
                          <a:ea typeface="Calibri" pitchFamily="34" charset="-122"/>
                          <a:cs typeface="Calibri" pitchFamily="34" charset="-120"/>
                        </a:rPr>
                        <a:t>87.9%</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DF1E8"/>
                    </a:solidFill>
                  </a:tcPr>
                </a:tc>
                <a:tc>
                  <a:txBody>
                    <a:bodyPr/>
                    <a:lstStyle/>
                    <a:p>
                      <a:pPr marL="0" indent="0" algn="ctr">
                        <a:buNone/>
                      </a:pPr>
                      <a:r>
                        <a:rPr lang="en-US" sz="1350" b="1" dirty="0">
                          <a:solidFill>
                            <a:srgbClr val="1B1F2A"/>
                          </a:solidFill>
                          <a:latin typeface="Calibri" pitchFamily="34" charset="0"/>
                          <a:ea typeface="Calibri" pitchFamily="34" charset="-122"/>
                          <a:cs typeface="Calibri" pitchFamily="34" charset="-120"/>
                        </a:rPr>
                        <a:t>98</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DF1E8"/>
                    </a:solidFill>
                  </a:tcPr>
                </a:tc>
                <a:extLst>
                  <a:ext uri="{0D108BD9-81ED-4DB2-BD59-A6C34878D82A}">
                    <a16:rowId xmlns:a16="http://schemas.microsoft.com/office/drawing/2014/main" val="10001"/>
                  </a:ext>
                </a:extLst>
              </a:tr>
              <a:tr h="457200">
                <a:tc>
                  <a:txBody>
                    <a:bodyPr/>
                    <a:lstStyle/>
                    <a:p>
                      <a:pPr marL="0" indent="0" algn="l">
                        <a:buNone/>
                      </a:pPr>
                      <a:r>
                        <a:rPr lang="en-US" sz="1350" dirty="0">
                          <a:solidFill>
                            <a:srgbClr val="1B1F2A"/>
                          </a:solidFill>
                          <a:latin typeface="Calibri" pitchFamily="34" charset="0"/>
                          <a:ea typeface="Calibri" pitchFamily="34" charset="-122"/>
                          <a:cs typeface="Calibri" pitchFamily="34" charset="-120"/>
                        </a:rPr>
                        <a:t>BING — authors' C++ code</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93.8%</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0.646</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94.9%</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75.9%</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76</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extLst>
                  <a:ext uri="{0D108BD9-81ED-4DB2-BD59-A6C34878D82A}">
                    <a16:rowId xmlns:a16="http://schemas.microsoft.com/office/drawing/2014/main" val="10002"/>
                  </a:ext>
                </a:extLst>
              </a:tr>
              <a:tr h="457200">
                <a:tc>
                  <a:txBody>
                    <a:bodyPr/>
                    <a:lstStyle/>
                    <a:p>
                      <a:pPr marL="0" indent="0" algn="l">
                        <a:buNone/>
                      </a:pPr>
                      <a:r>
                        <a:rPr lang="en-US" sz="1350" dirty="0">
                          <a:solidFill>
                            <a:srgbClr val="1B1F2A"/>
                          </a:solidFill>
                          <a:latin typeface="Calibri" pitchFamily="34" charset="0"/>
                          <a:ea typeface="Calibri" pitchFamily="34" charset="-122"/>
                          <a:cs typeface="Calibri" pitchFamily="34" charset="-120"/>
                        </a:rPr>
                        <a:t>Selective Search (fast)</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89.2%</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0.719</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97.5%</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1.3</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350" dirty="0">
                          <a:solidFill>
                            <a:srgbClr val="1B1F2A"/>
                          </a:solidFill>
                          <a:latin typeface="Calibri" pitchFamily="34" charset="0"/>
                          <a:ea typeface="Calibri" pitchFamily="34" charset="-122"/>
                          <a:cs typeface="Calibri" pitchFamily="34" charset="-120"/>
                        </a:rPr>
                        <a:t>EdgeBoxes</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91.6%</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0.753</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6.5</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extLst>
                  <a:ext uri="{0D108BD9-81ED-4DB2-BD59-A6C34878D82A}">
                    <a16:rowId xmlns:a16="http://schemas.microsoft.com/office/drawing/2014/main" val="10004"/>
                  </a:ext>
                </a:extLst>
              </a:tr>
              <a:tr h="457200">
                <a:tc>
                  <a:txBody>
                    <a:bodyPr/>
                    <a:lstStyle/>
                    <a:p>
                      <a:pPr marL="0" indent="0" algn="l">
                        <a:buNone/>
                      </a:pPr>
                      <a:r>
                        <a:rPr lang="en-US" sz="1350" dirty="0">
                          <a:solidFill>
                            <a:srgbClr val="1B1F2A"/>
                          </a:solidFill>
                          <a:latin typeface="Calibri" pitchFamily="34" charset="0"/>
                          <a:ea typeface="Calibri" pitchFamily="34" charset="-122"/>
                          <a:cs typeface="Calibri" pitchFamily="34" charset="-120"/>
                        </a:rPr>
                        <a:t>Random boxes</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72.9%</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0.621</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53.6%</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48.3%</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1F2A"/>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548640" y="4434840"/>
            <a:ext cx="11064240" cy="457200"/>
          </a:xfrm>
          <a:prstGeom prst="rect">
            <a:avLst/>
          </a:prstGeom>
          <a:noFill/>
          <a:ln/>
        </p:spPr>
        <p:txBody>
          <a:bodyPr wrap="square" lIns="0" tIns="0" rIns="0" bIns="0" rtlCol="0" anchor="ctr"/>
          <a:lstStyle/>
          <a:p>
            <a:pPr marL="0" indent="0">
              <a:buNone/>
            </a:pPr>
            <a:r>
              <a:rPr lang="en-US" sz="1150" i="1" dirty="0">
                <a:solidFill>
                  <a:srgbClr val="5B6270"/>
                </a:solidFill>
                <a:latin typeface="Calibri" pitchFamily="34" charset="0"/>
                <a:ea typeface="Calibri" pitchFamily="34" charset="-122"/>
                <a:cs typeface="Calibri" pitchFamily="34" charset="-120"/>
              </a:rPr>
              <a:t>All methods on all 4,952 VOC test images; speed on one thread, all timed on the same machine. With 4 threads, ours reaches 294 img/s and the authors' code 300.</a:t>
            </a:r>
            <a:endParaRPr lang="en-US" sz="1150" dirty="0"/>
          </a:p>
        </p:txBody>
      </p:sp>
      <p:sp>
        <p:nvSpPr>
          <p:cNvPr id="7" name="Text 4"/>
          <p:cNvSpPr txBox="1"/>
          <p:nvPr/>
        </p:nvSpPr>
        <p:spPr>
          <a:xfrm>
            <a:off x="548640" y="4983480"/>
            <a:ext cx="11064240" cy="1371600"/>
          </a:xfrm>
          <a:prstGeom prst="rect">
            <a:avLst/>
          </a:prstGeom>
          <a:noFill/>
          <a:ln/>
        </p:spPr>
        <p:txBody>
          <a:bodyPr wrap="square" lIns="0" tIns="0" rIns="0" bIns="0" rtlCol="0" anchor="t"/>
          <a:lstStyle/>
          <a:p>
            <a:pPr marL="342900" indent="-342900">
              <a:spcAft>
                <a:spcPts val="900"/>
              </a:spcAft>
              <a:buSzPct val="100000"/>
              <a:buChar char="•"/>
            </a:pPr>
            <a:r>
              <a:rPr lang="en-US" sz="1350" b="1" dirty="0">
                <a:solidFill>
                  <a:srgbClr val="1B1F2A"/>
                </a:solidFill>
                <a:latin typeface="Calibri" pitchFamily="34" charset="0"/>
                <a:ea typeface="Calibri" pitchFamily="34" charset="-122"/>
                <a:cs typeface="Calibri" pitchFamily="34" charset="-120"/>
              </a:rPr>
              <a:t>BING vs Selective Search and EdgeBoxes: </a:t>
            </a:r>
            <a:r>
              <a:rPr lang="en-US" sz="1350" dirty="0">
                <a:solidFill>
                  <a:srgbClr val="5B6270"/>
                </a:solidFill>
                <a:latin typeface="Calibri" pitchFamily="34" charset="0"/>
                <a:ea typeface="Calibri" pitchFamily="34" charset="-122"/>
                <a:cs typeface="Calibri" pitchFamily="34" charset="-120"/>
              </a:rPr>
              <a:t>BING finds the most objects in the top 1000 (94.0% vs 89.2% and 91.6%) and is 15–77× faster, but its boxes are looser (MABO 0.65 vs 0.72 and 0.75).</a:t>
            </a:r>
            <a:endParaRPr lang="en-US" sz="1350" dirty="0"/>
          </a:p>
          <a:p>
            <a:pPr marL="342900" indent="-342900">
              <a:spcAft>
                <a:spcPts val="900"/>
              </a:spcAft>
              <a:buSzPct val="100000"/>
              <a:buChar char="•"/>
            </a:pPr>
            <a:r>
              <a:rPr lang="en-US" sz="1350" b="1" dirty="0">
                <a:solidFill>
                  <a:srgbClr val="1B1F2A"/>
                </a:solidFill>
                <a:latin typeface="Calibri" pitchFamily="34" charset="0"/>
                <a:ea typeface="Calibri" pitchFamily="34" charset="-122"/>
                <a:cs typeface="Calibri" pitchFamily="34" charset="-120"/>
              </a:rPr>
              <a:t>Ours vs the authors' code: </a:t>
            </a:r>
            <a:r>
              <a:rPr lang="en-US" sz="1350" dirty="0">
                <a:solidFill>
                  <a:srgbClr val="5B6270"/>
                </a:solidFill>
                <a:latin typeface="Calibri" pitchFamily="34" charset="0"/>
                <a:ea typeface="Calibri" pitchFamily="34" charset="-122"/>
                <a:cs typeface="Calibri" pitchFamily="34" charset="-120"/>
              </a:rPr>
              <a:t>same accuracy on VOC; ours generalises better to real photos when trained on synthetic data, and is faster on one thread (98 vs 76 img/s).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5 · RESULT ANALYSIS</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Two details the paper leaves out</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12</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2286000"/>
        </p:xfrm>
        <a:graphic>
          <a:graphicData uri="http://schemas.openxmlformats.org/drawingml/2006/table">
            <a:tbl>
              <a:tblPr/>
              <a:tblGrid>
                <a:gridCol w="4206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Our BING on VOC 2007</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1A24"/>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DR@1k</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1A24"/>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DR@5k</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1A24"/>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MABO</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1A24"/>
                    </a:solidFill>
                  </a:tcPr>
                </a:tc>
                <a:extLst>
                  <a:ext uri="{0D108BD9-81ED-4DB2-BD59-A6C34878D82A}">
                    <a16:rowId xmlns:a16="http://schemas.microsoft.com/office/drawing/2014/main" val="10000"/>
                  </a:ext>
                </a:extLst>
              </a:tr>
              <a:tr h="457200">
                <a:tc>
                  <a:txBody>
                    <a:bodyPr/>
                    <a:lstStyle/>
                    <a:p>
                      <a:pPr marL="0" indent="0" algn="l">
                        <a:buNone/>
                      </a:pPr>
                      <a:r>
                        <a:rPr lang="en-US" sz="1250" dirty="0">
                          <a:solidFill>
                            <a:srgbClr val="1B1F2A"/>
                          </a:solidFill>
                          <a:latin typeface="Calibri" pitchFamily="34" charset="0"/>
                          <a:ea typeface="Calibri" pitchFamily="34" charset="-122"/>
                          <a:cs typeface="Calibri" pitchFamily="34" charset="-120"/>
                        </a:rPr>
                        <a:t>Paper's text: sizes 10–320, local-max NMS (first version)</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1F2A"/>
                          </a:solidFill>
                          <a:latin typeface="Calibri" pitchFamily="34" charset="0"/>
                          <a:ea typeface="Calibri" pitchFamily="34" charset="-122"/>
                          <a:cs typeface="Calibri" pitchFamily="34" charset="-120"/>
                        </a:rPr>
                        <a:t>75.1%</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1F2A"/>
                          </a:solidFill>
                          <a:latin typeface="Calibri" pitchFamily="34" charset="0"/>
                          <a:ea typeface="Calibri" pitchFamily="34" charset="-122"/>
                          <a:cs typeface="Calibri" pitchFamily="34" charset="-120"/>
                        </a:rPr>
                        <a:t>75.8%</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1F2A"/>
                          </a:solidFill>
                          <a:latin typeface="Calibri" pitchFamily="34" charset="0"/>
                          <a:ea typeface="Calibri" pitchFamily="34" charset="-122"/>
                          <a:cs typeface="Calibri" pitchFamily="34" charset="-120"/>
                        </a:rPr>
                        <a:t>0.576</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50" dirty="0">
                          <a:solidFill>
                            <a:srgbClr val="1B1F2A"/>
                          </a:solidFill>
                          <a:latin typeface="Calibri" pitchFamily="34" charset="0"/>
                          <a:ea typeface="Calibri" pitchFamily="34" charset="-122"/>
                          <a:cs typeface="Calibri" pitchFamily="34" charset="-120"/>
                        </a:rPr>
                        <a:t>+ released code's window sizes (16–512, clipped)</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250" dirty="0">
                          <a:solidFill>
                            <a:srgbClr val="1B1F2A"/>
                          </a:solidFill>
                          <a:latin typeface="Calibri" pitchFamily="34" charset="0"/>
                          <a:ea typeface="Calibri" pitchFamily="34" charset="-122"/>
                          <a:cs typeface="Calibri" pitchFamily="34" charset="-120"/>
                        </a:rPr>
                        <a:t>79.2%</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250" dirty="0">
                          <a:solidFill>
                            <a:srgbClr val="1B1F2A"/>
                          </a:solidFill>
                          <a:latin typeface="Calibri" pitchFamily="34" charset="0"/>
                          <a:ea typeface="Calibri" pitchFamily="34" charset="-122"/>
                          <a:cs typeface="Calibri" pitchFamily="34" charset="-120"/>
                        </a:rPr>
                        <a:t>79.7%</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tc>
                  <a:txBody>
                    <a:bodyPr/>
                    <a:lstStyle/>
                    <a:p>
                      <a:pPr marL="0" indent="0" algn="ctr">
                        <a:buNone/>
                      </a:pPr>
                      <a:r>
                        <a:rPr lang="en-US" sz="1250" dirty="0">
                          <a:solidFill>
                            <a:srgbClr val="1B1F2A"/>
                          </a:solidFill>
                          <a:latin typeface="Calibri" pitchFamily="34" charset="0"/>
                          <a:ea typeface="Calibri" pitchFamily="34" charset="-122"/>
                          <a:cs typeface="Calibri" pitchFamily="34" charset="-120"/>
                        </a:rPr>
                        <a:t>0.607</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1F4F7"/>
                    </a:solidFill>
                  </a:tcPr>
                </a:tc>
                <a:extLst>
                  <a:ext uri="{0D108BD9-81ED-4DB2-BD59-A6C34878D82A}">
                    <a16:rowId xmlns:a16="http://schemas.microsoft.com/office/drawing/2014/main" val="10002"/>
                  </a:ext>
                </a:extLst>
              </a:tr>
              <a:tr h="457200">
                <a:tc>
                  <a:txBody>
                    <a:bodyPr/>
                    <a:lstStyle/>
                    <a:p>
                      <a:pPr marL="0" indent="0" algn="l">
                        <a:buNone/>
                      </a:pPr>
                      <a:r>
                        <a:rPr lang="en-US" sz="1250" dirty="0">
                          <a:solidFill>
                            <a:srgbClr val="1B1F2A"/>
                          </a:solidFill>
                          <a:latin typeface="Calibri" pitchFamily="34" charset="0"/>
                          <a:ea typeface="Calibri" pitchFamily="34" charset="-122"/>
                          <a:cs typeface="Calibri" pitchFamily="34" charset="-120"/>
                        </a:rPr>
                        <a:t>+ released code's greedy NMS only</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1F2A"/>
                          </a:solidFill>
                          <a:latin typeface="Calibri" pitchFamily="34" charset="0"/>
                          <a:ea typeface="Calibri" pitchFamily="34" charset="-122"/>
                          <a:cs typeface="Calibri" pitchFamily="34" charset="-120"/>
                        </a:rPr>
                        <a:t>92.2%</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1F2A"/>
                          </a:solidFill>
                          <a:latin typeface="Calibri" pitchFamily="34" charset="0"/>
                          <a:ea typeface="Calibri" pitchFamily="34" charset="-122"/>
                          <a:cs typeface="Calibri" pitchFamily="34" charset="-120"/>
                        </a:rPr>
                        <a:t>94.4%</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1F2A"/>
                          </a:solidFill>
                          <a:latin typeface="Calibri" pitchFamily="34" charset="0"/>
                          <a:ea typeface="Calibri" pitchFamily="34" charset="-122"/>
                          <a:cs typeface="Calibri" pitchFamily="34" charset="-120"/>
                        </a:rPr>
                        <a:t>0.621</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50" b="1" dirty="0">
                          <a:solidFill>
                            <a:srgbClr val="1B1F2A"/>
                          </a:solidFill>
                          <a:latin typeface="Calibri" pitchFamily="34" charset="0"/>
                          <a:ea typeface="Calibri" pitchFamily="34" charset="-122"/>
                          <a:cs typeface="Calibri" pitchFamily="34" charset="-120"/>
                        </a:rPr>
                        <a:t>Both (final)</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DF1E8"/>
                    </a:solidFill>
                  </a:tcPr>
                </a:tc>
                <a:tc>
                  <a:txBody>
                    <a:bodyPr/>
                    <a:lstStyle/>
                    <a:p>
                      <a:pPr marL="0" indent="0" algn="ctr">
                        <a:buNone/>
                      </a:pPr>
                      <a:r>
                        <a:rPr lang="en-US" sz="1250" b="1" dirty="0">
                          <a:solidFill>
                            <a:srgbClr val="1B1F2A"/>
                          </a:solidFill>
                          <a:latin typeface="Calibri" pitchFamily="34" charset="0"/>
                          <a:ea typeface="Calibri" pitchFamily="34" charset="-122"/>
                          <a:cs typeface="Calibri" pitchFamily="34" charset="-120"/>
                        </a:rPr>
                        <a:t>94.0%</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DF1E8"/>
                    </a:solidFill>
                  </a:tcPr>
                </a:tc>
                <a:tc>
                  <a:txBody>
                    <a:bodyPr/>
                    <a:lstStyle/>
                    <a:p>
                      <a:pPr marL="0" indent="0" algn="ctr">
                        <a:buNone/>
                      </a:pPr>
                      <a:r>
                        <a:rPr lang="en-US" sz="1250" b="1" dirty="0">
                          <a:solidFill>
                            <a:srgbClr val="1B1F2A"/>
                          </a:solidFill>
                          <a:latin typeface="Calibri" pitchFamily="34" charset="0"/>
                          <a:ea typeface="Calibri" pitchFamily="34" charset="-122"/>
                          <a:cs typeface="Calibri" pitchFamily="34" charset="-120"/>
                        </a:rPr>
                        <a:t>96.0%</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DF1E8"/>
                    </a:solidFill>
                  </a:tcPr>
                </a:tc>
                <a:tc>
                  <a:txBody>
                    <a:bodyPr/>
                    <a:lstStyle/>
                    <a:p>
                      <a:pPr marL="0" indent="0" algn="ctr">
                        <a:buNone/>
                      </a:pPr>
                      <a:r>
                        <a:rPr lang="en-US" sz="1250" b="1" dirty="0">
                          <a:solidFill>
                            <a:srgbClr val="1B1F2A"/>
                          </a:solidFill>
                          <a:latin typeface="Calibri" pitchFamily="34" charset="0"/>
                          <a:ea typeface="Calibri" pitchFamily="34" charset="-122"/>
                          <a:cs typeface="Calibri" pitchFamily="34" charset="-120"/>
                        </a:rPr>
                        <a:t>0.651</a:t>
                      </a:r>
                      <a:endParaRPr lang="en-US" sz="1250" dirty="0">
                        <a:latin typeface="Calibri" charset="0"/>
                        <a:ea typeface="Calibri" charset="0"/>
                        <a:cs typeface="Calibri" charset="0"/>
                      </a:endParaRPr>
                    </a:p>
                  </a:txBody>
                  <a:tcP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DF1E8"/>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7772400" y="1463040"/>
            <a:ext cx="4023360" cy="3108960"/>
          </a:xfrm>
          <a:prstGeom prst="rect">
            <a:avLst/>
          </a:prstGeom>
          <a:noFill/>
          <a:ln/>
        </p:spPr>
        <p:txBody>
          <a:bodyPr wrap="square" lIns="0" tIns="0" rIns="0" bIns="0" rtlCol="0" anchor="t"/>
          <a:lstStyle/>
          <a:p>
            <a:pPr marL="342900" indent="-342900">
              <a:spcAft>
                <a:spcPts val="900"/>
              </a:spcAft>
              <a:buSzPct val="100000"/>
              <a:buChar char="•"/>
            </a:pPr>
            <a:r>
              <a:rPr lang="en-US" sz="1300" b="1" dirty="0">
                <a:solidFill>
                  <a:srgbClr val="1B1F2A"/>
                </a:solidFill>
                <a:latin typeface="Calibri" pitchFamily="34" charset="0"/>
                <a:ea typeface="Calibri" pitchFamily="34" charset="-122"/>
                <a:cs typeface="Calibri" pitchFamily="34" charset="-120"/>
              </a:rPr>
              <a:t>Window sizes: </a:t>
            </a:r>
            <a:r>
              <a:rPr lang="en-US" sz="1300" dirty="0">
                <a:solidFill>
                  <a:srgbClr val="5B6270"/>
                </a:solidFill>
                <a:latin typeface="Calibri" pitchFamily="34" charset="0"/>
                <a:ea typeface="Calibri" pitchFamily="34" charset="-122"/>
                <a:cs typeface="Calibri" pitchFamily="34" charset="-120"/>
              </a:rPr>
              <a:t>the paper lists 10…320; the released code uses 16…512 and clips windows to the image, so near full-image boxes exist. VOC is full of large objects.</a:t>
            </a:r>
            <a:endParaRPr lang="en-US" sz="1300" dirty="0"/>
          </a:p>
          <a:p>
            <a:pPr marL="342900" indent="-342900">
              <a:spcAft>
                <a:spcPts val="900"/>
              </a:spcAft>
              <a:buSzPct val="100000"/>
              <a:buChar char="•"/>
            </a:pPr>
            <a:r>
              <a:rPr lang="en-US" sz="1300" b="1" dirty="0">
                <a:solidFill>
                  <a:srgbClr val="1B1F2A"/>
                </a:solidFill>
                <a:latin typeface="Calibri" pitchFamily="34" charset="0"/>
                <a:ea typeface="Calibri" pitchFamily="34" charset="-122"/>
                <a:cs typeface="Calibri" pitchFamily="34" charset="-120"/>
              </a:rPr>
              <a:t>Suppression: </a:t>
            </a:r>
            <a:r>
              <a:rPr lang="en-US" sz="1300" dirty="0">
                <a:solidFill>
                  <a:srgbClr val="5B6270"/>
                </a:solidFill>
                <a:latin typeface="Calibri" pitchFamily="34" charset="0"/>
                <a:ea typeface="Calibri" pitchFamily="34" charset="-122"/>
                <a:cs typeface="Calibri" pitchFamily="34" charset="-120"/>
              </a:rPr>
              <a:t>keeping only local maxima of each score map throws away good windows; the code's greedy suppression keeps the best 130 spread-out windows per size.</a:t>
            </a:r>
            <a:endParaRPr lang="en-US" sz="1300" dirty="0"/>
          </a:p>
          <a:p>
            <a:pPr marL="342900" indent="-342900">
              <a:spcAft>
                <a:spcPts val="900"/>
              </a:spcAft>
              <a:buSzPct val="100000"/>
              <a:buChar char="•"/>
            </a:pPr>
            <a:r>
              <a:rPr lang="en-US" sz="1300" b="1" dirty="0">
                <a:solidFill>
                  <a:srgbClr val="1B1F2A"/>
                </a:solidFill>
                <a:latin typeface="Calibri" pitchFamily="34" charset="0"/>
                <a:ea typeface="Calibri" pitchFamily="34" charset="-122"/>
                <a:cs typeface="Calibri" pitchFamily="34" charset="-120"/>
              </a:rPr>
              <a:t>Lesson: </a:t>
            </a:r>
            <a:r>
              <a:rPr lang="en-US" sz="1300" dirty="0">
                <a:solidFill>
                  <a:srgbClr val="5B6270"/>
                </a:solidFill>
                <a:latin typeface="Calibri" pitchFamily="34" charset="0"/>
                <a:ea typeface="Calibri" pitchFamily="34" charset="-122"/>
                <a:cs typeface="Calibri" pitchFamily="34" charset="-120"/>
              </a:rPr>
              <a:t>reproducing a paper needs its code, not just its text.</a:t>
            </a:r>
            <a:endParaRPr lang="en-US" sz="1300" dirty="0"/>
          </a:p>
        </p:txBody>
      </p:sp>
      <p:pic>
        <p:nvPicPr>
          <p:cNvPr id="7" name="Image 0" descr="/home/user/cvprojectg10/results/figures/voc_per_class.png"/>
          <p:cNvPicPr>
            <a:picLocks noChangeAspect="1"/>
          </p:cNvPicPr>
          <p:nvPr/>
        </p:nvPicPr>
        <p:blipFill>
          <a:blip r:embed="rId3"/>
          <a:srcRect/>
          <a:stretch/>
        </p:blipFill>
        <p:spPr>
          <a:xfrm>
            <a:off x="457200" y="3931920"/>
            <a:ext cx="11247120" cy="2514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5 · RESULT ANALYSIS</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Novelty result: more objects, found sooner</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13</a:t>
            </a:r>
            <a:endParaRPr lang="en-US" sz="1000" dirty="0"/>
          </a:p>
        </p:txBody>
      </p:sp>
      <p:pic>
        <p:nvPicPr>
          <p:cNvPr id="5" name="Image 0" descr="Recall of BING with and without multi-cue re-ranking on VOC 2007, by object size, and cue ablation"/>
          <p:cNvPicPr>
            <a:picLocks noChangeAspect="1"/>
          </p:cNvPicPr>
          <p:nvPr/>
        </p:nvPicPr>
        <p:blipFill>
          <a:blip r:embed="rId3"/>
          <a:srcRect/>
          <a:stretch/>
        </p:blipFill>
        <p:spPr>
          <a:xfrm>
            <a:off x="365760" y="1417320"/>
            <a:ext cx="7680960" cy="2411414"/>
          </a:xfrm>
          <a:prstGeom prst="rect">
            <a:avLst/>
          </a:prstGeom>
        </p:spPr>
      </p:pic>
      <p:sp>
        <p:nvSpPr>
          <p:cNvPr id="6" name="Text 3"/>
          <p:cNvSpPr txBox="1"/>
          <p:nvPr/>
        </p:nvSpPr>
        <p:spPr>
          <a:xfrm>
            <a:off x="8321040" y="1463040"/>
            <a:ext cx="3474720" cy="822960"/>
          </a:xfrm>
          <a:prstGeom prst="rect">
            <a:avLst/>
          </a:prstGeom>
          <a:noFill/>
          <a:ln/>
        </p:spPr>
        <p:txBody>
          <a:bodyPr wrap="square" lIns="0" tIns="0" rIns="0" bIns="0" rtlCol="0" anchor="ctr"/>
          <a:lstStyle/>
          <a:p>
            <a:pPr marL="0" indent="0">
              <a:buNone/>
            </a:pPr>
            <a:r>
              <a:rPr lang="en-US" sz="4400" b="1" dirty="0">
                <a:solidFill>
                  <a:srgbClr val="E8772E"/>
                </a:solidFill>
                <a:latin typeface="Cambria" pitchFamily="34" charset="0"/>
                <a:ea typeface="Cambria" pitchFamily="34" charset="-122"/>
                <a:cs typeface="Cambria" pitchFamily="34" charset="-120"/>
              </a:rPr>
              <a:t>71.0%</a:t>
            </a:r>
            <a:endParaRPr lang="en-US" sz="4400" dirty="0"/>
          </a:p>
        </p:txBody>
      </p:sp>
      <p:sp>
        <p:nvSpPr>
          <p:cNvPr id="7" name="Text 4"/>
          <p:cNvSpPr txBox="1"/>
          <p:nvPr/>
        </p:nvSpPr>
        <p:spPr>
          <a:xfrm>
            <a:off x="8321040" y="2286000"/>
            <a:ext cx="3474720" cy="548640"/>
          </a:xfrm>
          <a:prstGeom prst="rect">
            <a:avLst/>
          </a:prstGeom>
          <a:noFill/>
          <a:ln/>
        </p:spPr>
        <p:txBody>
          <a:bodyPr wrap="square" lIns="0" tIns="0" rIns="0" bIns="0" rtlCol="0" anchor="t"/>
          <a:lstStyle/>
          <a:p>
            <a:pPr marL="0" indent="0">
              <a:buNone/>
            </a:pPr>
            <a:r>
              <a:rPr lang="en-US" sz="1500" dirty="0">
                <a:solidFill>
                  <a:srgbClr val="5B6270"/>
                </a:solidFill>
                <a:latin typeface="Calibri" pitchFamily="34" charset="0"/>
                <a:ea typeface="Calibri" pitchFamily="34" charset="-122"/>
                <a:cs typeface="Calibri" pitchFamily="34" charset="-120"/>
              </a:rPr>
              <a:t>objects found in the top 100 (BING alone: 67.2%)</a:t>
            </a:r>
            <a:endParaRPr lang="en-US" sz="1500" dirty="0"/>
          </a:p>
        </p:txBody>
      </p:sp>
      <p:sp>
        <p:nvSpPr>
          <p:cNvPr id="8" name="Text 5"/>
          <p:cNvSpPr txBox="1"/>
          <p:nvPr/>
        </p:nvSpPr>
        <p:spPr>
          <a:xfrm>
            <a:off x="8321040" y="2834640"/>
            <a:ext cx="3474720" cy="822960"/>
          </a:xfrm>
          <a:prstGeom prst="rect">
            <a:avLst/>
          </a:prstGeom>
          <a:noFill/>
          <a:ln/>
        </p:spPr>
        <p:txBody>
          <a:bodyPr wrap="square" lIns="0" tIns="0" rIns="0" bIns="0" rtlCol="0" anchor="ctr"/>
          <a:lstStyle/>
          <a:p>
            <a:pPr marL="0" indent="0">
              <a:buNone/>
            </a:pPr>
            <a:r>
              <a:rPr lang="en-US" sz="4400" b="1" dirty="0">
                <a:solidFill>
                  <a:srgbClr val="1C7293"/>
                </a:solidFill>
                <a:latin typeface="Cambria" pitchFamily="34" charset="0"/>
                <a:ea typeface="Cambria" pitchFamily="34" charset="-122"/>
                <a:cs typeface="Cambria" pitchFamily="34" charset="-120"/>
              </a:rPr>
              <a:t>53.3%</a:t>
            </a:r>
            <a:endParaRPr lang="en-US" sz="4400" dirty="0"/>
          </a:p>
        </p:txBody>
      </p:sp>
      <p:sp>
        <p:nvSpPr>
          <p:cNvPr id="9" name="Text 6"/>
          <p:cNvSpPr txBox="1"/>
          <p:nvPr/>
        </p:nvSpPr>
        <p:spPr>
          <a:xfrm>
            <a:off x="8321040" y="3657600"/>
            <a:ext cx="3474720" cy="548640"/>
          </a:xfrm>
          <a:prstGeom prst="rect">
            <a:avLst/>
          </a:prstGeom>
          <a:noFill/>
          <a:ln/>
        </p:spPr>
        <p:txBody>
          <a:bodyPr wrap="square" lIns="0" tIns="0" rIns="0" bIns="0" rtlCol="0" anchor="t"/>
          <a:lstStyle/>
          <a:p>
            <a:pPr marL="0" indent="0">
              <a:buNone/>
            </a:pPr>
            <a:r>
              <a:rPr lang="en-US" sz="1500" dirty="0">
                <a:solidFill>
                  <a:srgbClr val="5B6270"/>
                </a:solidFill>
                <a:latin typeface="Calibri" pitchFamily="34" charset="0"/>
                <a:ea typeface="Calibri" pitchFamily="34" charset="-122"/>
                <a:cs typeface="Calibri" pitchFamily="34" charset="-120"/>
              </a:rPr>
              <a:t>small objects found in the top 1000 (BING alone: 39.3%)</a:t>
            </a:r>
            <a:endParaRPr lang="en-US" sz="1500" dirty="0"/>
          </a:p>
        </p:txBody>
      </p:sp>
      <p:sp>
        <p:nvSpPr>
          <p:cNvPr id="10" name="Text 7"/>
          <p:cNvSpPr txBox="1"/>
          <p:nvPr/>
        </p:nvSpPr>
        <p:spPr>
          <a:xfrm>
            <a:off x="8321040" y="4206240"/>
            <a:ext cx="3474720" cy="822960"/>
          </a:xfrm>
          <a:prstGeom prst="rect">
            <a:avLst/>
          </a:prstGeom>
          <a:noFill/>
          <a:ln/>
        </p:spPr>
        <p:txBody>
          <a:bodyPr wrap="square" lIns="0" tIns="0" rIns="0" bIns="0" rtlCol="0" anchor="ctr"/>
          <a:lstStyle/>
          <a:p>
            <a:pPr marL="0" indent="0">
              <a:buNone/>
            </a:pPr>
            <a:r>
              <a:rPr lang="en-US" sz="4400" b="1" dirty="0">
                <a:solidFill>
                  <a:srgbClr val="5B6270"/>
                </a:solidFill>
                <a:latin typeface="Cambria" pitchFamily="34" charset="0"/>
                <a:ea typeface="Cambria" pitchFamily="34" charset="-122"/>
                <a:cs typeface="Cambria" pitchFamily="34" charset="-120"/>
              </a:rPr>
              <a:t>94.7%</a:t>
            </a:r>
            <a:endParaRPr lang="en-US" sz="4400" dirty="0"/>
          </a:p>
        </p:txBody>
      </p:sp>
      <p:sp>
        <p:nvSpPr>
          <p:cNvPr id="11" name="Text 8"/>
          <p:cNvSpPr txBox="1"/>
          <p:nvPr/>
        </p:nvSpPr>
        <p:spPr>
          <a:xfrm>
            <a:off x="8321040" y="5029200"/>
            <a:ext cx="3474720" cy="548640"/>
          </a:xfrm>
          <a:prstGeom prst="rect">
            <a:avLst/>
          </a:prstGeom>
          <a:noFill/>
          <a:ln/>
        </p:spPr>
        <p:txBody>
          <a:bodyPr wrap="square" lIns="0" tIns="0" rIns="0" bIns="0" rtlCol="0" anchor="t"/>
          <a:lstStyle/>
          <a:p>
            <a:pPr marL="0" indent="0">
              <a:buNone/>
            </a:pPr>
            <a:r>
              <a:rPr lang="en-US" sz="1500" dirty="0">
                <a:solidFill>
                  <a:srgbClr val="5B6270"/>
                </a:solidFill>
                <a:latin typeface="Calibri" pitchFamily="34" charset="0"/>
                <a:ea typeface="Calibri" pitchFamily="34" charset="-122"/>
                <a:cs typeface="Calibri" pitchFamily="34" charset="-120"/>
              </a:rPr>
              <a:t>objects found in the top 1000 (BING alone: 94.0%)</a:t>
            </a:r>
            <a:endParaRPr lang="en-US" sz="1500" dirty="0"/>
          </a:p>
        </p:txBody>
      </p:sp>
      <p:sp>
        <p:nvSpPr>
          <p:cNvPr id="12" name="Text 9"/>
          <p:cNvSpPr txBox="1"/>
          <p:nvPr/>
        </p:nvSpPr>
        <p:spPr>
          <a:xfrm>
            <a:off x="548640" y="4103054"/>
            <a:ext cx="7498080" cy="2206306"/>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rgbClr val="1B1F2A"/>
                </a:solidFill>
                <a:latin typeface="Calibri" pitchFamily="34" charset="0"/>
                <a:ea typeface="Calibri" pitchFamily="34" charset="-122"/>
                <a:cs typeface="Calibri" pitchFamily="34" charset="-120"/>
              </a:rPr>
              <a:t>Edge density is the key cue for small objects: </a:t>
            </a:r>
            <a:r>
              <a:rPr lang="en-US" sz="1500" dirty="0">
                <a:solidFill>
                  <a:srgbClr val="5B6270"/>
                </a:solidFill>
                <a:latin typeface="Calibri" pitchFamily="34" charset="0"/>
                <a:ea typeface="Calibri" pitchFamily="34" charset="-122"/>
                <a:cs typeface="Calibri" pitchFamily="34" charset="-120"/>
              </a:rPr>
              <a:t>without it, small-object recall falls from 53.3% to 45.0%.</a:t>
            </a:r>
            <a:endParaRPr lang="en-US" sz="1500" dirty="0"/>
          </a:p>
          <a:p>
            <a:pPr marL="342900" indent="-342900">
              <a:spcAft>
                <a:spcPts val="600"/>
              </a:spcAft>
              <a:buSzPct val="100000"/>
              <a:buChar char="•"/>
            </a:pPr>
            <a:r>
              <a:rPr lang="en-US" sz="1500" b="1" dirty="0">
                <a:solidFill>
                  <a:srgbClr val="1B1F2A"/>
                </a:solidFill>
                <a:latin typeface="Calibri" pitchFamily="34" charset="0"/>
                <a:ea typeface="Calibri" pitchFamily="34" charset="-122"/>
                <a:cs typeface="Calibri" pitchFamily="34" charset="-120"/>
              </a:rPr>
              <a:t>Cost: </a:t>
            </a:r>
            <a:r>
              <a:rPr lang="en-US" sz="1500" dirty="0">
                <a:solidFill>
                  <a:srgbClr val="5B6270"/>
                </a:solidFill>
                <a:latin typeface="Calibri" pitchFamily="34" charset="0"/>
                <a:ea typeface="Calibri" pitchFamily="34" charset="-122"/>
                <a:cs typeface="Calibri" pitchFamily="34" charset="-120"/>
              </a:rPr>
              <a:t>17 instead of 10 ms per image on one thread, still 46× faster than Selective Search.</a:t>
            </a:r>
            <a:endParaRPr lang="en-US" sz="1500" dirty="0"/>
          </a:p>
          <a:p>
            <a:pPr marL="342900" indent="-342900">
              <a:spcAft>
                <a:spcPts val="600"/>
              </a:spcAft>
              <a:buSzPct val="100000"/>
              <a:buChar char="•"/>
            </a:pPr>
            <a:r>
              <a:rPr lang="en-US" sz="1500" b="1" dirty="0">
                <a:solidFill>
                  <a:srgbClr val="1B1F2A"/>
                </a:solidFill>
                <a:latin typeface="Calibri" pitchFamily="34" charset="0"/>
                <a:ea typeface="Calibri" pitchFamily="34" charset="-122"/>
                <a:cs typeface="Calibri" pitchFamily="34" charset="-120"/>
              </a:rPr>
              <a:t>Tried and rejected: </a:t>
            </a:r>
            <a:r>
              <a:rPr lang="en-US" sz="1500" dirty="0">
                <a:solidFill>
                  <a:srgbClr val="5B6270"/>
                </a:solidFill>
                <a:latin typeface="Calibri" pitchFamily="34" charset="0"/>
                <a:ea typeface="Calibri" pitchFamily="34" charset="-122"/>
                <a:cs typeface="Calibri" pitchFamily="34" charset="-120"/>
              </a:rPr>
              <a:t>snapping box edges to strong gradients and adding finer window sizes; neither raised recall on the full test set.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5 · RESULT ANALYSIS</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A complete detector built on our proposals</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14</a:t>
            </a:r>
            <a:endParaRPr lang="en-US" sz="1000" dirty="0"/>
          </a:p>
        </p:txBody>
      </p:sp>
      <p:pic>
        <p:nvPicPr>
          <p:cNvPr id="5" name="Image 0" descr="VOC 2007 mAP of the HOG + SVM detector for each source of windows, and AP per class"/>
          <p:cNvPicPr>
            <a:picLocks noChangeAspect="1"/>
          </p:cNvPicPr>
          <p:nvPr/>
        </p:nvPicPr>
        <p:blipFill>
          <a:blip r:embed="rId3"/>
          <a:srcRect/>
          <a:stretch/>
        </p:blipFill>
        <p:spPr>
          <a:xfrm>
            <a:off x="365760" y="1417320"/>
            <a:ext cx="7680960" cy="2671638"/>
          </a:xfrm>
          <a:prstGeom prst="rect">
            <a:avLst/>
          </a:prstGeom>
        </p:spPr>
      </p:pic>
      <p:sp>
        <p:nvSpPr>
          <p:cNvPr id="6" name="Text 3"/>
          <p:cNvSpPr txBox="1"/>
          <p:nvPr/>
        </p:nvSpPr>
        <p:spPr>
          <a:xfrm>
            <a:off x="8321040" y="1463040"/>
            <a:ext cx="3474720" cy="822960"/>
          </a:xfrm>
          <a:prstGeom prst="rect">
            <a:avLst/>
          </a:prstGeom>
          <a:noFill/>
          <a:ln/>
        </p:spPr>
        <p:txBody>
          <a:bodyPr wrap="square" lIns="0" tIns="0" rIns="0" bIns="0" rtlCol="0" anchor="ctr"/>
          <a:lstStyle/>
          <a:p>
            <a:pPr marL="0" indent="0">
              <a:buNone/>
            </a:pPr>
            <a:r>
              <a:rPr lang="en-US" sz="4400" b="1" dirty="0">
                <a:solidFill>
                  <a:srgbClr val="E8772E"/>
                </a:solidFill>
                <a:latin typeface="Cambria" pitchFamily="34" charset="0"/>
                <a:ea typeface="Cambria" pitchFamily="34" charset="-122"/>
                <a:cs typeface="Cambria" pitchFamily="34" charset="-120"/>
              </a:rPr>
              <a:t>19.1%</a:t>
            </a:r>
            <a:endParaRPr lang="en-US" sz="4400" dirty="0"/>
          </a:p>
        </p:txBody>
      </p:sp>
      <p:sp>
        <p:nvSpPr>
          <p:cNvPr id="7" name="Text 4"/>
          <p:cNvSpPr txBox="1"/>
          <p:nvPr/>
        </p:nvSpPr>
        <p:spPr>
          <a:xfrm>
            <a:off x="8321040" y="2286000"/>
            <a:ext cx="3474720" cy="548640"/>
          </a:xfrm>
          <a:prstGeom prst="rect">
            <a:avLst/>
          </a:prstGeom>
          <a:noFill/>
          <a:ln/>
        </p:spPr>
        <p:txBody>
          <a:bodyPr wrap="square" lIns="0" tIns="0" rIns="0" bIns="0" rtlCol="0" anchor="t"/>
          <a:lstStyle/>
          <a:p>
            <a:pPr marL="0" indent="0">
              <a:buNone/>
            </a:pPr>
            <a:r>
              <a:rPr lang="en-US" sz="1500" dirty="0">
                <a:solidFill>
                  <a:srgbClr val="5B6270"/>
                </a:solidFill>
                <a:latin typeface="Calibri" pitchFamily="34" charset="0"/>
                <a:ea typeface="Calibri" pitchFamily="34" charset="-122"/>
                <a:cs typeface="Calibri" pitchFamily="34" charset="-120"/>
              </a:rPr>
              <a:t>mAP, CNN detector on our re-ranked top 100 (HOG: 7.4%)</a:t>
            </a:r>
            <a:endParaRPr lang="en-US" sz="1500" dirty="0"/>
          </a:p>
        </p:txBody>
      </p:sp>
      <p:sp>
        <p:nvSpPr>
          <p:cNvPr id="8" name="Text 5"/>
          <p:cNvSpPr txBox="1"/>
          <p:nvPr/>
        </p:nvSpPr>
        <p:spPr>
          <a:xfrm>
            <a:off x="8321040" y="2834640"/>
            <a:ext cx="3474720" cy="822960"/>
          </a:xfrm>
          <a:prstGeom prst="rect">
            <a:avLst/>
          </a:prstGeom>
          <a:noFill/>
          <a:ln/>
        </p:spPr>
        <p:txBody>
          <a:bodyPr wrap="square" lIns="0" tIns="0" rIns="0" bIns="0" rtlCol="0" anchor="ctr"/>
          <a:lstStyle/>
          <a:p>
            <a:pPr marL="0" indent="0">
              <a:buNone/>
            </a:pPr>
            <a:r>
              <a:rPr lang="en-US" sz="4400" b="1" dirty="0">
                <a:solidFill>
                  <a:srgbClr val="1C7293"/>
                </a:solidFill>
                <a:latin typeface="Cambria" pitchFamily="34" charset="0"/>
                <a:ea typeface="Cambria" pitchFamily="34" charset="-122"/>
                <a:cs typeface="Cambria" pitchFamily="34" charset="-120"/>
              </a:rPr>
              <a:t>0.6%</a:t>
            </a:r>
            <a:endParaRPr lang="en-US" sz="4400" dirty="0"/>
          </a:p>
        </p:txBody>
      </p:sp>
      <p:sp>
        <p:nvSpPr>
          <p:cNvPr id="9" name="Text 6"/>
          <p:cNvSpPr txBox="1"/>
          <p:nvPr/>
        </p:nvSpPr>
        <p:spPr>
          <a:xfrm>
            <a:off x="8321040" y="3657600"/>
            <a:ext cx="3474720" cy="548640"/>
          </a:xfrm>
          <a:prstGeom prst="rect">
            <a:avLst/>
          </a:prstGeom>
          <a:noFill/>
          <a:ln/>
        </p:spPr>
        <p:txBody>
          <a:bodyPr wrap="square" lIns="0" tIns="0" rIns="0" bIns="0" rtlCol="0" anchor="t"/>
          <a:lstStyle/>
          <a:p>
            <a:pPr marL="0" indent="0">
              <a:buNone/>
            </a:pPr>
            <a:r>
              <a:rPr lang="en-US" sz="1500" dirty="0">
                <a:solidFill>
                  <a:srgbClr val="5B6270"/>
                </a:solidFill>
                <a:latin typeface="Calibri" pitchFamily="34" charset="0"/>
                <a:ea typeface="Calibri" pitchFamily="34" charset="-122"/>
                <a:cs typeface="Calibri" pitchFamily="34" charset="-120"/>
              </a:rPr>
              <a:t>mAP from 100 sliding windows, same detector (30× lower)</a:t>
            </a:r>
            <a:endParaRPr lang="en-US" sz="1500" dirty="0"/>
          </a:p>
        </p:txBody>
      </p:sp>
      <p:sp>
        <p:nvSpPr>
          <p:cNvPr id="10" name="Text 7"/>
          <p:cNvSpPr txBox="1"/>
          <p:nvPr/>
        </p:nvSpPr>
        <p:spPr>
          <a:xfrm>
            <a:off x="8321040" y="4206240"/>
            <a:ext cx="3474720" cy="822960"/>
          </a:xfrm>
          <a:prstGeom prst="rect">
            <a:avLst/>
          </a:prstGeom>
          <a:noFill/>
          <a:ln/>
        </p:spPr>
        <p:txBody>
          <a:bodyPr wrap="square" lIns="0" tIns="0" rIns="0" bIns="0" rtlCol="0" anchor="ctr"/>
          <a:lstStyle/>
          <a:p>
            <a:pPr marL="0" indent="0">
              <a:buNone/>
            </a:pPr>
            <a:r>
              <a:rPr lang="en-US" sz="4400" b="1" dirty="0">
                <a:solidFill>
                  <a:srgbClr val="5B6270"/>
                </a:solidFill>
                <a:latin typeface="Cambria" pitchFamily="34" charset="0"/>
                <a:ea typeface="Cambria" pitchFamily="34" charset="-122"/>
                <a:cs typeface="Cambria" pitchFamily="34" charset="-120"/>
              </a:rPr>
              <a:t>30%</a:t>
            </a:r>
            <a:endParaRPr lang="en-US" sz="4400" dirty="0"/>
          </a:p>
        </p:txBody>
      </p:sp>
      <p:sp>
        <p:nvSpPr>
          <p:cNvPr id="11" name="Text 8"/>
          <p:cNvSpPr txBox="1"/>
          <p:nvPr/>
        </p:nvSpPr>
        <p:spPr>
          <a:xfrm>
            <a:off x="8321040" y="5029200"/>
            <a:ext cx="3474720" cy="548640"/>
          </a:xfrm>
          <a:prstGeom prst="rect">
            <a:avLst/>
          </a:prstGeom>
          <a:noFill/>
          <a:ln/>
        </p:spPr>
        <p:txBody>
          <a:bodyPr wrap="square" lIns="0" tIns="0" rIns="0" bIns="0" rtlCol="0" anchor="t"/>
          <a:lstStyle/>
          <a:p>
            <a:pPr marL="0" indent="0">
              <a:buNone/>
            </a:pPr>
            <a:r>
              <a:rPr lang="en-US" sz="1500" dirty="0">
                <a:solidFill>
                  <a:srgbClr val="5B6270"/>
                </a:solidFill>
                <a:latin typeface="Calibri" pitchFamily="34" charset="0"/>
                <a:ea typeface="Calibri" pitchFamily="34" charset="-122"/>
                <a:cs typeface="Calibri" pitchFamily="34" charset="-120"/>
              </a:rPr>
              <a:t>of objects covered at IoU ≥ 0.7 by BING's top 1000 (random boxes: 43%)</a:t>
            </a:r>
            <a:endParaRPr lang="en-US" sz="1500" dirty="0"/>
          </a:p>
        </p:txBody>
      </p:sp>
      <p:sp>
        <p:nvSpPr>
          <p:cNvPr id="12" name="Text 9"/>
          <p:cNvSpPr txBox="1"/>
          <p:nvPr/>
        </p:nvSpPr>
        <p:spPr>
          <a:xfrm>
            <a:off x="548640" y="4363278"/>
            <a:ext cx="7498080" cy="1946082"/>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rgbClr val="1B1F2A"/>
                </a:solidFill>
                <a:latin typeface="Calibri" pitchFamily="34" charset="0"/>
                <a:ea typeface="Calibri" pitchFamily="34" charset="-122"/>
                <a:cs typeface="Calibri" pitchFamily="34" charset="-120"/>
              </a:rPr>
              <a:t>Pipeline: </a:t>
            </a:r>
            <a:r>
              <a:rPr lang="en-US" sz="1500" dirty="0">
                <a:solidFill>
                  <a:srgbClr val="5B6270"/>
                </a:solidFill>
                <a:latin typeface="Calibri" pitchFamily="34" charset="0"/>
                <a:ea typeface="Calibri" pitchFamily="34" charset="-122"/>
                <a:cs typeface="Calibri" pitchFamily="34" charset="-120"/>
              </a:rPr>
              <a:t>each window → mean ResNet-50 conv4 + conv5 activations (ImageNet, frozen) → 20 linear SVMs + box regression. A fully handcrafted version (HOG + colour) reaches 7.4%.</a:t>
            </a:r>
            <a:endParaRPr lang="en-US" sz="1500" dirty="0"/>
          </a:p>
          <a:p>
            <a:pPr marL="342900" indent="-342900">
              <a:spcAft>
                <a:spcPts val="600"/>
              </a:spcAft>
              <a:buSzPct val="100000"/>
              <a:buChar char="•"/>
            </a:pPr>
            <a:r>
              <a:rPr lang="en-US" sz="1500" b="1" dirty="0">
                <a:solidFill>
                  <a:srgbClr val="1B1F2A"/>
                </a:solidFill>
                <a:latin typeface="Calibri" pitchFamily="34" charset="0"/>
                <a:ea typeface="Calibri" pitchFamily="34" charset="-122"/>
                <a:cs typeface="Calibri" pitchFamily="34" charset="-120"/>
              </a:rPr>
              <a:t>Finding: </a:t>
            </a:r>
            <a:r>
              <a:rPr lang="en-US" sz="1500" dirty="0">
                <a:solidFill>
                  <a:srgbClr val="5B6270"/>
                </a:solidFill>
                <a:latin typeface="Calibri" pitchFamily="34" charset="0"/>
                <a:ea typeface="Calibri" pitchFamily="34" charset="-122"/>
                <a:cs typeface="Calibri" pitchFamily="34" charset="-120"/>
              </a:rPr>
              <a:t>at 100 windows BING beats random boxes (18.8% vs 13.8%); at 1000, random boxes win (16.0%) because BING's boxes are loose. Hosang et al. (TPAMI 2016): recall at stricter overlaps predicts detection quality.</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5 · RESULT ANALYSIS</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What matters? Ablations and speed</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16</a:t>
            </a:r>
            <a:endParaRPr lang="en-US" sz="1000" dirty="0"/>
          </a:p>
        </p:txBody>
      </p:sp>
      <p:pic>
        <p:nvPicPr>
          <p:cNvPr id="5" name="Image 0" descr="/home/user/cvprojectg10/results/figures/ablations.png"/>
          <p:cNvPicPr>
            <a:picLocks noChangeAspect="1"/>
          </p:cNvPicPr>
          <p:nvPr/>
        </p:nvPicPr>
        <p:blipFill>
          <a:blip r:embed="rId3"/>
          <a:srcRect/>
          <a:stretch/>
        </p:blipFill>
        <p:spPr>
          <a:xfrm>
            <a:off x="457200" y="1325880"/>
            <a:ext cx="6949440" cy="3749040"/>
          </a:xfrm>
          <a:prstGeom prst="rect">
            <a:avLst/>
          </a:prstGeom>
        </p:spPr>
      </p:pic>
      <p:pic>
        <p:nvPicPr>
          <p:cNvPr id="6" name="Image 1" descr="Proposal speed with multi-threading, ours vs the authors C++ code"/>
          <p:cNvPicPr>
            <a:picLocks noChangeAspect="1"/>
          </p:cNvPicPr>
          <p:nvPr/>
        </p:nvPicPr>
        <p:blipFill>
          <a:blip r:embed="rId4"/>
          <a:srcRect/>
          <a:stretch/>
        </p:blipFill>
        <p:spPr>
          <a:xfrm>
            <a:off x="7589520" y="1325880"/>
            <a:ext cx="4206240" cy="2306524"/>
          </a:xfrm>
          <a:prstGeom prst="rect">
            <a:avLst/>
          </a:prstGeom>
        </p:spPr>
      </p:pic>
      <p:sp>
        <p:nvSpPr>
          <p:cNvPr id="7" name="Text 3"/>
          <p:cNvSpPr txBox="1"/>
          <p:nvPr/>
        </p:nvSpPr>
        <p:spPr>
          <a:xfrm>
            <a:off x="7589520" y="3815284"/>
            <a:ext cx="4206240" cy="2539796"/>
          </a:xfrm>
          <a:prstGeom prst="rect">
            <a:avLst/>
          </a:prstGeom>
          <a:noFill/>
          <a:ln/>
        </p:spPr>
        <p:txBody>
          <a:bodyPr wrap="square" lIns="0" tIns="0" rIns="0" bIns="0" rtlCol="0" anchor="t"/>
          <a:lstStyle/>
          <a:p>
            <a:pPr marL="342900" indent="-342900">
              <a:spcAft>
                <a:spcPts val="900"/>
              </a:spcAft>
              <a:buSzPct val="100000"/>
              <a:buChar char="•"/>
            </a:pPr>
            <a:r>
              <a:rPr lang="en-US" sz="1250" b="1" dirty="0">
                <a:solidFill>
                  <a:srgbClr val="1B1F2A"/>
                </a:solidFill>
                <a:latin typeface="Calibri" pitchFamily="34" charset="0"/>
                <a:ea typeface="Calibri" pitchFamily="34" charset="-122"/>
                <a:cs typeface="Calibri" pitchFamily="34" charset="-120"/>
              </a:rPr>
              <a:t>Gradient: </a:t>
            </a:r>
            <a:r>
              <a:rPr lang="en-US" sz="1250" dirty="0">
                <a:solidFill>
                  <a:srgbClr val="5B6270"/>
                </a:solidFill>
                <a:latin typeface="Calibri" pitchFamily="34" charset="0"/>
                <a:ea typeface="Calibri" pitchFamily="34" charset="-122"/>
                <a:cs typeface="Calibri" pitchFamily="34" charset="-120"/>
              </a:rPr>
              <a:t>[-1 0 1] 98.5% ≈ Sobel 99.3%</a:t>
            </a:r>
            <a:endParaRPr lang="en-US" sz="1250" dirty="0"/>
          </a:p>
          <a:p>
            <a:pPr marL="342900" indent="-342900">
              <a:spcAft>
                <a:spcPts val="900"/>
              </a:spcAft>
              <a:buSzPct val="100000"/>
              <a:buChar char="•"/>
            </a:pPr>
            <a:r>
              <a:rPr lang="en-US" sz="1250" b="1" dirty="0">
                <a:solidFill>
                  <a:srgbClr val="1B1F2A"/>
                </a:solidFill>
                <a:latin typeface="Calibri" pitchFamily="34" charset="0"/>
                <a:ea typeface="Calibri" pitchFamily="34" charset="-122"/>
                <a:cs typeface="Calibri" pitchFamily="34" charset="-120"/>
              </a:rPr>
              <a:t>Colour: </a:t>
            </a:r>
            <a:r>
              <a:rPr lang="en-US" sz="1250" dirty="0">
                <a:solidFill>
                  <a:srgbClr val="5B6270"/>
                </a:solidFill>
                <a:latin typeface="Calibri" pitchFamily="34" charset="0"/>
                <a:ea typeface="Calibri" pitchFamily="34" charset="-122"/>
                <a:cs typeface="Calibri" pitchFamily="34" charset="-120"/>
              </a:rPr>
              <a:t>RGB 98.5% &gt; Lab 97.4% &gt; HSV 96.7% &gt; Gray 94.5%</a:t>
            </a:r>
            <a:endParaRPr lang="en-US" sz="1250" dirty="0"/>
          </a:p>
          <a:p>
            <a:pPr marL="342900" indent="-342900">
              <a:spcAft>
                <a:spcPts val="900"/>
              </a:spcAft>
              <a:buSzPct val="100000"/>
              <a:buChar char="•"/>
            </a:pPr>
            <a:r>
              <a:rPr lang="en-US" sz="1250" b="1" dirty="0">
                <a:solidFill>
                  <a:srgbClr val="1B1F2A"/>
                </a:solidFill>
                <a:latin typeface="Calibri" pitchFamily="34" charset="0"/>
                <a:ea typeface="Calibri" pitchFamily="34" charset="-122"/>
                <a:cs typeface="Calibri" pitchFamily="34" charset="-120"/>
              </a:rPr>
              <a:t>Bits: </a:t>
            </a:r>
            <a:r>
              <a:rPr lang="en-US" sz="1250" dirty="0">
                <a:solidFill>
                  <a:srgbClr val="5B6270"/>
                </a:solidFill>
                <a:latin typeface="Calibri" pitchFamily="34" charset="0"/>
                <a:ea typeface="Calibri" pitchFamily="34" charset="-122"/>
                <a:cs typeface="Calibri" pitchFamily="34" charset="-120"/>
              </a:rPr>
              <a:t>Ng = 1 → 95.6%; Ng ≥ 2 → 98.4%</a:t>
            </a:r>
            <a:endParaRPr lang="en-US" sz="1250" dirty="0"/>
          </a:p>
          <a:p>
            <a:pPr marL="342900" indent="-342900">
              <a:spcAft>
                <a:spcPts val="900"/>
              </a:spcAft>
              <a:buSzPct val="100000"/>
              <a:buChar char="•"/>
            </a:pPr>
            <a:r>
              <a:rPr lang="en-US" sz="1250" b="1" dirty="0">
                <a:solidFill>
                  <a:srgbClr val="1B1F2A"/>
                </a:solidFill>
                <a:latin typeface="Calibri" pitchFamily="34" charset="0"/>
                <a:ea typeface="Calibri" pitchFamily="34" charset="-122"/>
                <a:cs typeface="Calibri" pitchFamily="34" charset="-120"/>
              </a:rPr>
              <a:t>Data: </a:t>
            </a:r>
            <a:r>
              <a:rPr lang="en-US" sz="1250" dirty="0">
                <a:solidFill>
                  <a:srgbClr val="5B6270"/>
                </a:solidFill>
                <a:latin typeface="Calibri" pitchFamily="34" charset="0"/>
                <a:ea typeface="Calibri" pitchFamily="34" charset="-122"/>
                <a:cs typeface="Calibri" pitchFamily="34" charset="-120"/>
              </a:rPr>
              <a:t>10 images → 91.6%; 600 → 98.5%</a:t>
            </a:r>
            <a:endParaRPr lang="en-US" sz="1250" dirty="0"/>
          </a:p>
          <a:p>
            <a:pPr marL="342900" indent="-342900">
              <a:spcAft>
                <a:spcPts val="900"/>
              </a:spcAft>
              <a:buSzPct val="100000"/>
              <a:buChar char="•"/>
            </a:pPr>
            <a:r>
              <a:rPr lang="en-US" sz="1250" b="1" dirty="0">
                <a:solidFill>
                  <a:srgbClr val="1B1F2A"/>
                </a:solidFill>
                <a:latin typeface="Calibri" pitchFamily="34" charset="0"/>
                <a:ea typeface="Calibri" pitchFamily="34" charset="-122"/>
                <a:cs typeface="Calibri" pitchFamily="34" charset="-120"/>
              </a:rPr>
              <a:t>Speed: </a:t>
            </a:r>
            <a:r>
              <a:rPr lang="en-US" sz="1250" dirty="0">
                <a:solidFill>
                  <a:srgbClr val="5B6270"/>
                </a:solidFill>
                <a:latin typeface="Calibri" pitchFamily="34" charset="0"/>
                <a:ea typeface="Calibri" pitchFamily="34" charset="-122"/>
                <a:cs typeface="Calibri" pitchFamily="34" charset="-120"/>
              </a:rPr>
              <a:t>4 threads, one image each → 294 img/s (authors' C++ on the same machine: 300)</a:t>
            </a:r>
            <a:endParaRPr lang="en-US" sz="1250" dirty="0"/>
          </a:p>
        </p:txBody>
      </p:sp>
      <p:sp>
        <p:nvSpPr>
          <p:cNvPr id="8" name="Text 4"/>
          <p:cNvSpPr txBox="1"/>
          <p:nvPr/>
        </p:nvSpPr>
        <p:spPr>
          <a:xfrm>
            <a:off x="548640" y="5166360"/>
            <a:ext cx="6858000" cy="365760"/>
          </a:xfrm>
          <a:prstGeom prst="rect">
            <a:avLst/>
          </a:prstGeom>
          <a:noFill/>
          <a:ln/>
        </p:spPr>
        <p:txBody>
          <a:bodyPr wrap="square" lIns="0" tIns="0" rIns="0" bIns="0" rtlCol="0" anchor="ctr"/>
          <a:lstStyle/>
          <a:p>
            <a:pPr marL="0" indent="0">
              <a:buNone/>
            </a:pPr>
            <a:r>
              <a:rPr lang="en-US" sz="1200" i="1" dirty="0">
                <a:solidFill>
                  <a:srgbClr val="5B6270"/>
                </a:solidFill>
                <a:latin typeface="Calibri" pitchFamily="34" charset="0"/>
                <a:ea typeface="Calibri" pitchFamily="34" charset="-122"/>
                <a:cs typeface="Calibri" pitchFamily="34" charset="-120"/>
              </a:rPr>
              <a:t>DR@1000 on the synthetic test set (bars: blue DR@100, orange DR@1000).</a:t>
            </a:r>
            <a:endParaRPr lang="en-US" sz="1200" dirty="0"/>
          </a:p>
        </p:txBody>
      </p:sp>
      <p:sp>
        <p:nvSpPr>
          <p:cNvPr id="9" name="Text 5"/>
          <p:cNvSpPr txBox="1"/>
          <p:nvPr/>
        </p:nvSpPr>
        <p:spPr>
          <a:xfrm>
            <a:off x="548640" y="5577840"/>
            <a:ext cx="6858000" cy="640080"/>
          </a:xfrm>
          <a:prstGeom prst="rect">
            <a:avLst/>
          </a:prstGeom>
          <a:noFill/>
          <a:ln/>
        </p:spPr>
        <p:txBody>
          <a:bodyPr wrap="square" lIns="0" tIns="0" rIns="0" bIns="0" rtlCol="0" anchor="ctr"/>
          <a:lstStyle/>
          <a:p>
            <a:pPr marL="0" indent="0">
              <a:buNone/>
            </a:pPr>
            <a:r>
              <a:rPr lang="en-US" sz="1300" b="1" dirty="0">
                <a:solidFill>
                  <a:srgbClr val="1B1F2A"/>
                </a:solidFill>
                <a:latin typeface="Calibri" pitchFamily="34" charset="0"/>
                <a:ea typeface="Calibri" pitchFamily="34" charset="-122"/>
                <a:cs typeface="Calibri" pitchFamily="34" charset="-120"/>
              </a:rPr>
              <a:t>Limitation: power-of-two sizes and an 8-px stride give coarse boxes (VOC MABO 0.65); small objects such as bottles are hardest.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141A24"/>
        </a:solidFill>
        <a:effectLst/>
      </p:bgPr>
    </p:bg>
    <p:spTree>
      <p:nvGrpSpPr>
        <p:cNvPr id="1" name=""/>
        <p:cNvGrpSpPr/>
        <p:nvPr/>
      </p:nvGrpSpPr>
      <p:grpSpPr>
        <a:xfrm>
          <a:off x="0" y="0"/>
          <a:ext cx="0" cy="0"/>
          <a:chOff x="0" y="0"/>
          <a:chExt cx="0" cy="0"/>
        </a:xfrm>
      </p:grpSpPr>
      <p:sp>
        <p:nvSpPr>
          <p:cNvPr id="2" name="Text 0"/>
          <p:cNvSpPr txBox="1"/>
          <p:nvPr/>
        </p:nvSpPr>
        <p:spPr>
          <a:xfrm>
            <a:off x="548640" y="548640"/>
            <a:ext cx="54864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914400"/>
            <a:ext cx="10972800" cy="128016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Gradients, a 64-weight model and bit operations find 94% of VOC objects, as the authors' code does; our re-ranking finds them sooner.</a:t>
            </a:r>
            <a:endParaRPr lang="en-US" sz="2800" dirty="0"/>
          </a:p>
        </p:txBody>
      </p:sp>
      <p:sp>
        <p:nvSpPr>
          <p:cNvPr id="4" name="Text 2"/>
          <p:cNvSpPr txBox="1"/>
          <p:nvPr/>
        </p:nvSpPr>
        <p:spPr>
          <a:xfrm>
            <a:off x="548640" y="2468880"/>
            <a:ext cx="2651760" cy="914400"/>
          </a:xfrm>
          <a:prstGeom prst="rect">
            <a:avLst/>
          </a:prstGeom>
          <a:noFill/>
          <a:ln/>
        </p:spPr>
        <p:txBody>
          <a:bodyPr wrap="square" lIns="0" tIns="0" rIns="0" bIns="0" rtlCol="0" anchor="ctr"/>
          <a:lstStyle/>
          <a:p>
            <a:pPr marL="0" indent="0">
              <a:buNone/>
            </a:pPr>
            <a:r>
              <a:rPr lang="en-US" sz="4400" b="1" dirty="0">
                <a:solidFill>
                  <a:srgbClr val="E8772E"/>
                </a:solidFill>
                <a:latin typeface="Cambria" pitchFamily="34" charset="0"/>
                <a:ea typeface="Cambria" pitchFamily="34" charset="-122"/>
                <a:cs typeface="Cambria" pitchFamily="34" charset="-120"/>
              </a:rPr>
              <a:t>94.0%</a:t>
            </a:r>
            <a:endParaRPr lang="en-US" sz="4400" dirty="0"/>
          </a:p>
        </p:txBody>
      </p:sp>
      <p:sp>
        <p:nvSpPr>
          <p:cNvPr id="5" name="Text 3"/>
          <p:cNvSpPr txBox="1"/>
          <p:nvPr/>
        </p:nvSpPr>
        <p:spPr>
          <a:xfrm>
            <a:off x="548640" y="3383280"/>
            <a:ext cx="2651760" cy="822960"/>
          </a:xfrm>
          <a:prstGeom prst="rect">
            <a:avLst/>
          </a:prstGeom>
          <a:noFill/>
          <a:ln/>
        </p:spPr>
        <p:txBody>
          <a:bodyPr wrap="square" lIns="0" tIns="0" rIns="0" bIns="0" rtlCol="0" anchor="t"/>
          <a:lstStyle/>
          <a:p>
            <a:pPr marL="0" indent="0">
              <a:buNone/>
            </a:pPr>
            <a:r>
              <a:rPr lang="en-US" sz="1400" dirty="0">
                <a:solidFill>
                  <a:srgbClr val="AEB8C6"/>
                </a:solidFill>
                <a:latin typeface="Calibri" pitchFamily="34" charset="0"/>
                <a:ea typeface="Calibri" pitchFamily="34" charset="-122"/>
                <a:cs typeface="Calibri" pitchFamily="34" charset="-120"/>
              </a:rPr>
              <a:t>VOC 2007 objects found in</a:t>
            </a:r>
            <a:endParaRPr lang="en-US" sz="1400" dirty="0"/>
          </a:p>
          <a:p>
            <a:pPr marL="0" indent="0">
              <a:buNone/>
            </a:pPr>
            <a:r>
              <a:rPr lang="en-US" sz="1400" dirty="0">
                <a:solidFill>
                  <a:srgbClr val="AEB8C6"/>
                </a:solidFill>
                <a:latin typeface="Calibri" pitchFamily="34" charset="0"/>
                <a:ea typeface="Calibri" pitchFamily="34" charset="-122"/>
                <a:cs typeface="Calibri" pitchFamily="34" charset="-120"/>
              </a:rPr>
              <a:t>top 1000 (authors' code 93.8%)</a:t>
            </a:r>
            <a:endParaRPr lang="en-US" sz="1400" dirty="0"/>
          </a:p>
        </p:txBody>
      </p:sp>
      <p:sp>
        <p:nvSpPr>
          <p:cNvPr id="6" name="Text 4"/>
          <p:cNvSpPr txBox="1"/>
          <p:nvPr/>
        </p:nvSpPr>
        <p:spPr>
          <a:xfrm>
            <a:off x="3383280" y="2468880"/>
            <a:ext cx="265176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71.0%</a:t>
            </a:r>
            <a:endParaRPr lang="en-US" sz="4400" dirty="0"/>
          </a:p>
        </p:txBody>
      </p:sp>
      <p:sp>
        <p:nvSpPr>
          <p:cNvPr id="7" name="Text 5"/>
          <p:cNvSpPr txBox="1"/>
          <p:nvPr/>
        </p:nvSpPr>
        <p:spPr>
          <a:xfrm>
            <a:off x="3383280" y="3383280"/>
            <a:ext cx="2651760" cy="822960"/>
          </a:xfrm>
          <a:prstGeom prst="rect">
            <a:avLst/>
          </a:prstGeom>
          <a:noFill/>
          <a:ln/>
        </p:spPr>
        <p:txBody>
          <a:bodyPr wrap="square" lIns="0" tIns="0" rIns="0" bIns="0" rtlCol="0" anchor="t"/>
          <a:lstStyle/>
          <a:p>
            <a:pPr marL="0" indent="0">
              <a:buNone/>
            </a:pPr>
            <a:r>
              <a:rPr lang="en-US" sz="1400" dirty="0">
                <a:solidFill>
                  <a:srgbClr val="AEB8C6"/>
                </a:solidFill>
                <a:latin typeface="Calibri" pitchFamily="34" charset="0"/>
                <a:ea typeface="Calibri" pitchFamily="34" charset="-122"/>
                <a:cs typeface="Calibri" pitchFamily="34" charset="-120"/>
              </a:rPr>
              <a:t>found in the top 100 with our</a:t>
            </a:r>
            <a:endParaRPr lang="en-US" sz="1400" dirty="0"/>
          </a:p>
          <a:p>
            <a:pPr marL="0" indent="0">
              <a:buNone/>
            </a:pPr>
            <a:r>
              <a:rPr lang="en-US" sz="1400" dirty="0">
                <a:solidFill>
                  <a:srgbClr val="AEB8C6"/>
                </a:solidFill>
                <a:latin typeface="Calibri" pitchFamily="34" charset="0"/>
                <a:ea typeface="Calibri" pitchFamily="34" charset="-122"/>
                <a:cs typeface="Calibri" pitchFamily="34" charset="-120"/>
              </a:rPr>
              <a:t>re-ranking (BING: 67.2%)</a:t>
            </a:r>
            <a:endParaRPr lang="en-US" sz="1400" dirty="0"/>
          </a:p>
        </p:txBody>
      </p:sp>
      <p:sp>
        <p:nvSpPr>
          <p:cNvPr id="8" name="Text 6"/>
          <p:cNvSpPr txBox="1"/>
          <p:nvPr/>
        </p:nvSpPr>
        <p:spPr>
          <a:xfrm>
            <a:off x="6217920" y="2468880"/>
            <a:ext cx="2651760" cy="914400"/>
          </a:xfrm>
          <a:prstGeom prst="rect">
            <a:avLst/>
          </a:prstGeom>
          <a:noFill/>
          <a:ln/>
        </p:spPr>
        <p:txBody>
          <a:bodyPr wrap="square" lIns="0" tIns="0" rIns="0" bIns="0" rtlCol="0" anchor="ctr"/>
          <a:lstStyle/>
          <a:p>
            <a:pPr marL="0" indent="0">
              <a:buNone/>
            </a:pPr>
            <a:r>
              <a:rPr lang="en-US" sz="4400" b="1" dirty="0">
                <a:solidFill>
                  <a:srgbClr val="E8772E"/>
                </a:solidFill>
                <a:latin typeface="Cambria" pitchFamily="34" charset="0"/>
                <a:ea typeface="Cambria" pitchFamily="34" charset="-122"/>
                <a:cs typeface="Cambria" pitchFamily="34" charset="-120"/>
              </a:rPr>
              <a:t>53.3%</a:t>
            </a:r>
            <a:endParaRPr lang="en-US" sz="4400" dirty="0"/>
          </a:p>
        </p:txBody>
      </p:sp>
      <p:sp>
        <p:nvSpPr>
          <p:cNvPr id="9" name="Text 7"/>
          <p:cNvSpPr txBox="1"/>
          <p:nvPr/>
        </p:nvSpPr>
        <p:spPr>
          <a:xfrm>
            <a:off x="6217920" y="3383280"/>
            <a:ext cx="2651760" cy="822960"/>
          </a:xfrm>
          <a:prstGeom prst="rect">
            <a:avLst/>
          </a:prstGeom>
          <a:noFill/>
          <a:ln/>
        </p:spPr>
        <p:txBody>
          <a:bodyPr wrap="square" lIns="0" tIns="0" rIns="0" bIns="0" rtlCol="0" anchor="t"/>
          <a:lstStyle/>
          <a:p>
            <a:pPr marL="0" indent="0">
              <a:buNone/>
            </a:pPr>
            <a:r>
              <a:rPr lang="en-US" sz="1400" dirty="0">
                <a:solidFill>
                  <a:srgbClr val="AEB8C6"/>
                </a:solidFill>
                <a:latin typeface="Calibri" pitchFamily="34" charset="0"/>
                <a:ea typeface="Calibri" pitchFamily="34" charset="-122"/>
                <a:cs typeface="Calibri" pitchFamily="34" charset="-120"/>
              </a:rPr>
              <a:t>small objects in the top 1000</a:t>
            </a:r>
            <a:endParaRPr lang="en-US" sz="1400" dirty="0"/>
          </a:p>
          <a:p>
            <a:pPr marL="0" indent="0">
              <a:buNone/>
            </a:pPr>
            <a:r>
              <a:rPr lang="en-US" sz="1400" dirty="0">
                <a:solidFill>
                  <a:srgbClr val="AEB8C6"/>
                </a:solidFill>
                <a:latin typeface="Calibri" pitchFamily="34" charset="0"/>
                <a:ea typeface="Calibri" pitchFamily="34" charset="-122"/>
                <a:cs typeface="Calibri" pitchFamily="34" charset="-120"/>
              </a:rPr>
              <a:t>with re-ranking (BING: 39.3%)</a:t>
            </a:r>
            <a:endParaRPr lang="en-US" sz="1400" dirty="0"/>
          </a:p>
        </p:txBody>
      </p:sp>
      <p:sp>
        <p:nvSpPr>
          <p:cNvPr id="10" name="Text 8"/>
          <p:cNvSpPr txBox="1"/>
          <p:nvPr/>
        </p:nvSpPr>
        <p:spPr>
          <a:xfrm>
            <a:off x="9052560" y="2468880"/>
            <a:ext cx="265176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294</a:t>
            </a:r>
            <a:endParaRPr lang="en-US" sz="4400" dirty="0"/>
          </a:p>
        </p:txBody>
      </p:sp>
      <p:sp>
        <p:nvSpPr>
          <p:cNvPr id="11" name="Text 9"/>
          <p:cNvSpPr txBox="1"/>
          <p:nvPr/>
        </p:nvSpPr>
        <p:spPr>
          <a:xfrm>
            <a:off x="9052560" y="3383280"/>
            <a:ext cx="2651760" cy="822960"/>
          </a:xfrm>
          <a:prstGeom prst="rect">
            <a:avLst/>
          </a:prstGeom>
          <a:noFill/>
          <a:ln/>
        </p:spPr>
        <p:txBody>
          <a:bodyPr wrap="square" lIns="0" tIns="0" rIns="0" bIns="0" rtlCol="0" anchor="t"/>
          <a:lstStyle/>
          <a:p>
            <a:pPr marL="0" indent="0">
              <a:buNone/>
            </a:pPr>
            <a:r>
              <a:rPr lang="en-US" sz="1400" dirty="0">
                <a:solidFill>
                  <a:srgbClr val="AEB8C6"/>
                </a:solidFill>
                <a:latin typeface="Calibri" pitchFamily="34" charset="0"/>
                <a:ea typeface="Calibri" pitchFamily="34" charset="-122"/>
                <a:cs typeface="Calibri" pitchFamily="34" charset="-120"/>
              </a:rPr>
              <a:t>images / second, 4 threads</a:t>
            </a:r>
            <a:endParaRPr lang="en-US" sz="1400" dirty="0"/>
          </a:p>
          <a:p>
            <a:pPr marL="0" indent="0">
              <a:buNone/>
            </a:pPr>
            <a:r>
              <a:rPr lang="en-US" sz="1400" dirty="0">
                <a:solidFill>
                  <a:srgbClr val="AEB8C6"/>
                </a:solidFill>
                <a:latin typeface="Calibri" pitchFamily="34" charset="0"/>
                <a:ea typeface="Calibri" pitchFamily="34" charset="-122"/>
                <a:cs typeface="Calibri" pitchFamily="34" charset="-120"/>
              </a:rPr>
              <a:t>(authors' C++: 300)</a:t>
            </a:r>
            <a:endParaRPr lang="en-US" sz="1400" dirty="0"/>
          </a:p>
        </p:txBody>
      </p:sp>
      <p:sp>
        <p:nvSpPr>
          <p:cNvPr id="12" name="Text 10"/>
          <p:cNvSpPr txBox="1"/>
          <p:nvPr/>
        </p:nvSpPr>
        <p:spPr>
          <a:xfrm>
            <a:off x="548640" y="4434840"/>
            <a:ext cx="1106424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Future work  </a:t>
            </a:r>
            <a:r>
              <a:rPr lang="en-US" sz="1400" dirty="0">
                <a:solidFill>
                  <a:srgbClr val="AEB8C6"/>
                </a:solidFill>
                <a:latin typeface="Calibri" pitchFamily="34" charset="0"/>
                <a:ea typeface="Calibri" pitchFamily="34" charset="-122"/>
                <a:cs typeface="Calibri" pitchFamily="34" charset="-120"/>
              </a:rPr>
              <a:t>tighter boxes (better box regression, finer sizes) · fine-tuned CNN features · train-on-some-classes generalisation</a:t>
            </a:r>
            <a:endParaRPr lang="en-US" sz="1400" dirty="0"/>
          </a:p>
        </p:txBody>
      </p:sp>
      <p:sp>
        <p:nvSpPr>
          <p:cNvPr id="13" name="Text 11"/>
          <p:cNvSpPr txBox="1"/>
          <p:nvPr/>
        </p:nvSpPr>
        <p:spPr>
          <a:xfrm>
            <a:off x="548640" y="5166360"/>
            <a:ext cx="11064240" cy="91440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References  </a:t>
            </a:r>
            <a:r>
              <a:rPr lang="en-US" sz="1100" dirty="0">
                <a:solidFill>
                  <a:srgbClr val="AEB8C6"/>
                </a:solidFill>
                <a:latin typeface="Calibri" pitchFamily="34" charset="0"/>
                <a:ea typeface="Calibri" pitchFamily="34" charset="-122"/>
                <a:cs typeface="Calibri" pitchFamily="34" charset="-120"/>
              </a:rPr>
              <a:t>[1] M.-M. Cheng, Z. Zhang, W.-Y. Lin, P. H. S. Torr, “BING: Binarized Normed Gradients for Objectness Estimation at 300fps,” CVPR 2014.  [2] J. Uijlings et al., “Selective Search for Object Recognition,” IJCV 2013.  [3] B. Alexe, T. Deselaers, V. Ferrari, “Measuring the Objectness of Image Windows,” TPAMI 2012.  [4] J. Hosang et al., “What makes for effective detection proposals?,” TPAMI 2016.</a:t>
            </a:r>
            <a:endParaRPr lang="en-US" sz="1100" dirty="0"/>
          </a:p>
        </p:txBody>
      </p:sp>
      <p:sp>
        <p:nvSpPr>
          <p:cNvPr id="14" name="Text 12"/>
          <p:cNvSpPr txBox="1"/>
          <p:nvPr/>
        </p:nvSpPr>
        <p:spPr>
          <a:xfrm>
            <a:off x="548640" y="6263640"/>
            <a:ext cx="5486400" cy="365760"/>
          </a:xfrm>
          <a:prstGeom prst="rect">
            <a:avLst/>
          </a:prstGeom>
          <a:noFill/>
          <a:ln/>
        </p:spPr>
        <p:txBody>
          <a:bodyPr wrap="square" lIns="0" tIns="0" rIns="0" bIns="0"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Thank you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marL="0" indent="0">
              <a:buNone/>
            </a:pPr>
            <a:r>
              <a:rPr lang="en-US" sz="1200" b="1" kern="0" spc="200" dirty="0">
                <a:solidFill>
                  <a:srgbClr val="E8772E"/>
                </a:solidFill>
                <a:latin typeface="Calibri" pitchFamily="34" charset="0"/>
                <a:ea typeface="Calibri" pitchFamily="34" charset="-122"/>
                <a:cs typeface="Calibri" pitchFamily="34" charset="-120"/>
              </a:rPr>
              <a:t>5 · RESULT ANALYSIS</a:t>
            </a:r>
            <a:endParaRPr lang="en-US" sz="1200" dirty="0"/>
          </a:p>
        </p:txBody>
      </p:sp>
      <p:sp>
        <p:nvSpPr>
          <p:cNvPr id="3" name="Text 1"/>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B1F2A"/>
                </a:solidFill>
                <a:latin typeface="Cambria" pitchFamily="34" charset="0"/>
                <a:ea typeface="Cambria" pitchFamily="34" charset="-122"/>
                <a:cs typeface="Cambria" pitchFamily="34" charset="-120"/>
              </a:rPr>
              <a:t>The detector in action</a:t>
            </a:r>
            <a:endParaRPr lang="en-US" sz="32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15</a:t>
            </a:r>
            <a:endParaRPr lang="en-US" sz="1000" dirty="0"/>
          </a:p>
        </p:txBody>
      </p:sp>
      <p:pic>
        <p:nvPicPr>
          <p:cNvPr id="5" name="Image 0" descr="CNN detector on BING proposals: motorbike, horse and rider, astronaut, cameraman"/>
          <p:cNvPicPr>
            <a:picLocks noChangeAspect="1"/>
          </p:cNvPicPr>
          <p:nvPr/>
        </p:nvPicPr>
        <p:blipFill>
          <a:blip r:embed="rId3"/>
          <a:srcRect/>
          <a:stretch/>
        </p:blipFill>
        <p:spPr>
          <a:xfrm>
            <a:off x="548640" y="1463040"/>
            <a:ext cx="5822784" cy="4160520"/>
          </a:xfrm>
          <a:prstGeom prst="rect">
            <a:avLst/>
          </a:prstGeom>
        </p:spPr>
      </p:pic>
      <p:sp>
        <p:nvSpPr>
          <p:cNvPr id="6" name="Text 3"/>
          <p:cNvSpPr txBox="1"/>
          <p:nvPr/>
        </p:nvSpPr>
        <p:spPr>
          <a:xfrm>
            <a:off x="548640" y="5733288"/>
            <a:ext cx="5822784" cy="457200"/>
          </a:xfrm>
          <a:prstGeom prst="rect">
            <a:avLst/>
          </a:prstGeom>
          <a:noFill/>
          <a:ln/>
        </p:spPr>
        <p:txBody>
          <a:bodyPr wrap="square" lIns="0" tIns="0" rIns="0" bIns="0" rtlCol="0" anchor="ctr"/>
          <a:lstStyle/>
          <a:p>
            <a:pPr marL="0" indent="0">
              <a:buNone/>
            </a:pPr>
            <a:r>
              <a:rPr lang="en-US" sz="1200" i="1" dirty="0">
                <a:solidFill>
                  <a:srgbClr val="5B6270"/>
                </a:solidFill>
                <a:latin typeface="Calibri" pitchFamily="34" charset="0"/>
                <a:ea typeface="Calibri" pitchFamily="34" charset="-122"/>
                <a:cs typeface="Calibri" pitchFamily="34" charset="-120"/>
              </a:rPr>
              <a:t>Our CNN detector on the top 100 re-ranked BING boxes. Label = VOC class, number = classifier score.</a:t>
            </a:r>
            <a:endParaRPr lang="en-US" sz="1200" dirty="0"/>
          </a:p>
        </p:txBody>
      </p:sp>
      <p:sp>
        <p:nvSpPr>
          <p:cNvPr id="7" name="Shape 4"/>
          <p:cNvSpPr/>
          <p:nvPr/>
        </p:nvSpPr>
        <p:spPr>
          <a:xfrm>
            <a:off x="6737184" y="1463040"/>
            <a:ext cx="4921416" cy="4663440"/>
          </a:xfrm>
          <a:prstGeom prst="roundRect">
            <a:avLst>
              <a:gd name="adj" fmla="val 2500"/>
            </a:avLst>
          </a:prstGeom>
          <a:solidFill>
            <a:srgbClr val="F1F4F7"/>
          </a:solidFill>
          <a:ln w="12700">
            <a:solidFill>
              <a:srgbClr val="F1F4F7"/>
            </a:solidFill>
            <a:prstDash val="solid"/>
          </a:ln>
        </p:spPr>
      </p:sp>
      <p:sp>
        <p:nvSpPr>
          <p:cNvPr id="8" name="Text 5"/>
          <p:cNvSpPr txBox="1"/>
          <p:nvPr/>
        </p:nvSpPr>
        <p:spPr>
          <a:xfrm>
            <a:off x="7011504" y="1691640"/>
            <a:ext cx="4372776" cy="4297680"/>
          </a:xfrm>
          <a:prstGeom prst="rect">
            <a:avLst/>
          </a:prstGeom>
          <a:noFill/>
          <a:ln/>
        </p:spPr>
        <p:txBody>
          <a:bodyPr wrap="square" lIns="0" tIns="0" rIns="0" bIns="0" rtlCol="0" anchor="t"/>
          <a:lstStyle/>
          <a:p>
            <a:pPr marL="0" indent="0">
              <a:buNone/>
            </a:pPr>
            <a:r>
              <a:rPr lang="en-US" sz="1500" b="1" dirty="0">
                <a:solidFill>
                  <a:srgbClr val="1B1F2A"/>
                </a:solidFill>
                <a:latin typeface="Calibri" pitchFamily="34" charset="0"/>
                <a:ea typeface="Calibri" pitchFamily="34" charset="-122"/>
                <a:cs typeface="Calibri" pitchFamily="34" charset="-120"/>
              </a:rPr>
              <a:t>What it finds</a:t>
            </a:r>
            <a:endParaRPr lang="en-US" sz="1500" dirty="0"/>
          </a:p>
          <a:p>
            <a:pPr marL="0" indent="0">
              <a:buNone/>
            </a:pPr>
            <a:r>
              <a:rPr lang="en-US" sz="1400" dirty="0">
                <a:solidFill>
                  <a:srgbClr val="5B6270"/>
                </a:solidFill>
                <a:latin typeface="Calibri" pitchFamily="34" charset="0"/>
                <a:ea typeface="Calibri" pitchFamily="34" charset="-122"/>
                <a:cs typeface="Calibri" pitchFamily="34" charset="-120"/>
              </a:rPr>
              <a:t>The motorbike, the brown horse and its rider, the astronaut and the cameraman, each named with one of the 20 VOC classes.</a:t>
            </a:r>
            <a:endParaRPr lang="en-US" sz="1400" dirty="0"/>
          </a:p>
          <a:p>
            <a:pPr marL="0" indent="0">
              <a:buNone/>
            </a:pPr>
            <a:r>
              <a:rPr lang="en-US" sz="800" dirty="0">
                <a:solidFill>
                  <a:srgbClr val="000000"/>
                </a:solidFill>
                <a:latin typeface="Calibri" pitchFamily="34" charset="0"/>
                <a:ea typeface="Calibri" pitchFamily="34" charset="-122"/>
                <a:cs typeface="Calibri" pitchFamily="34" charset="-120"/>
              </a:rPr>
              <a:t xml:space="preserve"> </a:t>
            </a:r>
            <a:endParaRPr lang="en-US" sz="1500" dirty="0"/>
          </a:p>
          <a:p>
            <a:pPr marL="0" indent="0">
              <a:buNone/>
            </a:pPr>
            <a:r>
              <a:rPr lang="en-US" sz="1500" b="1" dirty="0">
                <a:solidFill>
                  <a:srgbClr val="1B1F2A"/>
                </a:solidFill>
                <a:latin typeface="Calibri" pitchFamily="34" charset="0"/>
                <a:ea typeface="Calibri" pitchFamily="34" charset="-122"/>
                <a:cs typeface="Calibri" pitchFamily="34" charset="-120"/>
              </a:rPr>
              <a:t>Limits</a:t>
            </a:r>
            <a:endParaRPr lang="en-US" sz="1500" dirty="0"/>
          </a:p>
          <a:p>
            <a:pPr marL="0" indent="0">
              <a:buNone/>
            </a:pPr>
            <a:r>
              <a:rPr lang="en-US" sz="1400" dirty="0">
                <a:solidFill>
                  <a:srgbClr val="5B6270"/>
                </a:solidFill>
                <a:latin typeface="Calibri" pitchFamily="34" charset="0"/>
                <a:ea typeface="Calibri" pitchFamily="34" charset="-122"/>
                <a:cs typeface="Calibri" pitchFamily="34" charset="-120"/>
              </a:rPr>
              <a:t>It misses some objects (the white horse). Only VOC classes are known: a cup or a phone gets no label. Boxes can be loose: the motorbike box cuts off the front wheel.</a:t>
            </a:r>
            <a:endParaRPr lang="en-US" sz="1400" dirty="0"/>
          </a:p>
          <a:p>
            <a:pPr marL="0" indent="0">
              <a:buNone/>
            </a:pPr>
            <a:r>
              <a:rPr lang="en-US" sz="800" dirty="0">
                <a:solidFill>
                  <a:srgbClr val="000000"/>
                </a:solidFill>
                <a:latin typeface="Calibri" pitchFamily="34" charset="0"/>
                <a:ea typeface="Calibri" pitchFamily="34" charset="-122"/>
                <a:cs typeface="Calibri" pitchFamily="34" charset="-120"/>
              </a:rPr>
              <a:t xml:space="preserve"> </a:t>
            </a:r>
            <a:endParaRPr lang="en-US" sz="1500" dirty="0"/>
          </a:p>
          <a:p>
            <a:pPr marL="0" indent="0">
              <a:buNone/>
            </a:pPr>
            <a:r>
              <a:rPr lang="en-US" sz="1500" b="1" dirty="0">
                <a:solidFill>
                  <a:srgbClr val="1B1F2A"/>
                </a:solidFill>
                <a:latin typeface="Calibri" pitchFamily="34" charset="0"/>
                <a:ea typeface="Calibri" pitchFamily="34" charset="-122"/>
                <a:cs typeface="Calibri" pitchFamily="34" charset="-120"/>
              </a:rPr>
              <a:t>Try it</a:t>
            </a:r>
            <a:endParaRPr lang="en-US" sz="1500" dirty="0"/>
          </a:p>
          <a:p>
            <a:pPr marL="0" indent="0">
              <a:buNone/>
            </a:pPr>
            <a:r>
              <a:rPr lang="en-US" sz="1300" dirty="0">
                <a:solidFill>
                  <a:srgbClr val="1B1F2A"/>
                </a:solidFill>
                <a:latin typeface="Consolas" pitchFamily="34" charset="0"/>
                <a:ea typeface="Consolas" pitchFamily="34" charset="-122"/>
                <a:cs typeface="Consolas" pitchFamily="34" charset="-120"/>
              </a:rPr>
              <a:t>python scripts/demo.py</a:t>
            </a:r>
            <a:endParaRPr lang="en-US" sz="1300" dirty="0"/>
          </a:p>
          <a:p>
            <a:pPr marL="0" indent="0">
              <a:buNone/>
            </a:pPr>
            <a:r>
              <a:rPr lang="en-US" sz="1300" dirty="0">
                <a:solidFill>
                  <a:srgbClr val="1B1F2A"/>
                </a:solidFill>
                <a:latin typeface="Consolas" pitchFamily="34" charset="0"/>
                <a:ea typeface="Consolas" pitchFamily="34" charset="-122"/>
                <a:cs typeface="Consolas" pitchFamily="34" charset="-120"/>
              </a:rPr>
              <a:t xml:space="preserve">  --image photo.jpg --detect --show</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xml:space="preserve"> </a:t>
            </a:r>
            <a:endParaRPr lang="en-US" sz="1500" dirty="0"/>
          </a:p>
          <a:p>
            <a:pPr marL="0" indent="0">
              <a:buNone/>
            </a:pPr>
            <a:r>
              <a:rPr lang="en-US" sz="1500" b="1" dirty="0">
                <a:solidFill>
                  <a:srgbClr val="E8772E"/>
                </a:solidFill>
                <a:latin typeface="Calibri" pitchFamily="34" charset="0"/>
                <a:ea typeface="Calibri" pitchFamily="34" charset="-122"/>
                <a:cs typeface="Calibri" pitchFamily="34" charset="-120"/>
              </a:rPr>
              <a:t>BING says where objects are; the detector says what they are.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4868</Words>
  <Application>Microsoft Office PowerPoint</Application>
  <PresentationFormat>Widescreen</PresentationFormat>
  <Paragraphs>306</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23CSE373 Computer Vision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Object Proposal Generation Using Handcrafted Gradient Features</dc:title>
  <dc:subject>BING objectness estimation</dc:subject>
  <dc:creator>Group 10</dc:creator>
  <cp:lastModifiedBy>Hari S</cp:lastModifiedBy>
  <cp:revision>6</cp:revision>
  <dcterms:created xsi:type="dcterms:W3CDTF">2026-10-01T13:28:54Z</dcterms:created>
  <dcterms:modified xsi:type="dcterms:W3CDTF">2026-10-27T05:12:27Z</dcterms:modified>
</cp:coreProperties>
</file>