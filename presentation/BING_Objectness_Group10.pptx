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Introduce the group and the topic. We rebuilt and studied BING, a CVPR 2014 method that finds likely object regions at 300 frames per second using only handcrafted gradient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INTRODUCTION. Detection is costly because a sliding-window detector must classify a huge number of windows, and almost all of them are background. Object proposals first select a small set of promising windows. BING does this extremely fast with gradients and bit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PROBLEM DEFINITION. Read the boxed statement. Input: any image. Output: ranked boxes plus a heat-map. Constraints: class-agnostic, real-time, CPU, no deep learning. We measure success by detection rate at N proposals, box tightness (MABO) and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PROPOSED SOLUTION &amp; NOVELTY. BING's observation: objects have closed boundaries, so an 8x8 gradient map of an object window shows a ring of edges. A 64-weight linear filter learns that template. Our contributions: a from-scratch Python implementation with a Numba version of the paper's bit-level algorithm; a head-to-head comparison with the authors' own C++ code on PASCAL VOC; finding two implementation details the paper does not state; and a synthetic benchmark, real photos and systematic ablations.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DESIGN. The eight stages from our proposal. For each of 36 window sizes the image is resized so every 8x8 patch is one window; gradients are computed, binarized and scored with bit operations; greedy suppression and a per-size calibration rank the windows; the top boxes come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filter becomes a weighted sum of +/-1 vectors, the feature becomes 4 bit planes, and the dot product becomes AND plus POPCOUNT: 12 popcounts per window instead of 64 multiply-adds. Unit tests confirm the bitwise score equals the float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Data. PASCAL VOC 2007 is the paper's benchmark: train on trainval, test on test. We also built a synthetic benchmark with clutter, and hand-labelled 58 objects in 10 real photos never used for training. Baselines include the authors' own C++ code, which we compiled and ran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RESULT ANALYSIS. On VOC 2007 our final BING finds 94 percent of objects in the top 1000 proposals, the same as the authors' code on the same images with the same evaluator. With the authors' own evaluator their code scores 96.0 percent, so the paper's 96.2 percent reproduces. The dashed line is our first version, which stalled at 75 percent; the next slides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Comparison. BING finds more objects than Selective Search on VOC at 1000 proposals and is about 70 times faster, but Selective Search draws tighter boxes. Our version matches the authors' code on VOC, generalises better to real photos when trained on synthetic data, and is slightly faster on one thread; their C++ scales better to four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Our first version followed the paper's text and reached only 75 percent on VOC. Two details come from the released code, not the paper: window sizes up to 512 clipped to the image, and greedy suppression. Each helps; together they close the gap. Bottom: recall per VOC class; small objects such as bottles and potted plants are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Ablations on the synthetic set: the simple gradient mask is as good as Sobel, RGB is the best colour space, two bits of gradient suffice, and little training data is needed because the model has only 64 weights. The main limitation is coarse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Summary numbers, future work, and thank you. Offer the live demo: python scripts/demo.py --webcam.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p:bgPr>
    </p:bg>
    <p:spTree>
      <p:nvGrpSpPr>
        <p:cNvPr id="1" name=""/>
        <p:cNvGrpSpPr/>
        <p:nvPr/>
      </p:nvGrpSpPr>
      <p:grpSpPr>
        <a:xfrm>
          <a:off x="0" y="0"/>
          <a:ext cx="0" cy="0"/>
          <a:chOff x="0" y="0"/>
          <a:chExt cx="0" cy="0"/>
        </a:xfrm>
      </p:grpSpPr>
      <p:pic>
        <p:nvPicPr>
          <p:cNvPr id="2" name="Image 0" descr="/home/user/cvprojectg10/results/figures/ng_title.png">    </p:cNvPr>
          <p:cNvPicPr>
            <a:picLocks noChangeAspect="1"/>
          </p:cNvPicPr>
          <p:nvPr/>
        </p:nvPicPr>
        <p:blipFill>
          <a:blip r:embed="rId1"/>
          <a:srcRect l="0" r="0" t="0" b="0"/>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indent="0" marL="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Abhinav Dileep</a:t>
            </a:r>
            <a:pPr indent="0" marL="0">
              <a:buNone/>
            </a:pP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Ayyappadas M T</a:t>
            </a:r>
            <a:pPr indent="0" marL="0">
              <a:buNone/>
            </a:pP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Hari Sankar A</a:t>
            </a:r>
            <a:pPr indent="0" marL="0">
              <a:buNone/>
            </a:pP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Parthiv M</a:t>
            </a:r>
            <a:pPr indent="0" marL="0">
              <a:buNone/>
            </a:pP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Sai Kishen K M</a:t>
            </a:r>
            <a:pPr indent="0" marL="0">
              <a:buNone/>
            </a:pP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pPr indent="0" marL="0">
              <a:buNone/>
            </a:pP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pPr indent="0" marL="0">
              <a:buNone/>
            </a:pP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pPr indent="0" marL="0">
              <a:buNone/>
            </a:pP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pPr indent="0" marL="0">
              <a:buNone/>
            </a:pP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indent="0" marL="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pPr indent="0" marL="0">
              <a:buNone/>
            </a:pP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pPr indent="0" marL="0">
              <a:buNone/>
            </a:pP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pPr indent="0" marL="0">
              <a:buNone/>
            </a:pP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r>
          <p:cNvPicPr>
            <a:picLocks noChangeAspect="1"/>
          </p:cNvPicPr>
          <p:nvPr/>
        </p:nvPicPr>
        <p:blipFill>
          <a:blip r:embed="rId1"/>
          <a:srcRect l="0" r="0" t="0" b="0"/>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indent="0" marL="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No reuse of the C++ code; Numba JIT kernel of the paper's Alg. 2</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Compiled and ran the authors' C++ code; same images, same evaluator</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Two missing details</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Window sizes and suppression from the released code, not the paper</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Benchmarks + ablations</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Synthetic scenes, 58 real objects, gradient / colour / bits / data</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6126480"/>
            <a:ext cx="11064240" cy="365760"/>
          </a:xfrm>
          <a:prstGeom prst="rect">
            <a:avLst/>
          </a:prstGeom>
          <a:noFill/>
          <a:ln/>
        </p:spPr>
        <p:txBody>
          <a:bodyPr wrap="square" lIns="0" tIns="0" rIns="0" bIns="0" rtlCol="0" anchor="ctr"/>
          <a:lstStyle/>
          <a:p>
            <a:pPr indent="0" marL="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home/user/cvprojectg10/results/figures/ng_pipeline.png">    </p:cNvPr>
          <p:cNvPicPr>
            <a:picLocks noChangeAspect="1"/>
          </p:cNvPicPr>
          <p:nvPr/>
        </p:nvPicPr>
        <p:blipFill>
          <a:blip r:embed="rId1"/>
          <a:srcRect l="0" r="0" t="0" b="0"/>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indent="0" marL="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dataset_synthetic.png">    </p:cNvPr>
          <p:cNvPicPr>
            <a:picLocks noChangeAspect="1"/>
          </p:cNvPicPr>
          <p:nvPr/>
        </p:nvPicPr>
        <p:blipFill>
          <a:blip r:embed="rId1"/>
          <a:srcRect l="0" r="0" t="0" b="0"/>
          <a:stretch/>
        </p:blipFill>
        <p:spPr>
          <a:xfrm>
            <a:off x="548640" y="1463040"/>
            <a:ext cx="5486400" cy="2148840"/>
          </a:xfrm>
          <a:prstGeom prst="rect">
            <a:avLst/>
          </a:prstGeom>
        </p:spPr>
      </p:pic>
      <p:pic>
        <p:nvPicPr>
          <p:cNvPr id="6" name="Image 1" descr="/home/user/cvprojectg10/results/figures/dataset_real.png">    </p:cNvPr>
          <p:cNvPicPr>
            <a:picLocks noChangeAspect="1"/>
          </p:cNvPicPr>
          <p:nvPr/>
        </p:nvPicPr>
        <p:blipFill>
          <a:blip r:embed="rId2"/>
          <a:srcRect l="0" r="0" t="0" b="0"/>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indent="0" marL="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indent="0" marL="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indent="0" marL="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indent="0" marL="0">
              <a:buNone/>
            </a:pPr>
            <a:r>
              <a:rPr lang="en-US" sz="1350" dirty="0">
                <a:solidFill>
                  <a:srgbClr val="5B6270"/>
                </a:solidFill>
                <a:latin typeface="Calibri" pitchFamily="34" charset="0"/>
                <a:ea typeface="Calibri" pitchFamily="34" charset="-122"/>
                <a:cs typeface="Calibri" pitchFamily="34" charset="-120"/>
              </a:rPr>
              <a:t>10 photos, 58 hand-labelled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indent="0" marL="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Baselines: the authors' own C++ BING, Selective Search, sliding windows, random boxes. All scored with the same evaluator.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voc_curves.png">    </p:cNvPr>
          <p:cNvPicPr>
            <a:picLocks noChangeAspect="1"/>
          </p:cNvPicPr>
          <p:nvPr/>
        </p:nvPicPr>
        <p:blipFill>
          <a:blip r:embed="rId1"/>
          <a:srcRect l="0" r="0" t="0" b="0"/>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pPr indent="0" marL="0">
              <a:buNone/>
            </a:pP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pPr indent="0" marL="0">
              <a:buNone/>
            </a:pP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291840"/>
                <a:gridCol w="1463040"/>
                <a:gridCol w="1371600"/>
                <a:gridCol w="1645920"/>
                <a:gridCol w="1463040"/>
                <a:gridCol w="1828800"/>
              </a:tblGrid>
              <a:tr h="45720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r>
              <a:tr h="457200">
                <a:tc>
                  <a:txBody>
                    <a:bodyPr/>
                    <a:lstStyle/>
                    <a:p>
                      <a:pPr algn="l" indent="0" marL="0">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r h="457200">
                <a:tc>
                  <a:txBody>
                    <a:bodyPr/>
                    <a:lstStyle/>
                    <a:p>
                      <a:pPr algn="l" indent="0" marL="0">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50</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57200">
                <a:tc>
                  <a:txBody>
                    <a:bodyPr/>
                    <a:lstStyle/>
                    <a:p>
                      <a:pPr algn="l" indent="0" marL="0">
                        <a:buNone/>
                      </a:pPr>
                      <a:r>
                        <a:rPr lang="en-US" sz="1350" dirty="0">
                          <a:solidFill>
                            <a:srgbClr val="1B1F2A"/>
                          </a:solidFill>
                          <a:latin typeface="Calibri" pitchFamily="34" charset="0"/>
                          <a:ea typeface="Calibri" pitchFamily="34" charset="-122"/>
                          <a:cs typeface="Calibri" pitchFamily="34" charset="-120"/>
                        </a:rPr>
                        <a:t>Selective Search (fast) *</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88.2%</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0.707</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0.8</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57200">
                <a:tc>
                  <a:txBody>
                    <a:bodyPr/>
                    <a:lstStyle/>
                    <a:p>
                      <a:pPr algn="l" indent="0" marL="0">
                        <a:buNone/>
                      </a:pPr>
                      <a:r>
                        <a:rPr lang="en-US" sz="1350" dirty="0">
                          <a:solidFill>
                            <a:srgbClr val="1B1F2A"/>
                          </a:solidFill>
                          <a:latin typeface="Calibri" pitchFamily="34" charset="0"/>
                          <a:ea typeface="Calibri" pitchFamily="34" charset="-122"/>
                          <a:cs typeface="Calibri" pitchFamily="34" charset="-120"/>
                        </a:rPr>
                        <a:t>Sliding windows (random order)</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7.0%</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1.7%</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indent="0" marL="0">
              <a:buNone/>
            </a:pPr>
            <a:r>
              <a:rPr lang="en-US" sz="1150" i="1" dirty="0">
                <a:solidFill>
                  <a:srgbClr val="5B6270"/>
                </a:solidFill>
                <a:latin typeface="Calibri" pitchFamily="34" charset="0"/>
                <a:ea typeface="Calibri" pitchFamily="34" charset="-122"/>
                <a:cs typeface="Calibri" pitchFamily="34" charset="-120"/>
              </a:rPr>
              <a:t>* Selective Search on 300 random VOC test images (our BING on the same images: 94.3%); it runs multi-threaded. The authors' code reaches 196 img/s on 4 threads.</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t>
            </a:r>
            <a:pPr indent="0" marL="0">
              <a:buNone/>
            </a:pPr>
            <a:r>
              <a:rPr lang="en-US" sz="1350" dirty="0">
                <a:solidFill>
                  <a:srgbClr val="5B6270"/>
                </a:solidFill>
                <a:latin typeface="Calibri" pitchFamily="34" charset="0"/>
                <a:ea typeface="Calibri" pitchFamily="34" charset="-122"/>
                <a:cs typeface="Calibri" pitchFamily="34" charset="-120"/>
              </a:rPr>
              <a:t>BING finds more objects on VOC (94.0% vs 88.2%) and is ~72× faster, but its boxes are looser (MABO 0.65 vs 0.71).</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pPr indent="0" marL="0">
              <a:buNone/>
            </a:pP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slightly faster single-threaded (58 vs 50 img/s).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4206240"/>
                <a:gridCol w="914400"/>
                <a:gridCol w="914400"/>
                <a:gridCol w="9144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r>
              <a:tr h="457200">
                <a:tc>
                  <a:txBody>
                    <a:bodyPr/>
                    <a:lstStyle/>
                    <a:p>
                      <a:pPr algn="l" indent="0" marL="0">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57200">
                <a:tc>
                  <a:txBody>
                    <a:bodyPr/>
                    <a:lstStyle/>
                    <a:p>
                      <a:pPr algn="l" indent="0" marL="0">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57200">
                <a:tc>
                  <a:txBody>
                    <a:bodyPr/>
                    <a:lstStyle/>
                    <a:p>
                      <a:pPr algn="l" indent="0" marL="0">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pPr indent="0" marL="0">
              <a:buNone/>
            </a:pP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pPr indent="0" marL="0">
              <a:buNone/>
            </a:pP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pPr indent="0" marL="0">
              <a:buNone/>
            </a:pP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r>
          <p:cNvPicPr>
            <a:picLocks noChangeAspect="1"/>
          </p:cNvPicPr>
          <p:nvPr/>
        </p:nvPicPr>
        <p:blipFill>
          <a:blip r:embed="rId1"/>
          <a:srcRect l="0" r="0" t="0" b="0"/>
          <a:stretch/>
        </p:blipFill>
        <p:spPr>
          <a:xfrm>
            <a:off x="457200" y="3931920"/>
            <a:ext cx="11247120" cy="2514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ablations.png">    </p:cNvPr>
          <p:cNvPicPr>
            <a:picLocks noChangeAspect="1"/>
          </p:cNvPicPr>
          <p:nvPr/>
        </p:nvPicPr>
        <p:blipFill>
          <a:blip r:embed="rId1"/>
          <a:srcRect l="0" r="0" t="0" b="0"/>
          <a:stretch/>
        </p:blipFill>
        <p:spPr>
          <a:xfrm>
            <a:off x="457200" y="1325880"/>
            <a:ext cx="6949440" cy="3749040"/>
          </a:xfrm>
          <a:prstGeom prst="rect">
            <a:avLst/>
          </a:prstGeom>
        </p:spPr>
      </p:pic>
      <p:pic>
        <p:nvPicPr>
          <p:cNvPr id="6" name="Image 1" descr="/home/user/cvprojectg10/results/figures/speed.png">    </p:cNvPr>
          <p:cNvPicPr>
            <a:picLocks noChangeAspect="1"/>
          </p:cNvPicPr>
          <p:nvPr/>
        </p:nvPicPr>
        <p:blipFill>
          <a:blip r:embed="rId2"/>
          <a:srcRect l="0" r="0" t="0" b="0"/>
          <a:stretch/>
        </p:blipFill>
        <p:spPr>
          <a:xfrm>
            <a:off x="7589520" y="1325880"/>
            <a:ext cx="4206240" cy="2377440"/>
          </a:xfrm>
          <a:prstGeom prst="rect">
            <a:avLst/>
          </a:prstGeom>
        </p:spPr>
      </p:pic>
      <p:sp>
        <p:nvSpPr>
          <p:cNvPr id="7" name="Text 3"/>
          <p:cNvSpPr txBox="1"/>
          <p:nvPr/>
        </p:nvSpPr>
        <p:spPr>
          <a:xfrm>
            <a:off x="7589520" y="3840480"/>
            <a:ext cx="4206240" cy="2560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pPr indent="0" marL="0">
              <a:buNone/>
            </a:pP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pPr indent="0" marL="0">
              <a:buNone/>
            </a:pP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pPr indent="0" marL="0">
              <a:buNone/>
            </a:pP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pPr indent="0" marL="0">
              <a:buNone/>
            </a:pP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Real photos: </a:t>
            </a:r>
            <a:pPr indent="0" marL="0">
              <a:buNone/>
            </a:pPr>
            <a:r>
              <a:rPr lang="en-US" sz="1250" dirty="0">
                <a:solidFill>
                  <a:srgbClr val="5B6270"/>
                </a:solidFill>
                <a:latin typeface="Calibri" pitchFamily="34" charset="0"/>
                <a:ea typeface="Calibri" pitchFamily="34" charset="-122"/>
                <a:cs typeface="Calibri" pitchFamily="34" charset="-120"/>
              </a:rPr>
              <a:t>87.9% found with no real training</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indent="0" marL="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Simple gradients, a 64-weight linear model and bit operations find 94% of objects on PASCAL VOC, matching the authors' own code.</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87.9%</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real photos, no real</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training images</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58</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images / second, 1 thread</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(authors' C++: 50)</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Future work  </a:t>
            </a:r>
            <a:pPr indent="0" marL="0">
              <a:buNone/>
            </a:pPr>
            <a:r>
              <a:rPr lang="en-US" sz="1400" dirty="0">
                <a:solidFill>
                  <a:srgbClr val="AEB8C6"/>
                </a:solidFill>
                <a:latin typeface="Calibri" pitchFamily="34" charset="0"/>
                <a:ea typeface="Calibri" pitchFamily="34" charset="-122"/>
                <a:cs typeface="Calibri" pitchFamily="34" charset="-120"/>
              </a:rPr>
              <a:t>tighter boxes (refinement / more sizes) · C++ popcount kernel and multi-threading · train-on-some-classes generalisation · add a classifier for a complete detector</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References  </a:t>
            </a:r>
            <a:pPr indent="0" marL="0">
              <a:buNone/>
            </a:pP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Group 10</cp:lastModifiedBy>
  <cp:revision>1</cp:revision>
  <dcterms:created xsi:type="dcterms:W3CDTF">2026-09-30T07:52:17Z</dcterms:created>
  <dcterms:modified xsi:type="dcterms:W3CDTF">2026-09-30T07:52:17Z</dcterms:modified>
</cp:coreProperties>
</file>