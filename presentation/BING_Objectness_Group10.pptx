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8" r:id="rId19"/>
    <p:sldId id="261" r:id="rId7"/>
    <p:sldId id="262" r:id="rId8"/>
    <p:sldId id="263" r:id="rId9"/>
    <p:sldId id="264" r:id="rId10"/>
    <p:sldId id="265" r:id="rId11"/>
    <p:sldId id="270" r:id="rId21"/>
    <p:sldId id="269" r:id="rId20"/>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935" autoAdjust="0"/>
  </p:normalViewPr>
  <p:slideViewPr>
    <p:cSldViewPr snapToGrid="0" snapToObjects="1">
      <p:cViewPr varScale="1">
        <p:scale>
          <a:sx n="57" d="100"/>
          <a:sy n="57" d="100"/>
        </p:scale>
        <p:origin x="165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our own extensions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Our main novelty is a third stage that re-ranks BING's windows with extra cues. We built a complete object detector on top of our proposals. We compared our version head to head with the authors' own C++ code, which revealed two details the paper leaves out. And everything is a from-scratch, multi-threaded Python implementation.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After that, our own stage three re-ranks them, which I will show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~45 s (clock 4:05–4:50)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Hari Sankar A · ~40 s (clock 4:50–5:30)
For evaluation we used three datasets. The main one is PASCAL VOC 2007, the paper's own benchmark: we train on 5,011 images and test on 4,952 images with over 12,000 objects. We also generated a synthetic benchmark of 900 images with cluttered backgrounds, and we annotated 58 objects in 10 real photographs that are never used for training. Every method is scored with the same evaluator. As baselines we used the authors' own C++ code, Selective Search, sliding windows and random boxes. For the detector, we report the standard VOC mean average precision. Parthiv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Parthiv M · ~40 s (clock 5:30–6:10)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I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Parthiv M · ~35 s (clock 6:10–6:45)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Parthiv M · ~50 s (clock 6:45–7:35)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Sai Kishen K M · ~40 s (clock 9:50–10:30)
Our ablation studies show what matters. The simple minus-one, zero, one gradient mask works as well as Sobel. RGB is the best single colour space. Just two bits of gradient are enough. And because the model has only 64 weights, even 10 training images give good results. On the right is speed. With four threads, each working on its own image, our version reaches 186 images per second, close to the authors' C++ code at 196. The main limitation is that BING's boxes are coarse, because the window sizes are powers of two and the stride is 8 pixels.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Sai Kishen K M · ~45 s (clock 10:30–11:15)
To conclude: simple gradients, a 64-weight linear model and bit operations find 94 percent of objects on PASCAL VOC, matching the authors' own code. Our novelty, multi-cue re-ranking, finds 71.0 percent of objects in the top 100 and raises small-object recall from 39.3 percent to 53.3 percent. Our detector reaches 19.1 percent mean average precision with CNN features, beats sliding windows by a wide margin, and shows that BING's loose boxes are what limits detection. In future we would like to make the boxes tighter and fine-tune the CNN features.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Ayyappadas M T · ~50 s (clock 3:15–4:05)
This is our main novelty, a third stage after BING. BING ranks windows with a single cue, its 8 by 8 edge template, so some object windows end up far down the list. Our stage re-scores BING's windows with four groups of cheap, handcrafted cues, listed on the right: the colour contrast between the window and a ring around it, the edge density inside the window against the ring, the window's position, size and shape, and BING's own score. A small gradient-boosted tree model, trained on VOC trainval, combines them into a new score. Every cue is read from integral images in constant time, so there is still no deep network. On this test image, BING's top 20 windows find one of the three objects; after re-ranking they find all three. Hari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00000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Sai Kishen K M · ~80 s (clock 8:30–9:50)
Thank you, Parthiv. Proposals exist to feed a detector, so we built one, in two versions. Both use one linear classifier per VOC class, trained on VOC trainval with hard-negative mining. The first describes each window with HOG and a colour histogram, fully handcrafted. The second takes each window's average activations from a ResNet-50 pretrained on ImageNet, and adds box regression to tighten the boxes. With HOG the best result is 7.4 percent mean average precision. With CNN features it is 19.1 percent, again with our re-ranked top 100 windows. The chart shows the CNN version. At 100 windows, BING's boxes give 18.8 percent against 13.8 percent for random boxes and only 0.6 percent for sliding windows, so proposals matter. With 1000 windows, random boxes catch up and reach 16.0 percent. The plot on the right explains why: at an overlap of 0.7, BING's top 1000 cover only 30 percent of objects, against 43 percent for random boxes. A detector needs tight boxes, which matches what Hosang and colleagues found in their 2016 study of proposals.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0000000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Parthiv M · ~55 s (clock 7:35–8:30)
Next, the results of our novelty on the full VOC 2007 test set. With re-ranking, the top 100 windows find 71.0 percent of all objects instead of 67.2 percent, and the top 1000 find 53.3 percent of small objects instead of 39.3 percent. The curve on the left is above BING's at every budget. The bars on the right show which cues matter: removing edge density hurts most, especially for small objects. The cost is speed, about 34 instead of 67 images per second, which is still about 40 times faster than Selective Search. We also tried snapping box edges to strong gradients and adding finer window sizes; neither helped on the full test set, so we report them as negative results. Sai Kishen will now show the detector we built on our proposals,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0000000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1"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Stage III re-ranking</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edge and geometry cues re-order BING's windows</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Complete detector</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HOG or CNN features + linear SVMs on our proposals, scored by VOC mAP</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Authors' C++ code, same images and evaluator; two missing details found</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Numba kernels of the paper's Alg. 2, now multi-threaded</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 Our stage III then re-ranks the output (next slide).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annotated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for the detector, VOC mean average precision (mAP).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14</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Proposal speed with multi-threading, ours vs the authors C++ code"/>
          <p:cNvPicPr>
            <a:picLocks noChangeAspect="1"/>
          </p:cNvPicPr>
          <p:nvPr/>
        </p:nvPicPr>
        <p:blipFill>
          <a:blip r:embed="rId4"/>
          <a:srcRect/>
          <a:stretch/>
        </p:blipFill>
        <p:spPr>
          <a:xfrm>
            <a:off x="7589520" y="1325880"/>
            <a:ext cx="4206240" cy="2306524"/>
          </a:xfrm>
          <a:prstGeom prst="rect">
            <a:avLst/>
          </a:prstGeom>
        </p:spPr>
      </p:pic>
      <p:sp>
        <p:nvSpPr>
          <p:cNvPr id="7" name="Text 3"/>
          <p:cNvSpPr txBox="1"/>
          <p:nvPr/>
        </p:nvSpPr>
        <p:spPr>
          <a:xfrm>
            <a:off x="7589520" y="3815284"/>
            <a:ext cx="4206240" cy="2539796"/>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Speed: </a:t>
            </a:r>
            <a:r>
              <a:rPr lang="en-US" sz="1250" dirty="0">
                <a:solidFill>
                  <a:srgbClr val="5B6270"/>
                </a:solidFill>
                <a:latin typeface="Calibri" pitchFamily="34" charset="0"/>
                <a:ea typeface="Calibri" pitchFamily="34" charset="-122"/>
                <a:cs typeface="Calibri" pitchFamily="34" charset="-120"/>
              </a:rPr>
              <a:t>4 threads, one image each → 186 img/s (authors' C++: 196)</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Gradients, a 64-weight model and bit operations find 94% of VOC objects, as the authors' code does; our re-ranking finds them sooner.</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71.0%</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found in the top 100 with our</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re-ranking (BING: 67.2%)</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53.3%</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small objects in the top 1000</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with re-ranking (BING: 39.3%)</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186</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4 threads</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196)</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 xml:space="preserve">Future work  </a:t>
            </a:r>
            <a:r>
              <a:rPr lang="en-US" sz="1400" dirty="0">
                <a:solidFill>
                  <a:srgbClr val="AEB8C6"/>
                </a:solidFill>
                <a:latin typeface="Calibri" pitchFamily="34" charset="0"/>
                <a:ea typeface="Calibri" pitchFamily="34" charset="-122"/>
                <a:cs typeface="Calibri" pitchFamily="34" charset="-120"/>
              </a:rPr>
              <a:t>tighter boxes (better box regression, finer sizes) · fine-tuned CNN features · train-on-some-classes generalisation</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Our novelty: multi-cue re-ranking (stage III)</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Top 20 windows of BING on a VOC test image before and after re-ranking"/>
          <p:cNvPicPr>
            <a:picLocks noChangeAspect="1"/>
          </p:cNvPicPr>
          <p:nvPr/>
        </p:nvPicPr>
        <p:blipFill>
          <a:blip r:embed="rId3"/>
          <a:srcRect/>
          <a:stretch/>
        </p:blipFill>
        <p:spPr>
          <a:xfrm>
            <a:off x="457200" y="1463040"/>
            <a:ext cx="6583680" cy="2641550"/>
          </a:xfrm>
          <a:prstGeom prst="rect">
            <a:avLst/>
          </a:prstGeom>
        </p:spPr>
      </p:pic>
      <p:sp>
        <p:nvSpPr>
          <p:cNvPr id="6" name="Text 3"/>
          <p:cNvSpPr txBox="1"/>
          <p:nvPr/>
        </p:nvSpPr>
        <p:spPr>
          <a:xfrm>
            <a:off x="548640" y="419603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20 windows (yellow) on a VOC 2007 test image. Green: object found (IoU ≥ 0.5); red: missed.</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1 · Colour contrast</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Lab colour inside the window vs. a ring around it</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2 · Edge density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Gradient energy inside vs. the ring</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3 · Geometry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Position, size and aspect ratio of the window</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4 · BING itself</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Its calibrated score and rank</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A small gradient-boosted tree model combines the 16 values into a new score. Every cue is read from integral images in O(1): no deep network.</a:t>
            </a:r>
            <a:endParaRPr lang="en-US" sz="1500" dirty="0"/>
          </a:p>
        </p:txBody>
      </p:sp>
      <p:sp>
        <p:nvSpPr>
          <p:cNvPr id="9" name="Text 6"/>
          <p:cNvSpPr txBox="1"/>
          <p:nvPr/>
        </p:nvSpPr>
        <p:spPr>
          <a:xfrm>
            <a:off x="548640" y="4881830"/>
            <a:ext cx="6400800" cy="1371600"/>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Problem. </a:t>
            </a:r>
            <a:r>
              <a:rPr lang="en-US" sz="1500" dirty="0">
                <a:solidFill>
                  <a:srgbClr val="5B6270"/>
                </a:solidFill>
                <a:latin typeface="Calibri" pitchFamily="34" charset="0"/>
                <a:ea typeface="Calibri" pitchFamily="34" charset="-122"/>
                <a:cs typeface="Calibri" pitchFamily="34" charset="-120"/>
              </a:rPr>
              <a:t>BING ranks windows with a single cue, its 8×8 edge template, so object windows can sit far down the list.</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Our idea. </a:t>
            </a:r>
            <a:r>
              <a:rPr lang="en-US" sz="1500" dirty="0">
                <a:solidFill>
                  <a:srgbClr val="5B6270"/>
                </a:solidFill>
                <a:latin typeface="Calibri" pitchFamily="34" charset="0"/>
                <a:ea typeface="Calibri" pitchFamily="34" charset="-122"/>
                <a:cs typeface="Calibri" pitchFamily="34" charset="-120"/>
              </a:rPr>
              <a:t>Re-score BING's windows with extra cheap, handcrafted cues, learned from VOC trainval.</a:t>
            </a:r>
            <a:endParaRPr lang="en-US" sz="15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A complete detector built on our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13</a:t>
            </a:r>
            <a:endParaRPr lang="en-US" sz="1000" dirty="0"/>
          </a:p>
        </p:txBody>
      </p:sp>
      <p:pic>
        <p:nvPicPr>
          <p:cNvPr id="5" name="Image 0" descr="VOC 2007 mAP of the HOG + SVM detector for each source of windows, and AP per class"/>
          <p:cNvPicPr>
            <a:picLocks noChangeAspect="1"/>
          </p:cNvPicPr>
          <p:nvPr/>
        </p:nvPicPr>
        <p:blipFill>
          <a:blip r:embed="rId3"/>
          <a:srcRect/>
          <a:stretch/>
        </p:blipFill>
        <p:spPr>
          <a:xfrm>
            <a:off x="365760" y="1417320"/>
            <a:ext cx="7680960" cy="2671638"/>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19.1%</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CNN detector on our re-ranked top 100 (HOG: 7.4%)</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0.6%</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from 100 sliding windows, same detector (30× lower)</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30%</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of objects covered at IoU ≥ 0.7 by BING's top 1000 (random boxes: 43%)</a:t>
            </a:r>
            <a:endParaRPr lang="en-US" sz="1500" dirty="0"/>
          </a:p>
        </p:txBody>
      </p:sp>
      <p:sp>
        <p:nvSpPr>
          <p:cNvPr id="12" name="Text 9"/>
          <p:cNvSpPr txBox="1"/>
          <p:nvPr/>
        </p:nvSpPr>
        <p:spPr>
          <a:xfrm>
            <a:off x="548640" y="4363278"/>
            <a:ext cx="7498080" cy="1946082"/>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Pipeline: </a:t>
            </a:r>
            <a:r>
              <a:rPr lang="en-US" sz="1500" dirty="0">
                <a:solidFill>
                  <a:srgbClr val="5B6270"/>
                </a:solidFill>
                <a:latin typeface="Calibri" pitchFamily="34" charset="0"/>
                <a:ea typeface="Calibri" pitchFamily="34" charset="-122"/>
                <a:cs typeface="Calibri" pitchFamily="34" charset="-120"/>
              </a:rPr>
              <a:t>each window → mean ResNet-50 conv4 + conv5 activations (ImageNet, frozen) → 20 linear SVMs + box regression. A fully handcrafted version (HOG + colour) reaches 7.4%.</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Finding: </a:t>
            </a:r>
            <a:r>
              <a:rPr lang="en-US" sz="1500" dirty="0">
                <a:solidFill>
                  <a:srgbClr val="5B6270"/>
                </a:solidFill>
                <a:latin typeface="Calibri" pitchFamily="34" charset="0"/>
                <a:ea typeface="Calibri" pitchFamily="34" charset="-122"/>
                <a:cs typeface="Calibri" pitchFamily="34" charset="-120"/>
              </a:rPr>
              <a:t>at 100 windows BING beats random boxes (18.8% vs 13.8%); at 1000, random boxes win (16.0%) because BING's boxes are loose. Hosang et al. (TPAMI 2016): recall at stricter overlaps predicts detection quality.</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Novelty result: more objects, found sooner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12</a:t>
            </a:r>
            <a:endParaRPr lang="en-US" sz="1000" dirty="0"/>
          </a:p>
        </p:txBody>
      </p:sp>
      <p:pic>
        <p:nvPicPr>
          <p:cNvPr id="5" name="Image 0" descr="Recall of BING with and without multi-cue re-ranking on VOC 2007, by object size, and cue ablation"/>
          <p:cNvPicPr>
            <a:picLocks noChangeAspect="1"/>
          </p:cNvPicPr>
          <p:nvPr/>
        </p:nvPicPr>
        <p:blipFill>
          <a:blip r:embed="rId3"/>
          <a:srcRect/>
          <a:stretch/>
        </p:blipFill>
        <p:spPr>
          <a:xfrm>
            <a:off x="365760" y="1417320"/>
            <a:ext cx="7680960" cy="241141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71.0%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 (BING alone: 67.2%)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53.3%</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small objects found in the top 1000 (BING alone: 39.3%)</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94.7%</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1000 (BING alone: 94.0%)</a:t>
            </a:r>
            <a:endParaRPr lang="en-US" sz="1500" dirty="0"/>
          </a:p>
        </p:txBody>
      </p:sp>
      <p:sp>
        <p:nvSpPr>
          <p:cNvPr id="12" name="Text 9"/>
          <p:cNvSpPr txBox="1"/>
          <p:nvPr/>
        </p:nvSpPr>
        <p:spPr>
          <a:xfrm>
            <a:off x="548640" y="4103054"/>
            <a:ext cx="7498080" cy="2206306"/>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Edge density is the key cue for small objects: </a:t>
            </a:r>
            <a:r>
              <a:rPr lang="en-US" sz="1500" dirty="0">
                <a:solidFill>
                  <a:srgbClr val="5B6270"/>
                </a:solidFill>
                <a:latin typeface="Calibri" pitchFamily="34" charset="0"/>
                <a:ea typeface="Calibri" pitchFamily="34" charset="-122"/>
                <a:cs typeface="Calibri" pitchFamily="34" charset="-120"/>
              </a:rPr>
              <a:t>without it, small-object recall falls from 53.3% to 45.0%.</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Cost: </a:t>
            </a:r>
            <a:r>
              <a:rPr lang="en-US" sz="1500" dirty="0">
                <a:solidFill>
                  <a:srgbClr val="5B6270"/>
                </a:solidFill>
                <a:latin typeface="Calibri" pitchFamily="34" charset="0"/>
                <a:ea typeface="Calibri" pitchFamily="34" charset="-122"/>
                <a:cs typeface="Calibri" pitchFamily="34" charset="-120"/>
              </a:rPr>
              <a:t>about half of BING's speed (34 vs 67 img/s), still ~40× faster than Selective Search.</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Tried and rejected: </a:t>
            </a:r>
            <a:r>
              <a:rPr lang="en-US" sz="1500" dirty="0">
                <a:solidFill>
                  <a:srgbClr val="5B6270"/>
                </a:solidFill>
                <a:latin typeface="Calibri" pitchFamily="34" charset="0"/>
                <a:ea typeface="Calibri" pitchFamily="34" charset="-122"/>
                <a:cs typeface="Calibri" pitchFamily="34" charset="-120"/>
              </a:rPr>
              <a:t>snapping box edges to strong gradients and adding finer window sizes; neither raised recall on the full test set.</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3369</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5</cp:revision>
  <dcterms:created xsi:type="dcterms:W3CDTF">2026-10-01T13:28:54Z</dcterms:created>
  <dcterms:modified xsi:type="dcterms:W3CDTF">2026-10-01T13:50:34Z</dcterms:modified>
</cp:coreProperties>
</file>