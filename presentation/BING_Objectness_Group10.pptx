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group and the topic. Our project re-implements and studies BING, a CVPR 2014 method that finds likely object regions in an image at 300 frames per second, using only handcrafted gradient features — no deep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 detection is costly because a sliding-window detector must classify a huge number of windows. Object proposals first pick a small number of promising windows. We ask only 'where are objects likely to be', not 'what are they'. The numbers on the right are our own results, explained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BING's key observation: objects are stand-alone things with well-defined closed boundaries. If you shrink any window to 8x8 and compute gradient magnitudes, windows around objects show a ring of strong edges. A single 64-weight linear filter learns this. The figure shows the filter we learned: positive (red) on the border, negative inside. The second stage calibrates each window size — the small matrix shows the learned calibration weight per size; sizes that never contain objects are dropped.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eight stages from our proposal. The input is resized, 36 window sizes are considered, gradient features are computed, binarized, scored with bit operations, non-maximum suppression and calibration rank them, and the top boxes are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Instead of cropping every window, we resize the whole image once per window size so that each 8x8 patch in the resized normed-gradient map is exactly one window. The bottom row shows the four most significant bit planes used by the binarized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filter is approximated by a weighted sum of plus/minus-one vectors (Algorithm 1 of the paper), and the feature by its top four bit planes. Then the dot product becomes AND plus POPCOUNT operations on 64-bit integers. Our unit tests confirm the bitwise score equals the approximated float score, and accuracy is the same as the float filter.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wrote everything from scratch in Python, following the structure of the authors' C++ repository. The Numba module is a JIT-compiled version of the paper's Algorithm 2. There are scripts for data generation, experiments, figures and a live demo, and unit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could not download PASCAL VOC in our environment, so we built a synthetic benchmark with ground-truth boxes, including distracting clutter lines, textures, shading and noise. To test generalisation we hand-labelled 58 objects in 10 real photos. The model never sees real images during training. A VOC loader is included to reproduce the paper's 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Detection rate: the fraction of objects covered by at least one proposal with IoU at least 0.5, as a function of the number of proposals. BING reaches about 95 percent at 1000 proposals, far above random boxes; combining three colour spaces (Diversified) pushes it higher.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Comparison with baselines. Calibration (stage II) clearly helps at small proposal budgets. Binary and float are equally accurate. Selective Search, a segmentation-based method, gives tighter boxes (higher MABO) but is dozens of times slower. This is the same trade-off reported in the literature.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real photographs the model trained only on synthetic shapes still finds most objects in the top 1000, showing that the 'closed boundary' cue transfers. The right panel shows, per object, the best proposal found — green if found, red if missed.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Visualising objectness: top-ranked boxes and a heat-map built by accumulating proposal scores. Objectness concentrates on real objects rather than on textured background.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Speed: the JIT-compiled bitwise kernel is several times faster than pure numpy. In Python, OpenCV's SIMD float correlation is still competitive, because the paper's 300 fps relies on hand-optimised C++. Most of our per-image time is resizing, not scoring.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Ablations. The simple [-1 0 1] gradient is as good as Sobel. RGB is the best single colour space; the others are complementary. One binary basis loses some accuracy; two are enough. Four bits of the gradient suffice. Very few training images are needed because the model has only 64 weights.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BING's weakness is localisation precision: recall is high at IoU 0.5 but drops at stricter thresholds, and MABO is lower than Selective Search. This is because of the coarse power-of-two window sizes and 8-pixel stride.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contribution we listed in the proposal is covered.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Limitations and what we would do next: better localisation, full VOC evaluation, a C++ popcount kernel, training on real data, and adding a classifier to make a full detector.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Summary of the key numbers. Thank you — we are happy to take questions and can run the live demo (scripts/demo.py).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A24"/>
        </a:solidFill>
      </p:bgPr>
    </p:bg>
    <p:spTree>
      <p:nvGrpSpPr>
        <p:cNvPr id="1" name=""/>
        <p:cNvGrpSpPr/>
        <p:nvPr/>
      </p:nvGrpSpPr>
      <p:grpSpPr>
        <a:xfrm>
          <a:off x="0" y="0"/>
          <a:ext cx="0" cy="0"/>
          <a:chOff x="0" y="0"/>
          <a:chExt cx="0" cy="0"/>
        </a:xfrm>
      </p:grpSpPr>
      <p:pic>
        <p:nvPicPr>
          <p:cNvPr id="2" name="Image 0" descr="/home/user/cvprojectg10/results/figures/ng_title.png">    </p:cNvPr>
          <p:cNvPicPr>
            <a:picLocks noChangeAspect="1"/>
          </p:cNvPicPr>
          <p:nvPr/>
        </p:nvPicPr>
        <p:blipFill>
          <a:blip r:embed="rId1"/>
          <a:srcRect l="0" r="0" t="0" b="0"/>
          <a:stretch/>
        </p:blipFill>
        <p:spPr>
          <a:xfrm>
            <a:off x="6583680" y="0"/>
            <a:ext cx="5605272" cy="6858000"/>
          </a:xfrm>
          <a:prstGeom prst="rect">
            <a:avLst/>
          </a:prstGeom>
        </p:spPr>
      </p:pic>
      <p:sp>
        <p:nvSpPr>
          <p:cNvPr id="3" name="Text 0"/>
          <p:cNvSpPr txBox="1"/>
          <p:nvPr/>
        </p:nvSpPr>
        <p:spPr>
          <a:xfrm>
            <a:off x="548640" y="640080"/>
            <a:ext cx="5852160" cy="274320"/>
          </a:xfrm>
          <a:prstGeom prst="rect">
            <a:avLst/>
          </a:prstGeom>
          <a:noFill/>
          <a:ln/>
        </p:spPr>
        <p:txBody>
          <a:bodyPr wrap="square" lIns="0" tIns="0" rIns="0" bIns="0" rtlCol="0" anchor="ctr"/>
          <a:lstStyle/>
          <a:p>
            <a:pPr indent="0" marL="0">
              <a:buNone/>
            </a:pPr>
            <a:r>
              <a:rPr lang="en-US" sz="1200" b="1" spc="200" kern="0" dirty="0">
                <a:solidFill>
                  <a:srgbClr val="E8772E"/>
                </a:solidFill>
                <a:latin typeface="Calibri" pitchFamily="34" charset="0"/>
                <a:ea typeface="Calibri" pitchFamily="34" charset="-122"/>
                <a:cs typeface="Calibri" pitchFamily="34" charset="-120"/>
              </a:rPr>
              <a:t>23CSE373 · COMPUTER VISION · GROUP 10</a:t>
            </a:r>
            <a:endParaRPr lang="en-US" sz="1200" dirty="0"/>
          </a:p>
        </p:txBody>
      </p:sp>
      <p:sp>
        <p:nvSpPr>
          <p:cNvPr id="4" name="Text 1"/>
          <p:cNvSpPr txBox="1"/>
          <p:nvPr/>
        </p:nvSpPr>
        <p:spPr>
          <a:xfrm>
            <a:off x="548640" y="1097280"/>
            <a:ext cx="5760720" cy="2194560"/>
          </a:xfrm>
          <a:prstGeom prst="rect">
            <a:avLst/>
          </a:prstGeom>
          <a:noFill/>
          <a:ln/>
        </p:spPr>
        <p:txBody>
          <a:bodyPr wrap="square" lIns="0" tIns="0" rIns="0" bIns="0" rtlCol="0" anchor="t"/>
          <a:lstStyle/>
          <a:p>
            <a:pPr indent="0" marL="0">
              <a:buNone/>
            </a:pPr>
            <a:r>
              <a:rPr lang="en-US" sz="3600" b="1" dirty="0">
                <a:solidFill>
                  <a:srgbClr val="FFFFFF"/>
                </a:solidFill>
                <a:latin typeface="Cambria" pitchFamily="34" charset="0"/>
                <a:ea typeface="Cambria" pitchFamily="34" charset="-122"/>
                <a:cs typeface="Cambria" pitchFamily="34" charset="-120"/>
              </a:rPr>
              <a:t>Fast Object Proposal Generation Using Handcrafted Gradient Features</a:t>
            </a:r>
            <a:endParaRPr lang="en-US" sz="3600" dirty="0"/>
          </a:p>
        </p:txBody>
      </p:sp>
      <p:sp>
        <p:nvSpPr>
          <p:cNvPr id="5" name="Text 2"/>
          <p:cNvSpPr txBox="1"/>
          <p:nvPr/>
        </p:nvSpPr>
        <p:spPr>
          <a:xfrm>
            <a:off x="548640" y="3337560"/>
            <a:ext cx="5669280" cy="822960"/>
          </a:xfrm>
          <a:prstGeom prst="rect">
            <a:avLst/>
          </a:prstGeom>
          <a:noFill/>
          <a:ln/>
        </p:spPr>
        <p:txBody>
          <a:bodyPr wrap="square" lIns="0" tIns="0" rIns="0" bIns="0" rtlCol="0" anchor="t"/>
          <a:lstStyle/>
          <a:p>
            <a:pPr indent="0" marL="0">
              <a:buNone/>
            </a:pPr>
            <a:r>
              <a:rPr lang="en-US" sz="1500" i="1" dirty="0">
                <a:solidFill>
                  <a:srgbClr val="AEB8C6"/>
                </a:solidFill>
                <a:latin typeface="Calibri" pitchFamily="34" charset="0"/>
                <a:ea typeface="Calibri" pitchFamily="34" charset="-122"/>
                <a:cs typeface="Calibri" pitchFamily="34" charset="-120"/>
              </a:rPr>
              <a:t>A from-scratch re-implementation and study of BING — Binarized Normed Gradients for Objectness Estimation (Cheng, Zhang, Lin, Torr · CVPR 2014)</a:t>
            </a:r>
            <a:endParaRPr lang="en-US" sz="1500" dirty="0"/>
          </a:p>
        </p:txBody>
      </p:sp>
      <p:sp>
        <p:nvSpPr>
          <p:cNvPr id="6" name="Text 3"/>
          <p:cNvSpPr txBox="1"/>
          <p:nvPr/>
        </p:nvSpPr>
        <p:spPr>
          <a:xfrm>
            <a:off x="548640" y="4434840"/>
            <a:ext cx="5760720" cy="329184"/>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Abhinav Dileep</a:t>
            </a:r>
            <a:pPr indent="0" marL="0">
              <a:buNone/>
            </a:pPr>
            <a:r>
              <a:rPr lang="en-US" sz="1400" dirty="0">
                <a:solidFill>
                  <a:srgbClr val="AEB8C6"/>
                </a:solidFill>
                <a:latin typeface="Calibri" pitchFamily="34" charset="0"/>
                <a:ea typeface="Calibri" pitchFamily="34" charset="-122"/>
                <a:cs typeface="Calibri" pitchFamily="34" charset="-120"/>
              </a:rPr>
              <a:t>   AM.SC.U4CSE23202</a:t>
            </a:r>
            <a:endParaRPr lang="en-US" sz="1400" dirty="0"/>
          </a:p>
        </p:txBody>
      </p:sp>
      <p:sp>
        <p:nvSpPr>
          <p:cNvPr id="7" name="Text 4"/>
          <p:cNvSpPr txBox="1"/>
          <p:nvPr/>
        </p:nvSpPr>
        <p:spPr>
          <a:xfrm>
            <a:off x="548640" y="4800600"/>
            <a:ext cx="5760720" cy="329184"/>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Ayyappadas M T</a:t>
            </a:r>
            <a:pPr indent="0" marL="0">
              <a:buNone/>
            </a:pPr>
            <a:r>
              <a:rPr lang="en-US" sz="1400" dirty="0">
                <a:solidFill>
                  <a:srgbClr val="AEB8C6"/>
                </a:solidFill>
                <a:latin typeface="Calibri" pitchFamily="34" charset="0"/>
                <a:ea typeface="Calibri" pitchFamily="34" charset="-122"/>
                <a:cs typeface="Calibri" pitchFamily="34" charset="-120"/>
              </a:rPr>
              <a:t>   AM.SC.U4CSE23209</a:t>
            </a:r>
            <a:endParaRPr lang="en-US" sz="1400" dirty="0"/>
          </a:p>
        </p:txBody>
      </p:sp>
      <p:sp>
        <p:nvSpPr>
          <p:cNvPr id="8" name="Text 5"/>
          <p:cNvSpPr txBox="1"/>
          <p:nvPr/>
        </p:nvSpPr>
        <p:spPr>
          <a:xfrm>
            <a:off x="548640" y="5166360"/>
            <a:ext cx="5760720" cy="329184"/>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Hari Sankar A</a:t>
            </a:r>
            <a:pPr indent="0" marL="0">
              <a:buNone/>
            </a:pPr>
            <a:r>
              <a:rPr lang="en-US" sz="1400" dirty="0">
                <a:solidFill>
                  <a:srgbClr val="AEB8C6"/>
                </a:solidFill>
                <a:latin typeface="Calibri" pitchFamily="34" charset="0"/>
                <a:ea typeface="Calibri" pitchFamily="34" charset="-122"/>
                <a:cs typeface="Calibri" pitchFamily="34" charset="-120"/>
              </a:rPr>
              <a:t>   AM.SC.U4CSE23221</a:t>
            </a:r>
            <a:endParaRPr lang="en-US" sz="1400" dirty="0"/>
          </a:p>
        </p:txBody>
      </p:sp>
      <p:sp>
        <p:nvSpPr>
          <p:cNvPr id="9" name="Text 6"/>
          <p:cNvSpPr txBox="1"/>
          <p:nvPr/>
        </p:nvSpPr>
        <p:spPr>
          <a:xfrm>
            <a:off x="548640" y="5532120"/>
            <a:ext cx="5760720" cy="329184"/>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Parthiv M</a:t>
            </a:r>
            <a:pPr indent="0" marL="0">
              <a:buNone/>
            </a:pPr>
            <a:r>
              <a:rPr lang="en-US" sz="1400" dirty="0">
                <a:solidFill>
                  <a:srgbClr val="AEB8C6"/>
                </a:solidFill>
                <a:latin typeface="Calibri" pitchFamily="34" charset="0"/>
                <a:ea typeface="Calibri" pitchFamily="34" charset="-122"/>
                <a:cs typeface="Calibri" pitchFamily="34" charset="-120"/>
              </a:rPr>
              <a:t>   AM.SC.U4CSE23240</a:t>
            </a:r>
            <a:endParaRPr lang="en-US" sz="1400" dirty="0"/>
          </a:p>
        </p:txBody>
      </p:sp>
      <p:sp>
        <p:nvSpPr>
          <p:cNvPr id="10" name="Text 7"/>
          <p:cNvSpPr txBox="1"/>
          <p:nvPr/>
        </p:nvSpPr>
        <p:spPr>
          <a:xfrm>
            <a:off x="548640" y="5897880"/>
            <a:ext cx="5760720" cy="329184"/>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Sai Kishen K M</a:t>
            </a:r>
            <a:pPr indent="0" marL="0">
              <a:buNone/>
            </a:pPr>
            <a:r>
              <a:rPr lang="en-US" sz="1400" dirty="0">
                <a:solidFill>
                  <a:srgbClr val="AEB8C6"/>
                </a:solidFill>
                <a:latin typeface="Calibri" pitchFamily="34" charset="0"/>
                <a:ea typeface="Calibri" pitchFamily="34" charset="-122"/>
                <a:cs typeface="Calibri" pitchFamily="34" charset="-120"/>
              </a:rPr>
              <a:t>   AM.SC.U4CSE23248</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E8772E"/>
                </a:solidFill>
                <a:latin typeface="Calibri" pitchFamily="34" charset="0"/>
                <a:ea typeface="Calibri" pitchFamily="34" charset="-122"/>
                <a:cs typeface="Calibri" pitchFamily="34" charset="-120"/>
              </a:rPr>
              <a:t>PROBLEM &amp; MOTIVATION</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indent="0" marL="0">
              <a:buNone/>
            </a:pPr>
            <a:r>
              <a:rPr lang="en-US" sz="3200" b="1" dirty="0">
                <a:solidFill>
                  <a:srgbClr val="1B1F2A"/>
                </a:solidFill>
                <a:latin typeface="Cambria" pitchFamily="34" charset="0"/>
                <a:ea typeface="Cambria" pitchFamily="34" charset="-122"/>
                <a:cs typeface="Cambria" pitchFamily="34" charset="-120"/>
              </a:rPr>
              <a:t>Why object proposals?</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B6270"/>
                </a:solidFill>
                <a:latin typeface="Calibri" pitchFamily="34" charset="0"/>
                <a:ea typeface="Calibri" pitchFamily="34" charset="-122"/>
                <a:cs typeface="Calibri" pitchFamily="34" charset="-120"/>
              </a:rPr>
              <a:t>2</a:t>
            </a:r>
            <a:endParaRPr lang="en-US" sz="1000" dirty="0"/>
          </a:p>
        </p:txBody>
      </p:sp>
      <p:sp>
        <p:nvSpPr>
          <p:cNvPr id="5" name="Text 3"/>
          <p:cNvSpPr txBox="1"/>
          <p:nvPr/>
        </p:nvSpPr>
        <p:spPr>
          <a:xfrm>
            <a:off x="548640" y="1554480"/>
            <a:ext cx="6035040" cy="4114800"/>
          </a:xfrm>
          <a:prstGeom prst="rect">
            <a:avLst/>
          </a:prstGeom>
          <a:noFill/>
          <a:ln/>
        </p:spPr>
        <p:txBody>
          <a:bodyPr wrap="square" lIns="0" tIns="0" rIns="0" bIns="0" rtlCol="0" anchor="t"/>
          <a:lstStyle/>
          <a:p>
            <a:pPr marL="342900" indent="-342900">
              <a:spcAft>
                <a:spcPts val="900"/>
              </a:spcAft>
              <a:buSzPct val="100000"/>
              <a:buChar char="•"/>
            </a:pPr>
            <a:r>
              <a:rPr lang="en-US" sz="1700" b="1" dirty="0">
                <a:solidFill>
                  <a:srgbClr val="1B1F2A"/>
                </a:solidFill>
                <a:latin typeface="Calibri" pitchFamily="34" charset="0"/>
                <a:ea typeface="Calibri" pitchFamily="34" charset="-122"/>
                <a:cs typeface="Calibri" pitchFamily="34" charset="-120"/>
              </a:rPr>
              <a:t>Detection is expensive. </a:t>
            </a:r>
            <a:pPr indent="0" marL="0">
              <a:buNone/>
            </a:pPr>
            <a:r>
              <a:rPr lang="en-US" sz="1700" dirty="0">
                <a:solidFill>
                  <a:srgbClr val="5B6270"/>
                </a:solidFill>
                <a:latin typeface="Calibri" pitchFamily="34" charset="0"/>
                <a:ea typeface="Calibri" pitchFamily="34" charset="-122"/>
                <a:cs typeface="Calibri" pitchFamily="34" charset="-120"/>
              </a:rPr>
              <a:t>A sliding-window detector must classify every position × scale × aspect ratio — easily 10⁵–10⁶ windows per image.</a:t>
            </a:r>
            <a:endParaRPr lang="en-US" sz="1700" dirty="0"/>
          </a:p>
          <a:p>
            <a:pPr marL="342900" indent="-342900">
              <a:spcAft>
                <a:spcPts val="900"/>
              </a:spcAft>
              <a:buSzPct val="100000"/>
              <a:buChar char="•"/>
            </a:pPr>
            <a:r>
              <a:rPr lang="en-US" sz="1700" b="1" dirty="0">
                <a:solidFill>
                  <a:srgbClr val="1B1F2A"/>
                </a:solidFill>
                <a:latin typeface="Calibri" pitchFamily="34" charset="0"/>
                <a:ea typeface="Calibri" pitchFamily="34" charset="-122"/>
                <a:cs typeface="Calibri" pitchFamily="34" charset="-120"/>
              </a:rPr>
              <a:t>Most windows are background. </a:t>
            </a:r>
            <a:pPr indent="0" marL="0">
              <a:buNone/>
            </a:pPr>
            <a:r>
              <a:rPr lang="en-US" sz="1700" dirty="0">
                <a:solidFill>
                  <a:srgbClr val="5B6270"/>
                </a:solidFill>
                <a:latin typeface="Calibri" pitchFamily="34" charset="0"/>
                <a:ea typeface="Calibri" pitchFamily="34" charset="-122"/>
                <a:cs typeface="Calibri" pitchFamily="34" charset="-120"/>
              </a:rPr>
              <a:t>Only a handful of windows actually contain an object.</a:t>
            </a:r>
            <a:endParaRPr lang="en-US" sz="1700" dirty="0"/>
          </a:p>
          <a:p>
            <a:pPr marL="342900" indent="-342900">
              <a:spcAft>
                <a:spcPts val="900"/>
              </a:spcAft>
              <a:buSzPct val="100000"/>
              <a:buChar char="•"/>
            </a:pPr>
            <a:r>
              <a:rPr lang="en-US" sz="1700" b="1" dirty="0">
                <a:solidFill>
                  <a:srgbClr val="1B1F2A"/>
                </a:solidFill>
                <a:latin typeface="Calibri" pitchFamily="34" charset="0"/>
                <a:ea typeface="Calibri" pitchFamily="34" charset="-122"/>
                <a:cs typeface="Calibri" pitchFamily="34" charset="-120"/>
              </a:rPr>
              <a:t>Objectness first. </a:t>
            </a:r>
            <a:pPr indent="0" marL="0">
              <a:buNone/>
            </a:pPr>
            <a:r>
              <a:rPr lang="en-US" sz="1700" dirty="0">
                <a:solidFill>
                  <a:srgbClr val="5B6270"/>
                </a:solidFill>
                <a:latin typeface="Calibri" pitchFamily="34" charset="0"/>
                <a:ea typeface="Calibri" pitchFamily="34" charset="-122"/>
                <a:cs typeface="Calibri" pitchFamily="34" charset="-120"/>
              </a:rPr>
              <a:t>A cheap, class-agnostic score ranks windows so that a detector only examines the top ~1000.</a:t>
            </a:r>
            <a:endParaRPr lang="en-US" sz="1700" dirty="0"/>
          </a:p>
          <a:p>
            <a:pPr marL="342900" indent="-342900">
              <a:spcAft>
                <a:spcPts val="900"/>
              </a:spcAft>
              <a:buSzPct val="100000"/>
              <a:buChar char="•"/>
            </a:pPr>
            <a:r>
              <a:rPr lang="en-US" sz="1700" b="1" dirty="0">
                <a:solidFill>
                  <a:srgbClr val="1B1F2A"/>
                </a:solidFill>
                <a:latin typeface="Calibri" pitchFamily="34" charset="0"/>
                <a:ea typeface="Calibri" pitchFamily="34" charset="-122"/>
                <a:cs typeface="Calibri" pitchFamily="34" charset="-120"/>
              </a:rPr>
              <a:t>Question we answer: </a:t>
            </a:r>
            <a:pPr indent="0" marL="0">
              <a:buNone/>
            </a:pPr>
            <a:r>
              <a:rPr lang="en-US" sz="1700" dirty="0">
                <a:solidFill>
                  <a:srgbClr val="5B6270"/>
                </a:solidFill>
                <a:latin typeface="Calibri" pitchFamily="34" charset="0"/>
                <a:ea typeface="Calibri" pitchFamily="34" charset="-122"/>
                <a:cs typeface="Calibri" pitchFamily="34" charset="-120"/>
              </a:rPr>
              <a:t>“Which regions of this image are likely to contain objects?” — not “what is the object?”</a:t>
            </a:r>
            <a:endParaRPr lang="en-US" sz="1700" dirty="0"/>
          </a:p>
        </p:txBody>
      </p:sp>
      <p:sp>
        <p:nvSpPr>
          <p:cNvPr id="6" name="Shape 4"/>
          <p:cNvSpPr/>
          <p:nvPr/>
        </p:nvSpPr>
        <p:spPr>
          <a:xfrm>
            <a:off x="7040880" y="1554480"/>
            <a:ext cx="4572000" cy="4572000"/>
          </a:xfrm>
          <a:prstGeom prst="roundRect">
            <a:avLst>
              <a:gd name="adj" fmla="val 2400"/>
            </a:avLst>
          </a:prstGeom>
          <a:solidFill>
            <a:srgbClr val="F1F4F7"/>
          </a:solidFill>
          <a:ln w="12700">
            <a:solidFill>
              <a:srgbClr val="F1F4F7"/>
            </a:solidFill>
            <a:prstDash val="solid"/>
          </a:ln>
        </p:spPr>
      </p:sp>
      <p:sp>
        <p:nvSpPr>
          <p:cNvPr id="7" name="Text 5"/>
          <p:cNvSpPr txBox="1"/>
          <p:nvPr/>
        </p:nvSpPr>
        <p:spPr>
          <a:xfrm>
            <a:off x="7406640" y="1828800"/>
            <a:ext cx="3931920" cy="822960"/>
          </a:xfrm>
          <a:prstGeom prst="rect">
            <a:avLst/>
          </a:prstGeom>
          <a:noFill/>
          <a:ln/>
        </p:spPr>
        <p:txBody>
          <a:bodyPr wrap="square" lIns="0" tIns="0" rIns="0" bIns="0" rtlCol="0" anchor="ctr"/>
          <a:lstStyle/>
          <a:p>
            <a:pPr indent="0" marL="0">
              <a:buNone/>
            </a:pPr>
            <a:r>
              <a:rPr lang="en-US" sz="4400" b="1" dirty="0">
                <a:solidFill>
                  <a:srgbClr val="5B6270"/>
                </a:solidFill>
                <a:latin typeface="Cambria" pitchFamily="34" charset="0"/>
                <a:ea typeface="Cambria" pitchFamily="34" charset="-122"/>
                <a:cs typeface="Cambria" pitchFamily="34" charset="-120"/>
              </a:rPr>
              <a:t>~10⁵+</a:t>
            </a:r>
            <a:endParaRPr lang="en-US" sz="4400" dirty="0"/>
          </a:p>
        </p:txBody>
      </p:sp>
      <p:sp>
        <p:nvSpPr>
          <p:cNvPr id="8" name="Text 6"/>
          <p:cNvSpPr txBox="1"/>
          <p:nvPr/>
        </p:nvSpPr>
        <p:spPr>
          <a:xfrm>
            <a:off x="7406640" y="2651760"/>
            <a:ext cx="3931920" cy="548640"/>
          </a:xfrm>
          <a:prstGeom prst="rect">
            <a:avLst/>
          </a:prstGeom>
          <a:noFill/>
          <a:ln/>
        </p:spPr>
        <p:txBody>
          <a:bodyPr wrap="square" lIns="0" tIns="0" rIns="0" bIns="0" rtlCol="0" anchor="t"/>
          <a:lstStyle/>
          <a:p>
            <a:pPr indent="0" marL="0">
              <a:buNone/>
            </a:pPr>
            <a:r>
              <a:rPr lang="en-US" sz="1300" dirty="0">
                <a:solidFill>
                  <a:srgbClr val="5B6270"/>
                </a:solidFill>
                <a:latin typeface="Calibri" pitchFamily="34" charset="0"/>
                <a:ea typeface="Calibri" pitchFamily="34" charset="-122"/>
                <a:cs typeface="Calibri" pitchFamily="34" charset="-120"/>
              </a:rPr>
              <a:t>windows a naïve sliding-window scan evaluates per image</a:t>
            </a:r>
            <a:endParaRPr lang="en-US" sz="1300" dirty="0"/>
          </a:p>
        </p:txBody>
      </p:sp>
      <p:sp>
        <p:nvSpPr>
          <p:cNvPr id="9" name="Text 7"/>
          <p:cNvSpPr txBox="1"/>
          <p:nvPr/>
        </p:nvSpPr>
        <p:spPr>
          <a:xfrm>
            <a:off x="7406640" y="3246120"/>
            <a:ext cx="3931920" cy="822960"/>
          </a:xfrm>
          <a:prstGeom prst="rect">
            <a:avLst/>
          </a:prstGeom>
          <a:noFill/>
          <a:ln/>
        </p:spPr>
        <p:txBody>
          <a:bodyPr wrap="square" lIns="0" tIns="0" rIns="0" bIns="0" rtlCol="0" anchor="ctr"/>
          <a:lstStyle/>
          <a:p>
            <a:pPr indent="0" marL="0">
              <a:buNone/>
            </a:pPr>
            <a:r>
              <a:rPr lang="en-US" sz="4400" b="1" dirty="0">
                <a:solidFill>
                  <a:srgbClr val="E8772E"/>
                </a:solidFill>
                <a:latin typeface="Cambria" pitchFamily="34" charset="0"/>
                <a:ea typeface="Cambria" pitchFamily="34" charset="-122"/>
                <a:cs typeface="Cambria" pitchFamily="34" charset="-120"/>
              </a:rPr>
              <a:t>95.1%</a:t>
            </a:r>
            <a:endParaRPr lang="en-US" sz="4400" dirty="0"/>
          </a:p>
        </p:txBody>
      </p:sp>
      <p:sp>
        <p:nvSpPr>
          <p:cNvPr id="10" name="Text 8"/>
          <p:cNvSpPr txBox="1"/>
          <p:nvPr/>
        </p:nvSpPr>
        <p:spPr>
          <a:xfrm>
            <a:off x="7406640" y="4069080"/>
            <a:ext cx="3931920" cy="548640"/>
          </a:xfrm>
          <a:prstGeom prst="rect">
            <a:avLst/>
          </a:prstGeom>
          <a:noFill/>
          <a:ln/>
        </p:spPr>
        <p:txBody>
          <a:bodyPr wrap="square" lIns="0" tIns="0" rIns="0" bIns="0" rtlCol="0" anchor="t"/>
          <a:lstStyle/>
          <a:p>
            <a:pPr indent="0" marL="0">
              <a:buNone/>
            </a:pPr>
            <a:r>
              <a:rPr lang="en-US" sz="1300" dirty="0">
                <a:solidFill>
                  <a:srgbClr val="5B6270"/>
                </a:solidFill>
                <a:latin typeface="Calibri" pitchFamily="34" charset="0"/>
                <a:ea typeface="Calibri" pitchFamily="34" charset="-122"/>
                <a:cs typeface="Calibri" pitchFamily="34" charset="-120"/>
              </a:rPr>
              <a:t>of objects recovered by our BING in the top 1000 proposals (synthetic test set)</a:t>
            </a:r>
            <a:endParaRPr lang="en-US" sz="1300" dirty="0"/>
          </a:p>
        </p:txBody>
      </p:sp>
      <p:sp>
        <p:nvSpPr>
          <p:cNvPr id="11" name="Text 9"/>
          <p:cNvSpPr txBox="1"/>
          <p:nvPr/>
        </p:nvSpPr>
        <p:spPr>
          <a:xfrm>
            <a:off x="7406640" y="4617720"/>
            <a:ext cx="3931920" cy="822960"/>
          </a:xfrm>
          <a:prstGeom prst="rect">
            <a:avLst/>
          </a:prstGeom>
          <a:noFill/>
          <a:ln/>
        </p:spPr>
        <p:txBody>
          <a:bodyPr wrap="square" lIns="0" tIns="0" rIns="0" bIns="0" rtlCol="0" anchor="ctr"/>
          <a:lstStyle/>
          <a:p>
            <a:pPr indent="0" marL="0">
              <a:buNone/>
            </a:pPr>
            <a:r>
              <a:rPr lang="en-US" sz="4400" b="1" dirty="0">
                <a:solidFill>
                  <a:srgbClr val="1C7293"/>
                </a:solidFill>
                <a:latin typeface="Cambria" pitchFamily="34" charset="0"/>
                <a:ea typeface="Cambria" pitchFamily="34" charset="-122"/>
                <a:cs typeface="Cambria" pitchFamily="34" charset="-120"/>
              </a:rPr>
              <a:t>188 fps</a:t>
            </a:r>
            <a:endParaRPr lang="en-US" sz="4400" dirty="0"/>
          </a:p>
        </p:txBody>
      </p:sp>
      <p:sp>
        <p:nvSpPr>
          <p:cNvPr id="12" name="Text 10"/>
          <p:cNvSpPr txBox="1"/>
          <p:nvPr/>
        </p:nvSpPr>
        <p:spPr>
          <a:xfrm>
            <a:off x="7406640" y="5440680"/>
            <a:ext cx="3931920" cy="548640"/>
          </a:xfrm>
          <a:prstGeom prst="rect">
            <a:avLst/>
          </a:prstGeom>
          <a:noFill/>
          <a:ln/>
        </p:spPr>
        <p:txBody>
          <a:bodyPr wrap="square" lIns="0" tIns="0" rIns="0" bIns="0" rtlCol="0" anchor="t"/>
          <a:lstStyle/>
          <a:p>
            <a:pPr indent="0" marL="0">
              <a:buNone/>
            </a:pPr>
            <a:r>
              <a:rPr lang="en-US" sz="1300" dirty="0">
                <a:solidFill>
                  <a:srgbClr val="5B6270"/>
                </a:solidFill>
                <a:latin typeface="Calibri" pitchFamily="34" charset="0"/>
                <a:ea typeface="Calibri" pitchFamily="34" charset="-122"/>
                <a:cs typeface="Calibri" pitchFamily="34" charset="-120"/>
              </a:rPr>
              <a:t>fastest configuration of our Python/Numba implementation</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E8772E"/>
                </a:solidFill>
                <a:latin typeface="Calibri" pitchFamily="34" charset="0"/>
                <a:ea typeface="Calibri" pitchFamily="34" charset="-122"/>
                <a:cs typeface="Calibri" pitchFamily="34" charset="-120"/>
              </a:rPr>
              <a:t>BASE PAPER</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indent="0" marL="0">
              <a:buNone/>
            </a:pPr>
            <a:r>
              <a:rPr lang="en-US" sz="3200" b="1" dirty="0">
                <a:solidFill>
                  <a:srgbClr val="1B1F2A"/>
                </a:solidFill>
                <a:latin typeface="Cambria" pitchFamily="34" charset="0"/>
                <a:ea typeface="Cambria" pitchFamily="34" charset="-122"/>
                <a:cs typeface="Cambria" pitchFamily="34" charset="-120"/>
              </a:rPr>
              <a:t>BING in one idea</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B6270"/>
                </a:solidFill>
                <a:latin typeface="Calibri" pitchFamily="34" charset="0"/>
                <a:ea typeface="Calibri" pitchFamily="34" charset="-122"/>
                <a:cs typeface="Calibri" pitchFamily="34" charset="-120"/>
              </a:rPr>
              <a:t>3</a:t>
            </a:r>
            <a:endParaRPr lang="en-US" sz="1000" dirty="0"/>
          </a:p>
        </p:txBody>
      </p:sp>
      <p:sp>
        <p:nvSpPr>
          <p:cNvPr id="5" name="Text 3"/>
          <p:cNvSpPr txBox="1"/>
          <p:nvPr/>
        </p:nvSpPr>
        <p:spPr>
          <a:xfrm>
            <a:off x="548640" y="1554480"/>
            <a:ext cx="6309360" cy="4754880"/>
          </a:xfrm>
          <a:prstGeom prst="rect">
            <a:avLst/>
          </a:prstGeom>
          <a:noFill/>
          <a:ln/>
        </p:spPr>
        <p:txBody>
          <a:bodyPr wrap="square" lIns="0" tIns="0" rIns="0" bIns="0" rtlCol="0" anchor="t"/>
          <a:lstStyle/>
          <a:p>
            <a:pPr marL="342900" indent="-342900">
              <a:spcAft>
                <a:spcPts val="900"/>
              </a:spcAft>
              <a:buSzPct val="100000"/>
              <a:buChar char="•"/>
            </a:pPr>
            <a:r>
              <a:rPr lang="en-US" sz="1600" b="1" dirty="0">
                <a:solidFill>
                  <a:srgbClr val="1B1F2A"/>
                </a:solidFill>
                <a:latin typeface="Calibri" pitchFamily="34" charset="0"/>
                <a:ea typeface="Calibri" pitchFamily="34" charset="-122"/>
                <a:cs typeface="Calibri" pitchFamily="34" charset="-120"/>
              </a:rPr>
              <a:t>Objects are stand-alone things with closed boundaries. </a:t>
            </a:r>
            <a:pPr indent="0" marL="0">
              <a:buNone/>
            </a:pPr>
            <a:r>
              <a:rPr lang="en-US" sz="1600" dirty="0">
                <a:solidFill>
                  <a:srgbClr val="5B6270"/>
                </a:solidFill>
                <a:latin typeface="Calibri" pitchFamily="34" charset="0"/>
                <a:ea typeface="Calibri" pitchFamily="34" charset="-122"/>
                <a:cs typeface="Calibri" pitchFamily="34" charset="-120"/>
              </a:rPr>
              <a:t>Resize any window to a tiny 8×8 and look at its gradient magnitudes: object windows show a ring of strong edges around a quieter centre.</a:t>
            </a:r>
            <a:endParaRPr lang="en-US" sz="1600" dirty="0"/>
          </a:p>
          <a:p>
            <a:pPr marL="342900" indent="-342900">
              <a:spcAft>
                <a:spcPts val="900"/>
              </a:spcAft>
              <a:buSzPct val="100000"/>
              <a:buChar char="•"/>
            </a:pPr>
            <a:r>
              <a:rPr lang="en-US" sz="1600" b="1" dirty="0">
                <a:solidFill>
                  <a:srgbClr val="1B1F2A"/>
                </a:solidFill>
                <a:latin typeface="Calibri" pitchFamily="34" charset="0"/>
                <a:ea typeface="Calibri" pitchFamily="34" charset="-122"/>
                <a:cs typeface="Calibri" pitchFamily="34" charset="-120"/>
              </a:rPr>
              <a:t>Normed gradients (NG). </a:t>
            </a:r>
            <a:pPr indent="0" marL="0">
              <a:buNone/>
            </a:pPr>
            <a:r>
              <a:rPr lang="en-US" sz="1600" dirty="0">
                <a:solidFill>
                  <a:srgbClr val="5B6270"/>
                </a:solidFill>
                <a:latin typeface="Calibri" pitchFamily="34" charset="0"/>
                <a:ea typeface="Calibri" pitchFamily="34" charset="-122"/>
                <a:cs typeface="Calibri" pitchFamily="34" charset="-120"/>
              </a:rPr>
              <a:t>g = min(|gx| + |gy|, 255) — a 64-D feature that is invariant to translation, scale and aspect ratio of the window.</a:t>
            </a:r>
            <a:endParaRPr lang="en-US" sz="1600" dirty="0"/>
          </a:p>
          <a:p>
            <a:pPr marL="342900" indent="-342900">
              <a:spcAft>
                <a:spcPts val="900"/>
              </a:spcAft>
              <a:buSzPct val="100000"/>
              <a:buChar char="•"/>
            </a:pPr>
            <a:r>
              <a:rPr lang="en-US" sz="1600" b="1" dirty="0">
                <a:solidFill>
                  <a:srgbClr val="1B1F2A"/>
                </a:solidFill>
                <a:latin typeface="Calibri" pitchFamily="34" charset="0"/>
                <a:ea typeface="Calibri" pitchFamily="34" charset="-122"/>
                <a:cs typeface="Calibri" pitchFamily="34" charset="-120"/>
              </a:rPr>
              <a:t>Linear model, two stages. </a:t>
            </a:r>
            <a:pPr indent="0" marL="0">
              <a:buNone/>
            </a:pPr>
            <a:r>
              <a:rPr lang="en-US" sz="1600" dirty="0">
                <a:solidFill>
                  <a:srgbClr val="5B6270"/>
                </a:solidFill>
                <a:latin typeface="Calibri" pitchFamily="34" charset="0"/>
                <a:ea typeface="Calibri" pitchFamily="34" charset="-122"/>
                <a:cs typeface="Calibri" pitchFamily="34" charset="-120"/>
              </a:rPr>
              <a:t>An SVM filter w scores every window; a second per-size SVM calibrates scores across the 36 window sizes.</a:t>
            </a:r>
            <a:endParaRPr lang="en-US" sz="1600" dirty="0"/>
          </a:p>
          <a:p>
            <a:pPr marL="342900" indent="-342900">
              <a:spcAft>
                <a:spcPts val="900"/>
              </a:spcAft>
              <a:buSzPct val="100000"/>
              <a:buChar char="•"/>
            </a:pPr>
            <a:r>
              <a:rPr lang="en-US" sz="1600" b="1" dirty="0">
                <a:solidFill>
                  <a:srgbClr val="1B1F2A"/>
                </a:solidFill>
                <a:latin typeface="Calibri" pitchFamily="34" charset="0"/>
                <a:ea typeface="Calibri" pitchFamily="34" charset="-122"/>
                <a:cs typeface="Calibri" pitchFamily="34" charset="-120"/>
              </a:rPr>
              <a:t>Binarize everything. </a:t>
            </a:r>
            <a:pPr indent="0" marL="0">
              <a:buNone/>
            </a:pPr>
            <a:r>
              <a:rPr lang="en-US" sz="1600" dirty="0">
                <a:solidFill>
                  <a:srgbClr val="5B6270"/>
                </a:solidFill>
                <a:latin typeface="Calibri" pitchFamily="34" charset="0"/>
                <a:ea typeface="Calibri" pitchFamily="34" charset="-122"/>
                <a:cs typeface="Calibri" pitchFamily="34" charset="-120"/>
              </a:rPr>
              <a:t>w and g are approximated by binary vectors so a window score costs only a few BITWISE AND + POPCOUNT ops → 300 fps in the paper's C++.</a:t>
            </a:r>
            <a:endParaRPr lang="en-US" sz="1600" dirty="0"/>
          </a:p>
        </p:txBody>
      </p:sp>
      <p:pic>
        <p:nvPicPr>
          <p:cNvPr id="6" name="Image 0" descr="/home/user/cvprojectg10/results/figures/filter_w.png">    </p:cNvPr>
          <p:cNvPicPr>
            <a:picLocks noChangeAspect="1"/>
          </p:cNvPicPr>
          <p:nvPr/>
        </p:nvPicPr>
        <p:blipFill>
          <a:blip r:embed="rId1"/>
          <a:srcRect l="0" r="0" t="0" b="0"/>
          <a:stretch/>
        </p:blipFill>
        <p:spPr>
          <a:xfrm>
            <a:off x="6949440" y="1645920"/>
            <a:ext cx="4754880" cy="1463040"/>
          </a:xfrm>
          <a:prstGeom prst="rect">
            <a:avLst/>
          </a:prstGeom>
        </p:spPr>
      </p:pic>
      <p:sp>
        <p:nvSpPr>
          <p:cNvPr id="7" name="Text 4"/>
          <p:cNvSpPr txBox="1"/>
          <p:nvPr/>
        </p:nvSpPr>
        <p:spPr>
          <a:xfrm>
            <a:off x="6949440" y="3200400"/>
            <a:ext cx="4754880" cy="822960"/>
          </a:xfrm>
          <a:prstGeom prst="rect">
            <a:avLst/>
          </a:prstGeom>
          <a:noFill/>
          <a:ln/>
        </p:spPr>
        <p:txBody>
          <a:bodyPr wrap="square" lIns="0" tIns="0" rIns="0" bIns="0" rtlCol="0" anchor="ctr"/>
          <a:lstStyle/>
          <a:p>
            <a:pPr indent="0" marL="0">
              <a:buNone/>
            </a:pPr>
            <a:r>
              <a:rPr lang="en-US" sz="1200" i="1" dirty="0">
                <a:solidFill>
                  <a:srgbClr val="5B6270"/>
                </a:solidFill>
                <a:latin typeface="Calibri" pitchFamily="34" charset="0"/>
                <a:ea typeface="Calibri" pitchFamily="34" charset="-122"/>
                <a:cs typeface="Calibri" pitchFamily="34" charset="-120"/>
              </a:rPr>
              <a:t>The learned 8×8 filter w (red = positive weight) and its binary approximations. It is a “closed boundary” template: positive on the border, negative inside.</a:t>
            </a:r>
            <a:endParaRPr lang="en-US" sz="1200" dirty="0"/>
          </a:p>
        </p:txBody>
      </p:sp>
      <p:pic>
        <p:nvPicPr>
          <p:cNvPr id="8" name="Image 1" descr="/home/user/cvprojectg10/results/figures/calibration.png">    </p:cNvPr>
          <p:cNvPicPr>
            <a:picLocks noChangeAspect="1"/>
          </p:cNvPicPr>
          <p:nvPr/>
        </p:nvPicPr>
        <p:blipFill>
          <a:blip r:embed="rId2"/>
          <a:srcRect l="0" r="0" t="0" b="0"/>
          <a:stretch/>
        </p:blipFill>
        <p:spPr>
          <a:xfrm>
            <a:off x="7863840" y="3977640"/>
            <a:ext cx="3108960" cy="265176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E8772E"/>
                </a:solidFill>
                <a:latin typeface="Calibri" pitchFamily="34" charset="0"/>
                <a:ea typeface="Calibri" pitchFamily="34" charset="-122"/>
                <a:cs typeface="Calibri" pitchFamily="34" charset="-120"/>
              </a:rPr>
              <a:t>METHODOLOGY</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indent="0" marL="0">
              <a:buNone/>
            </a:pPr>
            <a:r>
              <a:rPr lang="en-US" sz="3200" b="1" dirty="0">
                <a:solidFill>
                  <a:srgbClr val="1B1F2A"/>
                </a:solidFill>
                <a:latin typeface="Cambria" pitchFamily="34" charset="0"/>
                <a:ea typeface="Cambria" pitchFamily="34" charset="-122"/>
                <a:cs typeface="Cambria" pitchFamily="34" charset="-120"/>
              </a:rPr>
              <a:t>Proposed system — 8 stages</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B6270"/>
                </a:solidFill>
                <a:latin typeface="Calibri" pitchFamily="34" charset="0"/>
                <a:ea typeface="Calibri" pitchFamily="34" charset="-122"/>
                <a:cs typeface="Calibri" pitchFamily="34" charset="-120"/>
              </a:rPr>
              <a:t>4</a:t>
            </a:r>
            <a:endParaRPr lang="en-US" sz="1000" dirty="0"/>
          </a:p>
        </p:txBody>
      </p:sp>
      <p:sp>
        <p:nvSpPr>
          <p:cNvPr id="5" name="Shape 3"/>
          <p:cNvSpPr/>
          <p:nvPr/>
        </p:nvSpPr>
        <p:spPr>
          <a:xfrm>
            <a:off x="548640" y="1645920"/>
            <a:ext cx="2560320" cy="2011680"/>
          </a:xfrm>
          <a:prstGeom prst="roundRect">
            <a:avLst>
              <a:gd name="adj" fmla="val 5455"/>
            </a:avLst>
          </a:prstGeom>
          <a:solidFill>
            <a:srgbClr val="F1F4F7"/>
          </a:solidFill>
          <a:ln w="12700">
            <a:solidFill>
              <a:srgbClr val="F1F4F7"/>
            </a:solidFill>
            <a:prstDash val="solid"/>
          </a:ln>
        </p:spPr>
      </p:sp>
      <p:sp>
        <p:nvSpPr>
          <p:cNvPr id="6" name="Shape 4"/>
          <p:cNvSpPr/>
          <p:nvPr/>
        </p:nvSpPr>
        <p:spPr>
          <a:xfrm>
            <a:off x="731520" y="1847088"/>
            <a:ext cx="420624" cy="420624"/>
          </a:xfrm>
          <a:prstGeom prst="ellipse">
            <a:avLst/>
          </a:prstGeom>
          <a:solidFill>
            <a:srgbClr val="1C7293"/>
          </a:solidFill>
          <a:ln w="12700">
            <a:solidFill>
              <a:srgbClr val="1C7293"/>
            </a:solidFill>
            <a:prstDash val="solid"/>
          </a:ln>
        </p:spPr>
      </p:sp>
      <p:sp>
        <p:nvSpPr>
          <p:cNvPr id="7" name="Text 5"/>
          <p:cNvSpPr txBox="1"/>
          <p:nvPr/>
        </p:nvSpPr>
        <p:spPr>
          <a:xfrm>
            <a:off x="731520" y="184708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731520" y="2395728"/>
            <a:ext cx="2194560" cy="411480"/>
          </a:xfrm>
          <a:prstGeom prst="rect">
            <a:avLst/>
          </a:prstGeom>
          <a:noFill/>
          <a:ln/>
        </p:spPr>
        <p:txBody>
          <a:bodyPr wrap="square" lIns="0" tIns="0" rIns="0" bIns="0" rtlCol="0" anchor="ctr"/>
          <a:lstStyle/>
          <a:p>
            <a:pPr indent="0" marL="0">
              <a:buNone/>
            </a:pPr>
            <a:r>
              <a:rPr lang="en-US" sz="1700" b="1" dirty="0">
                <a:solidFill>
                  <a:srgbClr val="1B1F2A"/>
                </a:solidFill>
                <a:latin typeface="Cambria" pitchFamily="34" charset="0"/>
                <a:ea typeface="Cambria" pitchFamily="34" charset="-122"/>
                <a:cs typeface="Cambria" pitchFamily="34" charset="-120"/>
              </a:rPr>
              <a:t>Input image</a:t>
            </a:r>
            <a:endParaRPr lang="en-US" sz="1700" dirty="0"/>
          </a:p>
        </p:txBody>
      </p:sp>
      <p:sp>
        <p:nvSpPr>
          <p:cNvPr id="9" name="Text 7"/>
          <p:cNvSpPr txBox="1"/>
          <p:nvPr/>
        </p:nvSpPr>
        <p:spPr>
          <a:xfrm>
            <a:off x="731520" y="2816352"/>
            <a:ext cx="2240280" cy="777240"/>
          </a:xfrm>
          <a:prstGeom prst="rect">
            <a:avLst/>
          </a:prstGeom>
          <a:noFill/>
          <a:ln/>
        </p:spPr>
        <p:txBody>
          <a:bodyPr wrap="square" lIns="0" tIns="0" rIns="0" bIns="0" rtlCol="0" anchor="t"/>
          <a:lstStyle/>
          <a:p>
            <a:pPr indent="0" marL="0">
              <a:buNone/>
            </a:pPr>
            <a:r>
              <a:rPr lang="en-US" sz="1250" dirty="0">
                <a:solidFill>
                  <a:srgbClr val="5B6270"/>
                </a:solidFill>
                <a:latin typeface="Calibri" pitchFamily="34" charset="0"/>
                <a:ea typeface="Calibri" pitchFamily="34" charset="-122"/>
                <a:cs typeface="Calibri" pitchFamily="34" charset="-120"/>
              </a:rPr>
              <a:t>any size; resized so the longer side ≤ 500 px</a:t>
            </a:r>
            <a:endParaRPr lang="en-US" sz="1250" dirty="0"/>
          </a:p>
        </p:txBody>
      </p:sp>
      <p:sp>
        <p:nvSpPr>
          <p:cNvPr id="10" name="Text 8"/>
          <p:cNvSpPr txBox="1"/>
          <p:nvPr/>
        </p:nvSpPr>
        <p:spPr>
          <a:xfrm>
            <a:off x="3108960" y="2423160"/>
            <a:ext cx="274320" cy="365760"/>
          </a:xfrm>
          <a:prstGeom prst="rect">
            <a:avLst/>
          </a:prstGeom>
          <a:noFill/>
          <a:ln/>
        </p:spPr>
        <p:txBody>
          <a:bodyPr wrap="square" lIns="0" tIns="0" rIns="0" bIns="0" rtlCol="0" anchor="ctr"/>
          <a:lstStyle/>
          <a:p>
            <a:pPr algn="ctr" indent="0" marL="0">
              <a:buNone/>
            </a:pPr>
            <a:r>
              <a:rPr lang="en-US" sz="2000" dirty="0">
                <a:solidFill>
                  <a:srgbClr val="AEB8C6"/>
                </a:solidFill>
                <a:latin typeface="Calibri" pitchFamily="34" charset="0"/>
                <a:ea typeface="Calibri" pitchFamily="34" charset="-122"/>
                <a:cs typeface="Calibri" pitchFamily="34" charset="-120"/>
              </a:rPr>
              <a:t>→</a:t>
            </a:r>
            <a:endParaRPr lang="en-US" sz="2000" dirty="0"/>
          </a:p>
        </p:txBody>
      </p:sp>
      <p:sp>
        <p:nvSpPr>
          <p:cNvPr id="11" name="Shape 9"/>
          <p:cNvSpPr/>
          <p:nvPr/>
        </p:nvSpPr>
        <p:spPr>
          <a:xfrm>
            <a:off x="3383280" y="1645920"/>
            <a:ext cx="2560320" cy="2011680"/>
          </a:xfrm>
          <a:prstGeom prst="roundRect">
            <a:avLst>
              <a:gd name="adj" fmla="val 5455"/>
            </a:avLst>
          </a:prstGeom>
          <a:solidFill>
            <a:srgbClr val="F1F4F7"/>
          </a:solidFill>
          <a:ln w="12700">
            <a:solidFill>
              <a:srgbClr val="F1F4F7"/>
            </a:solidFill>
            <a:prstDash val="solid"/>
          </a:ln>
        </p:spPr>
      </p:sp>
      <p:sp>
        <p:nvSpPr>
          <p:cNvPr id="12" name="Shape 10"/>
          <p:cNvSpPr/>
          <p:nvPr/>
        </p:nvSpPr>
        <p:spPr>
          <a:xfrm>
            <a:off x="3566160" y="1847088"/>
            <a:ext cx="420624" cy="420624"/>
          </a:xfrm>
          <a:prstGeom prst="ellipse">
            <a:avLst/>
          </a:prstGeom>
          <a:solidFill>
            <a:srgbClr val="1C7293"/>
          </a:solidFill>
          <a:ln w="12700">
            <a:solidFill>
              <a:srgbClr val="1C7293"/>
            </a:solidFill>
            <a:prstDash val="solid"/>
          </a:ln>
        </p:spPr>
      </p:sp>
      <p:sp>
        <p:nvSpPr>
          <p:cNvPr id="13" name="Text 11"/>
          <p:cNvSpPr txBox="1"/>
          <p:nvPr/>
        </p:nvSpPr>
        <p:spPr>
          <a:xfrm>
            <a:off x="3566160" y="184708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2"/>
          <p:cNvSpPr txBox="1"/>
          <p:nvPr/>
        </p:nvSpPr>
        <p:spPr>
          <a:xfrm>
            <a:off x="3566160" y="2395728"/>
            <a:ext cx="2194560" cy="411480"/>
          </a:xfrm>
          <a:prstGeom prst="rect">
            <a:avLst/>
          </a:prstGeom>
          <a:noFill/>
          <a:ln/>
        </p:spPr>
        <p:txBody>
          <a:bodyPr wrap="square" lIns="0" tIns="0" rIns="0" bIns="0" rtlCol="0" anchor="ctr"/>
          <a:lstStyle/>
          <a:p>
            <a:pPr indent="0" marL="0">
              <a:buNone/>
            </a:pPr>
            <a:r>
              <a:rPr lang="en-US" sz="1700" b="1" dirty="0">
                <a:solidFill>
                  <a:srgbClr val="1B1F2A"/>
                </a:solidFill>
                <a:latin typeface="Cambria" pitchFamily="34" charset="0"/>
                <a:ea typeface="Cambria" pitchFamily="34" charset="-122"/>
                <a:cs typeface="Cambria" pitchFamily="34" charset="-120"/>
              </a:rPr>
              <a:t>Pre-processing</a:t>
            </a:r>
            <a:endParaRPr lang="en-US" sz="1700" dirty="0"/>
          </a:p>
        </p:txBody>
      </p:sp>
      <p:sp>
        <p:nvSpPr>
          <p:cNvPr id="15" name="Text 13"/>
          <p:cNvSpPr txBox="1"/>
          <p:nvPr/>
        </p:nvSpPr>
        <p:spPr>
          <a:xfrm>
            <a:off x="3566160" y="2816352"/>
            <a:ext cx="2240280" cy="777240"/>
          </a:xfrm>
          <a:prstGeom prst="rect">
            <a:avLst/>
          </a:prstGeom>
          <a:noFill/>
          <a:ln/>
        </p:spPr>
        <p:txBody>
          <a:bodyPr wrap="square" lIns="0" tIns="0" rIns="0" bIns="0" rtlCol="0" anchor="t"/>
          <a:lstStyle/>
          <a:p>
            <a:pPr indent="0" marL="0">
              <a:buNone/>
            </a:pPr>
            <a:r>
              <a:rPr lang="en-US" sz="1250" dirty="0">
                <a:solidFill>
                  <a:srgbClr val="5B6270"/>
                </a:solidFill>
                <a:latin typeface="Calibri" pitchFamily="34" charset="0"/>
                <a:ea typeface="Calibri" pitchFamily="34" charset="-122"/>
                <a:cs typeface="Calibri" pitchFamily="34" charset="-120"/>
              </a:rPr>
              <a:t>colour space (RGB / HSV / Gray / Lab)</a:t>
            </a:r>
            <a:endParaRPr lang="en-US" sz="1250" dirty="0"/>
          </a:p>
        </p:txBody>
      </p:sp>
      <p:sp>
        <p:nvSpPr>
          <p:cNvPr id="16" name="Text 14"/>
          <p:cNvSpPr txBox="1"/>
          <p:nvPr/>
        </p:nvSpPr>
        <p:spPr>
          <a:xfrm>
            <a:off x="5943600" y="2423160"/>
            <a:ext cx="274320" cy="365760"/>
          </a:xfrm>
          <a:prstGeom prst="rect">
            <a:avLst/>
          </a:prstGeom>
          <a:noFill/>
          <a:ln/>
        </p:spPr>
        <p:txBody>
          <a:bodyPr wrap="square" lIns="0" tIns="0" rIns="0" bIns="0" rtlCol="0" anchor="ctr"/>
          <a:lstStyle/>
          <a:p>
            <a:pPr algn="ctr" indent="0" marL="0">
              <a:buNone/>
            </a:pPr>
            <a:r>
              <a:rPr lang="en-US" sz="2000" dirty="0">
                <a:solidFill>
                  <a:srgbClr val="AEB8C6"/>
                </a:solidFill>
                <a:latin typeface="Calibri" pitchFamily="34" charset="0"/>
                <a:ea typeface="Calibri" pitchFamily="34" charset="-122"/>
                <a:cs typeface="Calibri" pitchFamily="34" charset="-120"/>
              </a:rPr>
              <a:t>→</a:t>
            </a:r>
            <a:endParaRPr lang="en-US" sz="2000" dirty="0"/>
          </a:p>
        </p:txBody>
      </p:sp>
      <p:sp>
        <p:nvSpPr>
          <p:cNvPr id="17" name="Shape 15"/>
          <p:cNvSpPr/>
          <p:nvPr/>
        </p:nvSpPr>
        <p:spPr>
          <a:xfrm>
            <a:off x="6217920" y="1645920"/>
            <a:ext cx="2560320" cy="2011680"/>
          </a:xfrm>
          <a:prstGeom prst="roundRect">
            <a:avLst>
              <a:gd name="adj" fmla="val 5455"/>
            </a:avLst>
          </a:prstGeom>
          <a:solidFill>
            <a:srgbClr val="F1F4F7"/>
          </a:solidFill>
          <a:ln w="12700">
            <a:solidFill>
              <a:srgbClr val="F1F4F7"/>
            </a:solidFill>
            <a:prstDash val="solid"/>
          </a:ln>
        </p:spPr>
      </p:sp>
      <p:sp>
        <p:nvSpPr>
          <p:cNvPr id="18" name="Shape 16"/>
          <p:cNvSpPr/>
          <p:nvPr/>
        </p:nvSpPr>
        <p:spPr>
          <a:xfrm>
            <a:off x="6400800" y="1847088"/>
            <a:ext cx="420624" cy="420624"/>
          </a:xfrm>
          <a:prstGeom prst="ellipse">
            <a:avLst/>
          </a:prstGeom>
          <a:solidFill>
            <a:srgbClr val="1C7293"/>
          </a:solidFill>
          <a:ln w="12700">
            <a:solidFill>
              <a:srgbClr val="1C7293"/>
            </a:solidFill>
            <a:prstDash val="solid"/>
          </a:ln>
        </p:spPr>
      </p:sp>
      <p:sp>
        <p:nvSpPr>
          <p:cNvPr id="19" name="Text 17"/>
          <p:cNvSpPr txBox="1"/>
          <p:nvPr/>
        </p:nvSpPr>
        <p:spPr>
          <a:xfrm>
            <a:off x="6400800" y="184708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0" name="Text 18"/>
          <p:cNvSpPr txBox="1"/>
          <p:nvPr/>
        </p:nvSpPr>
        <p:spPr>
          <a:xfrm>
            <a:off x="6400800" y="2395728"/>
            <a:ext cx="2194560" cy="411480"/>
          </a:xfrm>
          <a:prstGeom prst="rect">
            <a:avLst/>
          </a:prstGeom>
          <a:noFill/>
          <a:ln/>
        </p:spPr>
        <p:txBody>
          <a:bodyPr wrap="square" lIns="0" tIns="0" rIns="0" bIns="0" rtlCol="0" anchor="ctr"/>
          <a:lstStyle/>
          <a:p>
            <a:pPr indent="0" marL="0">
              <a:buNone/>
            </a:pPr>
            <a:r>
              <a:rPr lang="en-US" sz="1700" b="1" dirty="0">
                <a:solidFill>
                  <a:srgbClr val="1B1F2A"/>
                </a:solidFill>
                <a:latin typeface="Cambria" pitchFamily="34" charset="0"/>
                <a:ea typeface="Cambria" pitchFamily="34" charset="-122"/>
                <a:cs typeface="Cambria" pitchFamily="34" charset="-120"/>
              </a:rPr>
              <a:t>Candidates</a:t>
            </a:r>
            <a:endParaRPr lang="en-US" sz="1700" dirty="0"/>
          </a:p>
        </p:txBody>
      </p:sp>
      <p:sp>
        <p:nvSpPr>
          <p:cNvPr id="21" name="Text 19"/>
          <p:cNvSpPr txBox="1"/>
          <p:nvPr/>
        </p:nvSpPr>
        <p:spPr>
          <a:xfrm>
            <a:off x="6400800" y="2816352"/>
            <a:ext cx="2240280" cy="777240"/>
          </a:xfrm>
          <a:prstGeom prst="rect">
            <a:avLst/>
          </a:prstGeom>
          <a:noFill/>
          <a:ln/>
        </p:spPr>
        <p:txBody>
          <a:bodyPr wrap="square" lIns="0" tIns="0" rIns="0" bIns="0" rtlCol="0" anchor="t"/>
          <a:lstStyle/>
          <a:p>
            <a:pPr indent="0" marL="0">
              <a:buNone/>
            </a:pPr>
            <a:r>
              <a:rPr lang="en-US" sz="1250" dirty="0">
                <a:solidFill>
                  <a:srgbClr val="5B6270"/>
                </a:solidFill>
                <a:latin typeface="Calibri" pitchFamily="34" charset="0"/>
                <a:ea typeface="Calibri" pitchFamily="34" charset="-122"/>
                <a:cs typeface="Calibri" pitchFamily="34" charset="-120"/>
              </a:rPr>
              <a:t>36 quantised sizes {10…320}², every 8×8 position</a:t>
            </a:r>
            <a:endParaRPr lang="en-US" sz="1250" dirty="0"/>
          </a:p>
        </p:txBody>
      </p:sp>
      <p:sp>
        <p:nvSpPr>
          <p:cNvPr id="22" name="Text 20"/>
          <p:cNvSpPr txBox="1"/>
          <p:nvPr/>
        </p:nvSpPr>
        <p:spPr>
          <a:xfrm>
            <a:off x="8778240" y="2423160"/>
            <a:ext cx="274320" cy="365760"/>
          </a:xfrm>
          <a:prstGeom prst="rect">
            <a:avLst/>
          </a:prstGeom>
          <a:noFill/>
          <a:ln/>
        </p:spPr>
        <p:txBody>
          <a:bodyPr wrap="square" lIns="0" tIns="0" rIns="0" bIns="0" rtlCol="0" anchor="ctr"/>
          <a:lstStyle/>
          <a:p>
            <a:pPr algn="ctr" indent="0" marL="0">
              <a:buNone/>
            </a:pPr>
            <a:r>
              <a:rPr lang="en-US" sz="2000" dirty="0">
                <a:solidFill>
                  <a:srgbClr val="AEB8C6"/>
                </a:solidFill>
                <a:latin typeface="Calibri" pitchFamily="34" charset="0"/>
                <a:ea typeface="Calibri" pitchFamily="34" charset="-122"/>
                <a:cs typeface="Calibri" pitchFamily="34" charset="-120"/>
              </a:rPr>
              <a:t>→</a:t>
            </a:r>
            <a:endParaRPr lang="en-US" sz="2000" dirty="0"/>
          </a:p>
        </p:txBody>
      </p:sp>
      <p:sp>
        <p:nvSpPr>
          <p:cNvPr id="23" name="Shape 21"/>
          <p:cNvSpPr/>
          <p:nvPr/>
        </p:nvSpPr>
        <p:spPr>
          <a:xfrm>
            <a:off x="9052560" y="1645920"/>
            <a:ext cx="2560320" cy="2011680"/>
          </a:xfrm>
          <a:prstGeom prst="roundRect">
            <a:avLst>
              <a:gd name="adj" fmla="val 5455"/>
            </a:avLst>
          </a:prstGeom>
          <a:solidFill>
            <a:srgbClr val="F1F4F7"/>
          </a:solidFill>
          <a:ln w="12700">
            <a:solidFill>
              <a:srgbClr val="F1F4F7"/>
            </a:solidFill>
            <a:prstDash val="solid"/>
          </a:ln>
        </p:spPr>
      </p:sp>
      <p:sp>
        <p:nvSpPr>
          <p:cNvPr id="24" name="Shape 22"/>
          <p:cNvSpPr/>
          <p:nvPr/>
        </p:nvSpPr>
        <p:spPr>
          <a:xfrm>
            <a:off x="9235440" y="1847088"/>
            <a:ext cx="420624" cy="420624"/>
          </a:xfrm>
          <a:prstGeom prst="ellipse">
            <a:avLst/>
          </a:prstGeom>
          <a:solidFill>
            <a:srgbClr val="1C7293"/>
          </a:solidFill>
          <a:ln w="12700">
            <a:solidFill>
              <a:srgbClr val="1C7293"/>
            </a:solidFill>
            <a:prstDash val="solid"/>
          </a:ln>
        </p:spPr>
      </p:sp>
      <p:sp>
        <p:nvSpPr>
          <p:cNvPr id="25" name="Text 23"/>
          <p:cNvSpPr txBox="1"/>
          <p:nvPr/>
        </p:nvSpPr>
        <p:spPr>
          <a:xfrm>
            <a:off x="9235440" y="184708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6" name="Text 24"/>
          <p:cNvSpPr txBox="1"/>
          <p:nvPr/>
        </p:nvSpPr>
        <p:spPr>
          <a:xfrm>
            <a:off x="9235440" y="2395728"/>
            <a:ext cx="2194560" cy="411480"/>
          </a:xfrm>
          <a:prstGeom prst="rect">
            <a:avLst/>
          </a:prstGeom>
          <a:noFill/>
          <a:ln/>
        </p:spPr>
        <p:txBody>
          <a:bodyPr wrap="square" lIns="0" tIns="0" rIns="0" bIns="0" rtlCol="0" anchor="ctr"/>
          <a:lstStyle/>
          <a:p>
            <a:pPr indent="0" marL="0">
              <a:buNone/>
            </a:pPr>
            <a:r>
              <a:rPr lang="en-US" sz="1700" b="1" dirty="0">
                <a:solidFill>
                  <a:srgbClr val="1B1F2A"/>
                </a:solidFill>
                <a:latin typeface="Cambria" pitchFamily="34" charset="0"/>
                <a:ea typeface="Cambria" pitchFamily="34" charset="-122"/>
                <a:cs typeface="Cambria" pitchFamily="34" charset="-120"/>
              </a:rPr>
              <a:t>Gradient features</a:t>
            </a:r>
            <a:endParaRPr lang="en-US" sz="1700" dirty="0"/>
          </a:p>
        </p:txBody>
      </p:sp>
      <p:sp>
        <p:nvSpPr>
          <p:cNvPr id="27" name="Text 25"/>
          <p:cNvSpPr txBox="1"/>
          <p:nvPr/>
        </p:nvSpPr>
        <p:spPr>
          <a:xfrm>
            <a:off x="9235440" y="2816352"/>
            <a:ext cx="2240280" cy="777240"/>
          </a:xfrm>
          <a:prstGeom prst="rect">
            <a:avLst/>
          </a:prstGeom>
          <a:noFill/>
          <a:ln/>
        </p:spPr>
        <p:txBody>
          <a:bodyPr wrap="square" lIns="0" tIns="0" rIns="0" bIns="0" rtlCol="0" anchor="t"/>
          <a:lstStyle/>
          <a:p>
            <a:pPr indent="0" marL="0">
              <a:buNone/>
            </a:pPr>
            <a:r>
              <a:rPr lang="en-US" sz="1250" dirty="0">
                <a:solidFill>
                  <a:srgbClr val="5B6270"/>
                </a:solidFill>
                <a:latin typeface="Calibri" pitchFamily="34" charset="0"/>
                <a:ea typeface="Calibri" pitchFamily="34" charset="-122"/>
                <a:cs typeface="Calibri" pitchFamily="34" charset="-120"/>
              </a:rPr>
              <a:t>image resized per size, [-1 0 1] gradient</a:t>
            </a:r>
            <a:endParaRPr lang="en-US" sz="1250" dirty="0"/>
          </a:p>
        </p:txBody>
      </p:sp>
      <p:sp>
        <p:nvSpPr>
          <p:cNvPr id="28" name="Shape 26"/>
          <p:cNvSpPr/>
          <p:nvPr/>
        </p:nvSpPr>
        <p:spPr>
          <a:xfrm>
            <a:off x="548640" y="4023360"/>
            <a:ext cx="2560320" cy="2011680"/>
          </a:xfrm>
          <a:prstGeom prst="roundRect">
            <a:avLst>
              <a:gd name="adj" fmla="val 5455"/>
            </a:avLst>
          </a:prstGeom>
          <a:solidFill>
            <a:srgbClr val="FDF1E8"/>
          </a:solidFill>
          <a:ln w="12700">
            <a:solidFill>
              <a:srgbClr val="FDF1E8"/>
            </a:solidFill>
            <a:prstDash val="solid"/>
          </a:ln>
        </p:spPr>
      </p:sp>
      <p:sp>
        <p:nvSpPr>
          <p:cNvPr id="29" name="Shape 27"/>
          <p:cNvSpPr/>
          <p:nvPr/>
        </p:nvSpPr>
        <p:spPr>
          <a:xfrm>
            <a:off x="731520" y="4224528"/>
            <a:ext cx="420624" cy="420624"/>
          </a:xfrm>
          <a:prstGeom prst="ellipse">
            <a:avLst/>
          </a:prstGeom>
          <a:solidFill>
            <a:srgbClr val="E8772E"/>
          </a:solidFill>
          <a:ln w="12700">
            <a:solidFill>
              <a:srgbClr val="E8772E"/>
            </a:solidFill>
            <a:prstDash val="solid"/>
          </a:ln>
        </p:spPr>
      </p:sp>
      <p:sp>
        <p:nvSpPr>
          <p:cNvPr id="30" name="Text 28"/>
          <p:cNvSpPr txBox="1"/>
          <p:nvPr/>
        </p:nvSpPr>
        <p:spPr>
          <a:xfrm>
            <a:off x="731520" y="422452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31" name="Text 29"/>
          <p:cNvSpPr txBox="1"/>
          <p:nvPr/>
        </p:nvSpPr>
        <p:spPr>
          <a:xfrm>
            <a:off x="731520" y="4773168"/>
            <a:ext cx="2194560" cy="411480"/>
          </a:xfrm>
          <a:prstGeom prst="rect">
            <a:avLst/>
          </a:prstGeom>
          <a:noFill/>
          <a:ln/>
        </p:spPr>
        <p:txBody>
          <a:bodyPr wrap="square" lIns="0" tIns="0" rIns="0" bIns="0" rtlCol="0" anchor="ctr"/>
          <a:lstStyle/>
          <a:p>
            <a:pPr indent="0" marL="0">
              <a:buNone/>
            </a:pPr>
            <a:r>
              <a:rPr lang="en-US" sz="1700" b="1" dirty="0">
                <a:solidFill>
                  <a:srgbClr val="1B1F2A"/>
                </a:solidFill>
                <a:latin typeface="Cambria" pitchFamily="34" charset="0"/>
                <a:ea typeface="Cambria" pitchFamily="34" charset="-122"/>
                <a:cs typeface="Cambria" pitchFamily="34" charset="-120"/>
              </a:rPr>
              <a:t>Binarized NG</a:t>
            </a:r>
            <a:endParaRPr lang="en-US" sz="1700" dirty="0"/>
          </a:p>
        </p:txBody>
      </p:sp>
      <p:sp>
        <p:nvSpPr>
          <p:cNvPr id="32" name="Text 30"/>
          <p:cNvSpPr txBox="1"/>
          <p:nvPr/>
        </p:nvSpPr>
        <p:spPr>
          <a:xfrm>
            <a:off x="731520" y="5193792"/>
            <a:ext cx="2240280" cy="777240"/>
          </a:xfrm>
          <a:prstGeom prst="rect">
            <a:avLst/>
          </a:prstGeom>
          <a:noFill/>
          <a:ln/>
        </p:spPr>
        <p:txBody>
          <a:bodyPr wrap="square" lIns="0" tIns="0" rIns="0" bIns="0" rtlCol="0" anchor="t"/>
          <a:lstStyle/>
          <a:p>
            <a:pPr indent="0" marL="0">
              <a:buNone/>
            </a:pPr>
            <a:r>
              <a:rPr lang="en-US" sz="1250" dirty="0">
                <a:solidFill>
                  <a:srgbClr val="5B6270"/>
                </a:solidFill>
                <a:latin typeface="Calibri" pitchFamily="34" charset="0"/>
                <a:ea typeface="Calibri" pitchFamily="34" charset="-122"/>
                <a:cs typeface="Calibri" pitchFamily="34" charset="-120"/>
              </a:rPr>
              <a:t>top Ng=4 bit-planes packed into 64-bit words</a:t>
            </a:r>
            <a:endParaRPr lang="en-US" sz="1250" dirty="0"/>
          </a:p>
        </p:txBody>
      </p:sp>
      <p:sp>
        <p:nvSpPr>
          <p:cNvPr id="33" name="Text 31"/>
          <p:cNvSpPr txBox="1"/>
          <p:nvPr/>
        </p:nvSpPr>
        <p:spPr>
          <a:xfrm>
            <a:off x="3108960" y="4800600"/>
            <a:ext cx="274320" cy="365760"/>
          </a:xfrm>
          <a:prstGeom prst="rect">
            <a:avLst/>
          </a:prstGeom>
          <a:noFill/>
          <a:ln/>
        </p:spPr>
        <p:txBody>
          <a:bodyPr wrap="square" lIns="0" tIns="0" rIns="0" bIns="0" rtlCol="0" anchor="ctr"/>
          <a:lstStyle/>
          <a:p>
            <a:pPr algn="ctr" indent="0" marL="0">
              <a:buNone/>
            </a:pPr>
            <a:r>
              <a:rPr lang="en-US" sz="2000" dirty="0">
                <a:solidFill>
                  <a:srgbClr val="AEB8C6"/>
                </a:solidFill>
                <a:latin typeface="Calibri" pitchFamily="34" charset="0"/>
                <a:ea typeface="Calibri" pitchFamily="34" charset="-122"/>
                <a:cs typeface="Calibri" pitchFamily="34" charset="-120"/>
              </a:rPr>
              <a:t>→</a:t>
            </a:r>
            <a:endParaRPr lang="en-US" sz="2000" dirty="0"/>
          </a:p>
        </p:txBody>
      </p:sp>
      <p:sp>
        <p:nvSpPr>
          <p:cNvPr id="34" name="Shape 32"/>
          <p:cNvSpPr/>
          <p:nvPr/>
        </p:nvSpPr>
        <p:spPr>
          <a:xfrm>
            <a:off x="3383280" y="4023360"/>
            <a:ext cx="2560320" cy="2011680"/>
          </a:xfrm>
          <a:prstGeom prst="roundRect">
            <a:avLst>
              <a:gd name="adj" fmla="val 5455"/>
            </a:avLst>
          </a:prstGeom>
          <a:solidFill>
            <a:srgbClr val="FDF1E8"/>
          </a:solidFill>
          <a:ln w="12700">
            <a:solidFill>
              <a:srgbClr val="FDF1E8"/>
            </a:solidFill>
            <a:prstDash val="solid"/>
          </a:ln>
        </p:spPr>
      </p:sp>
      <p:sp>
        <p:nvSpPr>
          <p:cNvPr id="35" name="Shape 33"/>
          <p:cNvSpPr/>
          <p:nvPr/>
        </p:nvSpPr>
        <p:spPr>
          <a:xfrm>
            <a:off x="3566160" y="4224528"/>
            <a:ext cx="420624" cy="420624"/>
          </a:xfrm>
          <a:prstGeom prst="ellipse">
            <a:avLst/>
          </a:prstGeom>
          <a:solidFill>
            <a:srgbClr val="E8772E"/>
          </a:solidFill>
          <a:ln w="12700">
            <a:solidFill>
              <a:srgbClr val="E8772E"/>
            </a:solidFill>
            <a:prstDash val="solid"/>
          </a:ln>
        </p:spPr>
      </p:sp>
      <p:sp>
        <p:nvSpPr>
          <p:cNvPr id="36" name="Text 34"/>
          <p:cNvSpPr txBox="1"/>
          <p:nvPr/>
        </p:nvSpPr>
        <p:spPr>
          <a:xfrm>
            <a:off x="3566160" y="422452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37" name="Text 35"/>
          <p:cNvSpPr txBox="1"/>
          <p:nvPr/>
        </p:nvSpPr>
        <p:spPr>
          <a:xfrm>
            <a:off x="3566160" y="4773168"/>
            <a:ext cx="2194560" cy="411480"/>
          </a:xfrm>
          <a:prstGeom prst="rect">
            <a:avLst/>
          </a:prstGeom>
          <a:noFill/>
          <a:ln/>
        </p:spPr>
        <p:txBody>
          <a:bodyPr wrap="square" lIns="0" tIns="0" rIns="0" bIns="0" rtlCol="0" anchor="ctr"/>
          <a:lstStyle/>
          <a:p>
            <a:pPr indent="0" marL="0">
              <a:buNone/>
            </a:pPr>
            <a:r>
              <a:rPr lang="en-US" sz="1700" b="1" dirty="0">
                <a:solidFill>
                  <a:srgbClr val="1B1F2A"/>
                </a:solidFill>
                <a:latin typeface="Cambria" pitchFamily="34" charset="0"/>
                <a:ea typeface="Cambria" pitchFamily="34" charset="-122"/>
                <a:cs typeface="Cambria" pitchFamily="34" charset="-120"/>
              </a:rPr>
              <a:t>Objectness score</a:t>
            </a:r>
            <a:endParaRPr lang="en-US" sz="1700" dirty="0"/>
          </a:p>
        </p:txBody>
      </p:sp>
      <p:sp>
        <p:nvSpPr>
          <p:cNvPr id="38" name="Text 36"/>
          <p:cNvSpPr txBox="1"/>
          <p:nvPr/>
        </p:nvSpPr>
        <p:spPr>
          <a:xfrm>
            <a:off x="3566160" y="5193792"/>
            <a:ext cx="2240280" cy="777240"/>
          </a:xfrm>
          <a:prstGeom prst="rect">
            <a:avLst/>
          </a:prstGeom>
          <a:noFill/>
          <a:ln/>
        </p:spPr>
        <p:txBody>
          <a:bodyPr wrap="square" lIns="0" tIns="0" rIns="0" bIns="0" rtlCol="0" anchor="t"/>
          <a:lstStyle/>
          <a:p>
            <a:pPr indent="0" marL="0">
              <a:buNone/>
            </a:pPr>
            <a:r>
              <a:rPr lang="en-US" sz="1250" dirty="0">
                <a:solidFill>
                  <a:srgbClr val="5B6270"/>
                </a:solidFill>
                <a:latin typeface="Calibri" pitchFamily="34" charset="0"/>
                <a:ea typeface="Calibri" pitchFamily="34" charset="-122"/>
                <a:cs typeface="Calibri" pitchFamily="34" charset="-120"/>
              </a:rPr>
              <a:t>s = ⟨w, g⟩ via AND + POPCOUNT (Nw=2 bases)</a:t>
            </a:r>
            <a:endParaRPr lang="en-US" sz="1250" dirty="0"/>
          </a:p>
        </p:txBody>
      </p:sp>
      <p:sp>
        <p:nvSpPr>
          <p:cNvPr id="39" name="Text 37"/>
          <p:cNvSpPr txBox="1"/>
          <p:nvPr/>
        </p:nvSpPr>
        <p:spPr>
          <a:xfrm>
            <a:off x="5943600" y="4800600"/>
            <a:ext cx="274320" cy="365760"/>
          </a:xfrm>
          <a:prstGeom prst="rect">
            <a:avLst/>
          </a:prstGeom>
          <a:noFill/>
          <a:ln/>
        </p:spPr>
        <p:txBody>
          <a:bodyPr wrap="square" lIns="0" tIns="0" rIns="0" bIns="0" rtlCol="0" anchor="ctr"/>
          <a:lstStyle/>
          <a:p>
            <a:pPr algn="ctr" indent="0" marL="0">
              <a:buNone/>
            </a:pPr>
            <a:r>
              <a:rPr lang="en-US" sz="2000" dirty="0">
                <a:solidFill>
                  <a:srgbClr val="AEB8C6"/>
                </a:solidFill>
                <a:latin typeface="Calibri" pitchFamily="34" charset="0"/>
                <a:ea typeface="Calibri" pitchFamily="34" charset="-122"/>
                <a:cs typeface="Calibri" pitchFamily="34" charset="-120"/>
              </a:rPr>
              <a:t>→</a:t>
            </a:r>
            <a:endParaRPr lang="en-US" sz="2000" dirty="0"/>
          </a:p>
        </p:txBody>
      </p:sp>
      <p:sp>
        <p:nvSpPr>
          <p:cNvPr id="40" name="Shape 38"/>
          <p:cNvSpPr/>
          <p:nvPr/>
        </p:nvSpPr>
        <p:spPr>
          <a:xfrm>
            <a:off x="6217920" y="4023360"/>
            <a:ext cx="2560320" cy="2011680"/>
          </a:xfrm>
          <a:prstGeom prst="roundRect">
            <a:avLst>
              <a:gd name="adj" fmla="val 5455"/>
            </a:avLst>
          </a:prstGeom>
          <a:solidFill>
            <a:srgbClr val="FDF1E8"/>
          </a:solidFill>
          <a:ln w="12700">
            <a:solidFill>
              <a:srgbClr val="FDF1E8"/>
            </a:solidFill>
            <a:prstDash val="solid"/>
          </a:ln>
        </p:spPr>
      </p:sp>
      <p:sp>
        <p:nvSpPr>
          <p:cNvPr id="41" name="Shape 39"/>
          <p:cNvSpPr/>
          <p:nvPr/>
        </p:nvSpPr>
        <p:spPr>
          <a:xfrm>
            <a:off x="6400800" y="4224528"/>
            <a:ext cx="420624" cy="420624"/>
          </a:xfrm>
          <a:prstGeom prst="ellipse">
            <a:avLst/>
          </a:prstGeom>
          <a:solidFill>
            <a:srgbClr val="E8772E"/>
          </a:solidFill>
          <a:ln w="12700">
            <a:solidFill>
              <a:srgbClr val="E8772E"/>
            </a:solidFill>
            <a:prstDash val="solid"/>
          </a:ln>
        </p:spPr>
      </p:sp>
      <p:sp>
        <p:nvSpPr>
          <p:cNvPr id="42" name="Text 40"/>
          <p:cNvSpPr txBox="1"/>
          <p:nvPr/>
        </p:nvSpPr>
        <p:spPr>
          <a:xfrm>
            <a:off x="6400800" y="422452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7</a:t>
            </a:r>
            <a:endParaRPr lang="en-US" sz="1400" dirty="0"/>
          </a:p>
        </p:txBody>
      </p:sp>
      <p:sp>
        <p:nvSpPr>
          <p:cNvPr id="43" name="Text 41"/>
          <p:cNvSpPr txBox="1"/>
          <p:nvPr/>
        </p:nvSpPr>
        <p:spPr>
          <a:xfrm>
            <a:off x="6400800" y="4773168"/>
            <a:ext cx="2194560" cy="411480"/>
          </a:xfrm>
          <a:prstGeom prst="rect">
            <a:avLst/>
          </a:prstGeom>
          <a:noFill/>
          <a:ln/>
        </p:spPr>
        <p:txBody>
          <a:bodyPr wrap="square" lIns="0" tIns="0" rIns="0" bIns="0" rtlCol="0" anchor="ctr"/>
          <a:lstStyle/>
          <a:p>
            <a:pPr indent="0" marL="0">
              <a:buNone/>
            </a:pPr>
            <a:r>
              <a:rPr lang="en-US" sz="1700" b="1" dirty="0">
                <a:solidFill>
                  <a:srgbClr val="1B1F2A"/>
                </a:solidFill>
                <a:latin typeface="Cambria" pitchFamily="34" charset="0"/>
                <a:ea typeface="Cambria" pitchFamily="34" charset="-122"/>
                <a:cs typeface="Cambria" pitchFamily="34" charset="-120"/>
              </a:rPr>
              <a:t>Ranking</a:t>
            </a:r>
            <a:endParaRPr lang="en-US" sz="1700" dirty="0"/>
          </a:p>
        </p:txBody>
      </p:sp>
      <p:sp>
        <p:nvSpPr>
          <p:cNvPr id="44" name="Text 42"/>
          <p:cNvSpPr txBox="1"/>
          <p:nvPr/>
        </p:nvSpPr>
        <p:spPr>
          <a:xfrm>
            <a:off x="6400800" y="5193792"/>
            <a:ext cx="2240280" cy="777240"/>
          </a:xfrm>
          <a:prstGeom prst="rect">
            <a:avLst/>
          </a:prstGeom>
          <a:noFill/>
          <a:ln/>
        </p:spPr>
        <p:txBody>
          <a:bodyPr wrap="square" lIns="0" tIns="0" rIns="0" bIns="0" rtlCol="0" anchor="t"/>
          <a:lstStyle/>
          <a:p>
            <a:pPr indent="0" marL="0">
              <a:buNone/>
            </a:pPr>
            <a:r>
              <a:rPr lang="en-US" sz="1250" dirty="0">
                <a:solidFill>
                  <a:srgbClr val="5B6270"/>
                </a:solidFill>
                <a:latin typeface="Calibri" pitchFamily="34" charset="0"/>
                <a:ea typeface="Calibri" pitchFamily="34" charset="-122"/>
                <a:cs typeface="Calibri" pitchFamily="34" charset="-120"/>
              </a:rPr>
              <a:t>NMS on score map, per-size calibration v·s + t</a:t>
            </a:r>
            <a:endParaRPr lang="en-US" sz="1250" dirty="0"/>
          </a:p>
        </p:txBody>
      </p:sp>
      <p:sp>
        <p:nvSpPr>
          <p:cNvPr id="45" name="Text 43"/>
          <p:cNvSpPr txBox="1"/>
          <p:nvPr/>
        </p:nvSpPr>
        <p:spPr>
          <a:xfrm>
            <a:off x="8778240" y="4800600"/>
            <a:ext cx="274320" cy="365760"/>
          </a:xfrm>
          <a:prstGeom prst="rect">
            <a:avLst/>
          </a:prstGeom>
          <a:noFill/>
          <a:ln/>
        </p:spPr>
        <p:txBody>
          <a:bodyPr wrap="square" lIns="0" tIns="0" rIns="0" bIns="0" rtlCol="0" anchor="ctr"/>
          <a:lstStyle/>
          <a:p>
            <a:pPr algn="ctr" indent="0" marL="0">
              <a:buNone/>
            </a:pPr>
            <a:r>
              <a:rPr lang="en-US" sz="2000" dirty="0">
                <a:solidFill>
                  <a:srgbClr val="AEB8C6"/>
                </a:solidFill>
                <a:latin typeface="Calibri" pitchFamily="34" charset="0"/>
                <a:ea typeface="Calibri" pitchFamily="34" charset="-122"/>
                <a:cs typeface="Calibri" pitchFamily="34" charset="-120"/>
              </a:rPr>
              <a:t>→</a:t>
            </a:r>
            <a:endParaRPr lang="en-US" sz="2000" dirty="0"/>
          </a:p>
        </p:txBody>
      </p:sp>
      <p:sp>
        <p:nvSpPr>
          <p:cNvPr id="46" name="Shape 44"/>
          <p:cNvSpPr/>
          <p:nvPr/>
        </p:nvSpPr>
        <p:spPr>
          <a:xfrm>
            <a:off x="9052560" y="4023360"/>
            <a:ext cx="2560320" cy="2011680"/>
          </a:xfrm>
          <a:prstGeom prst="roundRect">
            <a:avLst>
              <a:gd name="adj" fmla="val 5455"/>
            </a:avLst>
          </a:prstGeom>
          <a:solidFill>
            <a:srgbClr val="FDF1E8"/>
          </a:solidFill>
          <a:ln w="12700">
            <a:solidFill>
              <a:srgbClr val="FDF1E8"/>
            </a:solidFill>
            <a:prstDash val="solid"/>
          </a:ln>
        </p:spPr>
      </p:sp>
      <p:sp>
        <p:nvSpPr>
          <p:cNvPr id="47" name="Shape 45"/>
          <p:cNvSpPr/>
          <p:nvPr/>
        </p:nvSpPr>
        <p:spPr>
          <a:xfrm>
            <a:off x="9235440" y="4224528"/>
            <a:ext cx="420624" cy="420624"/>
          </a:xfrm>
          <a:prstGeom prst="ellipse">
            <a:avLst/>
          </a:prstGeom>
          <a:solidFill>
            <a:srgbClr val="E8772E"/>
          </a:solidFill>
          <a:ln w="12700">
            <a:solidFill>
              <a:srgbClr val="E8772E"/>
            </a:solidFill>
            <a:prstDash val="solid"/>
          </a:ln>
        </p:spPr>
      </p:sp>
      <p:sp>
        <p:nvSpPr>
          <p:cNvPr id="48" name="Text 46"/>
          <p:cNvSpPr txBox="1"/>
          <p:nvPr/>
        </p:nvSpPr>
        <p:spPr>
          <a:xfrm>
            <a:off x="9235440" y="422452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8</a:t>
            </a:r>
            <a:endParaRPr lang="en-US" sz="1400" dirty="0"/>
          </a:p>
        </p:txBody>
      </p:sp>
      <p:sp>
        <p:nvSpPr>
          <p:cNvPr id="49" name="Text 47"/>
          <p:cNvSpPr txBox="1"/>
          <p:nvPr/>
        </p:nvSpPr>
        <p:spPr>
          <a:xfrm>
            <a:off x="9235440" y="4773168"/>
            <a:ext cx="2194560" cy="411480"/>
          </a:xfrm>
          <a:prstGeom prst="rect">
            <a:avLst/>
          </a:prstGeom>
          <a:noFill/>
          <a:ln/>
        </p:spPr>
        <p:txBody>
          <a:bodyPr wrap="square" lIns="0" tIns="0" rIns="0" bIns="0" rtlCol="0" anchor="ctr"/>
          <a:lstStyle/>
          <a:p>
            <a:pPr indent="0" marL="0">
              <a:buNone/>
            </a:pPr>
            <a:r>
              <a:rPr lang="en-US" sz="1700" b="1" dirty="0">
                <a:solidFill>
                  <a:srgbClr val="1B1F2A"/>
                </a:solidFill>
                <a:latin typeface="Cambria" pitchFamily="34" charset="0"/>
                <a:ea typeface="Cambria" pitchFamily="34" charset="-122"/>
                <a:cs typeface="Cambria" pitchFamily="34" charset="-120"/>
              </a:rPr>
              <a:t>Top proposals</a:t>
            </a:r>
            <a:endParaRPr lang="en-US" sz="1700" dirty="0"/>
          </a:p>
        </p:txBody>
      </p:sp>
      <p:sp>
        <p:nvSpPr>
          <p:cNvPr id="50" name="Text 48"/>
          <p:cNvSpPr txBox="1"/>
          <p:nvPr/>
        </p:nvSpPr>
        <p:spPr>
          <a:xfrm>
            <a:off x="9235440" y="5193792"/>
            <a:ext cx="2240280" cy="777240"/>
          </a:xfrm>
          <a:prstGeom prst="rect">
            <a:avLst/>
          </a:prstGeom>
          <a:noFill/>
          <a:ln/>
        </p:spPr>
        <p:txBody>
          <a:bodyPr wrap="square" lIns="0" tIns="0" rIns="0" bIns="0" rtlCol="0" anchor="t"/>
          <a:lstStyle/>
          <a:p>
            <a:pPr indent="0" marL="0">
              <a:buNone/>
            </a:pPr>
            <a:r>
              <a:rPr lang="en-US" sz="1250" dirty="0">
                <a:solidFill>
                  <a:srgbClr val="5B6270"/>
                </a:solidFill>
                <a:latin typeface="Calibri" pitchFamily="34" charset="0"/>
                <a:ea typeface="Calibri" pitchFamily="34" charset="-122"/>
                <a:cs typeface="Calibri" pitchFamily="34" charset="-120"/>
              </a:rPr>
              <a:t>sorted boxes + objectness heat-map</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E8772E"/>
                </a:solidFill>
                <a:latin typeface="Calibri" pitchFamily="34" charset="0"/>
                <a:ea typeface="Calibri" pitchFamily="34" charset="-122"/>
                <a:cs typeface="Calibri" pitchFamily="34" charset="-120"/>
              </a:rPr>
              <a:t>STAGES 3–5</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indent="0" marL="0">
              <a:buNone/>
            </a:pPr>
            <a:r>
              <a:rPr lang="en-US" sz="3200" b="1" dirty="0">
                <a:solidFill>
                  <a:srgbClr val="1B1F2A"/>
                </a:solidFill>
                <a:latin typeface="Cambria" pitchFamily="34" charset="0"/>
                <a:ea typeface="Cambria" pitchFamily="34" charset="-122"/>
                <a:cs typeface="Cambria" pitchFamily="34" charset="-120"/>
              </a:rPr>
              <a:t>Normed-gradient features at every scale</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B6270"/>
                </a:solidFill>
                <a:latin typeface="Calibri" pitchFamily="34" charset="0"/>
                <a:ea typeface="Calibri" pitchFamily="34" charset="-122"/>
                <a:cs typeface="Calibri" pitchFamily="34" charset="-120"/>
              </a:rPr>
              <a:t>5</a:t>
            </a:r>
            <a:endParaRPr lang="en-US" sz="1000" dirty="0"/>
          </a:p>
        </p:txBody>
      </p:sp>
      <p:pic>
        <p:nvPicPr>
          <p:cNvPr id="5" name="Image 0" descr="/home/user/cvprojectg10/results/figures/ng_pipeline.png">    </p:cNvPr>
          <p:cNvPicPr>
            <a:picLocks noChangeAspect="1"/>
          </p:cNvPicPr>
          <p:nvPr/>
        </p:nvPicPr>
        <p:blipFill>
          <a:blip r:embed="rId1"/>
          <a:srcRect l="0" r="0" t="0" b="0"/>
          <a:stretch/>
        </p:blipFill>
        <p:spPr>
          <a:xfrm>
            <a:off x="457200" y="1417320"/>
            <a:ext cx="7680960" cy="3566160"/>
          </a:xfrm>
          <a:prstGeom prst="rect">
            <a:avLst/>
          </a:prstGeom>
        </p:spPr>
      </p:pic>
      <p:sp>
        <p:nvSpPr>
          <p:cNvPr id="6" name="Text 3"/>
          <p:cNvSpPr txBox="1"/>
          <p:nvPr/>
        </p:nvSpPr>
        <p:spPr>
          <a:xfrm>
            <a:off x="8412480" y="1554480"/>
            <a:ext cx="3291840" cy="4572000"/>
          </a:xfrm>
          <a:prstGeom prst="rect">
            <a:avLst/>
          </a:prstGeom>
          <a:noFill/>
          <a:ln/>
        </p:spPr>
        <p:txBody>
          <a:bodyPr wrap="square" lIns="0" tIns="0" rIns="0" bIns="0" rtlCol="0" anchor="t"/>
          <a:lstStyle/>
          <a:p>
            <a:pPr marL="342900" indent="-342900">
              <a:spcAft>
                <a:spcPts val="900"/>
              </a:spcAft>
              <a:buSzPct val="100000"/>
              <a:buChar char="•"/>
            </a:pPr>
            <a:r>
              <a:rPr lang="en-US" sz="1400" dirty="0">
                <a:solidFill>
                  <a:srgbClr val="1B1F2A"/>
                </a:solidFill>
                <a:latin typeface="Calibri" pitchFamily="34" charset="0"/>
                <a:ea typeface="Calibri" pitchFamily="34" charset="-122"/>
                <a:cs typeface="Calibri" pitchFamily="34" charset="-120"/>
              </a:rPr>
              <a:t>The whole image is resized once per window size (w, h) to (8W/w, 8H/h) — then every 8×8 patch of the NG map is one candidate window.</a:t>
            </a:r>
            <a:endParaRPr lang="en-US" sz="1400" dirty="0"/>
          </a:p>
          <a:p>
            <a:pPr marL="342900" indent="-342900">
              <a:spcAft>
                <a:spcPts val="900"/>
              </a:spcAft>
              <a:buSzPct val="100000"/>
              <a:buChar char="•"/>
            </a:pPr>
            <a:r>
              <a:rPr lang="en-US" sz="1400" dirty="0">
                <a:solidFill>
                  <a:srgbClr val="1B1F2A"/>
                </a:solidFill>
                <a:latin typeface="Calibri" pitchFamily="34" charset="0"/>
                <a:ea typeface="Calibri" pitchFamily="34" charset="-122"/>
                <a:cs typeface="Calibri" pitchFamily="34" charset="-120"/>
              </a:rPr>
              <a:t>Top row: NG maps for three window sizes. Bottom row: the four most significant bit-planes b₁…b₄ that form the binarized feature.</a:t>
            </a:r>
            <a:endParaRPr lang="en-US" sz="1400" dirty="0"/>
          </a:p>
          <a:p>
            <a:pPr marL="342900" indent="-342900">
              <a:spcAft>
                <a:spcPts val="900"/>
              </a:spcAft>
              <a:buSzPct val="100000"/>
              <a:buChar char="•"/>
            </a:pPr>
            <a:r>
              <a:rPr lang="en-US" sz="1400" dirty="0">
                <a:solidFill>
                  <a:srgbClr val="1B1F2A"/>
                </a:solidFill>
                <a:latin typeface="Calibri" pitchFamily="34" charset="0"/>
                <a:ea typeface="Calibri" pitchFamily="34" charset="-122"/>
                <a:cs typeface="Calibri" pitchFamily="34" charset="-120"/>
              </a:rPr>
              <a:t>g ≈ Σₖ 2^(8−k) bₖ — keeping Ng = 4 bits loses almost nothing (see ablation).</a:t>
            </a:r>
            <a:endParaRPr lang="en-US" sz="1400" dirty="0"/>
          </a:p>
        </p:txBody>
      </p:sp>
      <p:sp>
        <p:nvSpPr>
          <p:cNvPr id="7" name="Text 4"/>
          <p:cNvSpPr txBox="1"/>
          <p:nvPr/>
        </p:nvSpPr>
        <p:spPr>
          <a:xfrm>
            <a:off x="548640" y="5303520"/>
            <a:ext cx="7589520" cy="731520"/>
          </a:xfrm>
          <a:prstGeom prst="rect">
            <a:avLst/>
          </a:prstGeom>
          <a:noFill/>
          <a:ln/>
        </p:spPr>
        <p:txBody>
          <a:bodyPr wrap="square" lIns="0" tIns="0" rIns="0" bIns="0" rtlCol="0" anchor="ctr"/>
          <a:lstStyle/>
          <a:p>
            <a:pPr indent="0" marL="0">
              <a:buNone/>
            </a:pPr>
            <a:r>
              <a:rPr lang="en-US" sz="1300" i="1" dirty="0">
                <a:solidFill>
                  <a:srgbClr val="5B6270"/>
                </a:solidFill>
                <a:latin typeface="Calibri" pitchFamily="34" charset="0"/>
                <a:ea typeface="Calibri" pitchFamily="34" charset="-122"/>
                <a:cs typeface="Calibri" pitchFamily="34" charset="-120"/>
              </a:rPr>
              <a:t>Sliding a 64-bit window: each new pixel updates a row byte with one shift + OR, and 8 row bytes form the 64-bit word (paper Alg. 2).</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E8772E"/>
                </a:solidFill>
                <a:latin typeface="Calibri" pitchFamily="34" charset="0"/>
                <a:ea typeface="Calibri" pitchFamily="34" charset="-122"/>
                <a:cs typeface="Calibri" pitchFamily="34" charset="-120"/>
              </a:rPr>
              <a:t>STAGES 5–6</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indent="0" marL="0">
              <a:buNone/>
            </a:pPr>
            <a:r>
              <a:rPr lang="en-US" sz="3200" b="1" dirty="0">
                <a:solidFill>
                  <a:srgbClr val="1B1F2A"/>
                </a:solidFill>
                <a:latin typeface="Cambria" pitchFamily="34" charset="0"/>
                <a:ea typeface="Cambria" pitchFamily="34" charset="-122"/>
                <a:cs typeface="Cambria" pitchFamily="34" charset="-120"/>
              </a:rPr>
              <a:t>From dot product to bit operations</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B6270"/>
                </a:solidFill>
                <a:latin typeface="Calibri" pitchFamily="34" charset="0"/>
                <a:ea typeface="Calibri" pitchFamily="34" charset="-122"/>
                <a:cs typeface="Calibri" pitchFamily="34" charset="-120"/>
              </a:rPr>
              <a:t>6</a:t>
            </a:r>
            <a:endParaRPr lang="en-US" sz="1000" dirty="0"/>
          </a:p>
        </p:txBody>
      </p:sp>
      <p:sp>
        <p:nvSpPr>
          <p:cNvPr id="5" name="Shape 3"/>
          <p:cNvSpPr/>
          <p:nvPr/>
        </p:nvSpPr>
        <p:spPr>
          <a:xfrm>
            <a:off x="548640" y="1554480"/>
            <a:ext cx="5486400" cy="4480560"/>
          </a:xfrm>
          <a:prstGeom prst="roundRect">
            <a:avLst>
              <a:gd name="adj" fmla="val 2449"/>
            </a:avLst>
          </a:prstGeom>
          <a:solidFill>
            <a:srgbClr val="F1F4F7"/>
          </a:solidFill>
          <a:ln w="12700">
            <a:solidFill>
              <a:srgbClr val="F1F4F7"/>
            </a:solidFill>
            <a:prstDash val="solid"/>
          </a:ln>
        </p:spPr>
      </p:sp>
      <p:sp>
        <p:nvSpPr>
          <p:cNvPr id="6" name="Text 4"/>
          <p:cNvSpPr txBox="1"/>
          <p:nvPr/>
        </p:nvSpPr>
        <p:spPr>
          <a:xfrm>
            <a:off x="822960" y="1783080"/>
            <a:ext cx="5029200" cy="4114800"/>
          </a:xfrm>
          <a:prstGeom prst="rect">
            <a:avLst/>
          </a:prstGeom>
          <a:noFill/>
          <a:ln/>
        </p:spPr>
        <p:txBody>
          <a:bodyPr wrap="square" lIns="0" tIns="0" rIns="0" bIns="0" rtlCol="0" anchor="t"/>
          <a:lstStyle/>
          <a:p>
            <a:pPr indent="0" marL="0">
              <a:buNone/>
            </a:pPr>
            <a:r>
              <a:rPr lang="en-US" sz="1600" b="1" dirty="0">
                <a:solidFill>
                  <a:srgbClr val="1B1F2A"/>
                </a:solidFill>
                <a:latin typeface="Calibri" pitchFamily="34" charset="0"/>
                <a:ea typeface="Calibri" pitchFamily="34" charset="-122"/>
                <a:cs typeface="Calibri" pitchFamily="34" charset="-120"/>
              </a:rPr>
              <a:t>1 · Approximate the filter (Alg. 1)</a:t>
            </a:r>
            <a:endParaRPr lang="en-US" sz="1500" dirty="0"/>
          </a:p>
          <a:p>
            <a:pPr indent="0" marL="0">
              <a:buNone/>
            </a:pPr>
            <a:r>
              <a:rPr lang="en-US" sz="1500" dirty="0">
                <a:solidFill>
                  <a:srgbClr val="5B6270"/>
                </a:solidFill>
                <a:latin typeface="Calibri" pitchFamily="34" charset="0"/>
                <a:ea typeface="Calibri" pitchFamily="34" charset="-122"/>
                <a:cs typeface="Calibri" pitchFamily="34" charset="-120"/>
              </a:rPr>
              <a:t>w ≈ Σⱼ βⱼ aⱼ,  aⱼ ∈ {−1, +1}⁶⁴  (greedy: aⱼ = sign(residual))</a:t>
            </a:r>
            <a:endParaRPr lang="en-US" sz="1500" dirty="0"/>
          </a:p>
          <a:p>
            <a:pPr indent="0" marL="0">
              <a:buNone/>
            </a:pPr>
            <a:r>
              <a:rPr lang="en-US" sz="1500" dirty="0">
                <a:solidFill>
                  <a:srgbClr val="000000"/>
                </a:solidFill>
                <a:latin typeface="Calibri" pitchFamily="34" charset="0"/>
                <a:ea typeface="Calibri" pitchFamily="34" charset="-122"/>
                <a:cs typeface="Calibri" pitchFamily="34" charset="-120"/>
              </a:rPr>
              <a:t> </a:t>
            </a:r>
            <a:endParaRPr lang="en-US" sz="1500" dirty="0"/>
          </a:p>
          <a:p>
            <a:pPr indent="0" marL="0">
              <a:buNone/>
            </a:pPr>
            <a:r>
              <a:rPr lang="en-US" sz="1600" b="1" dirty="0">
                <a:solidFill>
                  <a:srgbClr val="1B1F2A"/>
                </a:solidFill>
                <a:latin typeface="Calibri" pitchFamily="34" charset="0"/>
                <a:ea typeface="Calibri" pitchFamily="34" charset="-122"/>
                <a:cs typeface="Calibri" pitchFamily="34" charset="-120"/>
              </a:rPr>
              <a:t>2 · Approximate the feature</a:t>
            </a:r>
            <a:endParaRPr lang="en-US" sz="1500" dirty="0"/>
          </a:p>
          <a:p>
            <a:pPr indent="0" marL="0">
              <a:buNone/>
            </a:pPr>
            <a:r>
              <a:rPr lang="en-US" sz="1500" dirty="0">
                <a:solidFill>
                  <a:srgbClr val="5B6270"/>
                </a:solidFill>
                <a:latin typeface="Calibri" pitchFamily="34" charset="0"/>
                <a:ea typeface="Calibri" pitchFamily="34" charset="-122"/>
                <a:cs typeface="Calibri" pitchFamily="34" charset="-120"/>
              </a:rPr>
              <a:t>g ≈ Σₖ 2^(8−k) bₖ,  bₖ ∈ {0, 1}⁶⁴  (top Ng bit-planes)</a:t>
            </a:r>
            <a:endParaRPr lang="en-US" sz="1500" dirty="0"/>
          </a:p>
          <a:p>
            <a:pPr indent="0" marL="0">
              <a:buNone/>
            </a:pPr>
            <a:r>
              <a:rPr lang="en-US" sz="1500" dirty="0">
                <a:solidFill>
                  <a:srgbClr val="000000"/>
                </a:solidFill>
                <a:latin typeface="Calibri" pitchFamily="34" charset="0"/>
                <a:ea typeface="Calibri" pitchFamily="34" charset="-122"/>
                <a:cs typeface="Calibri" pitchFamily="34" charset="-120"/>
              </a:rPr>
              <a:t> </a:t>
            </a:r>
            <a:endParaRPr lang="en-US" sz="1500" dirty="0"/>
          </a:p>
          <a:p>
            <a:pPr indent="0" marL="0">
              <a:buNone/>
            </a:pPr>
            <a:r>
              <a:rPr lang="en-US" sz="1600" b="1" dirty="0">
                <a:solidFill>
                  <a:srgbClr val="1B1F2A"/>
                </a:solidFill>
                <a:latin typeface="Calibri" pitchFamily="34" charset="0"/>
                <a:ea typeface="Calibri" pitchFamily="34" charset="-122"/>
                <a:cs typeface="Calibri" pitchFamily="34" charset="-120"/>
              </a:rPr>
              <a:t>3 · Score with bits only</a:t>
            </a:r>
            <a:endParaRPr lang="en-US" sz="1500" dirty="0"/>
          </a:p>
          <a:p>
            <a:pPr indent="0" marL="0">
              <a:buNone/>
            </a:pPr>
            <a:r>
              <a:rPr lang="en-US" sz="1500" dirty="0">
                <a:solidFill>
                  <a:srgbClr val="5B6270"/>
                </a:solidFill>
                <a:latin typeface="Calibri" pitchFamily="34" charset="0"/>
                <a:ea typeface="Calibri" pitchFamily="34" charset="-122"/>
                <a:cs typeface="Calibri" pitchFamily="34" charset="-120"/>
              </a:rPr>
              <a:t>⟨aⱼ, bₖ⟩ = 2·popcount(aⱼ⁺ AND bₖ) − popcount(bₖ)</a:t>
            </a:r>
            <a:endParaRPr lang="en-US" sz="1500" dirty="0"/>
          </a:p>
          <a:p>
            <a:pPr indent="0" marL="0">
              <a:buNone/>
            </a:pPr>
            <a:r>
              <a:rPr lang="en-US" sz="1500" dirty="0">
                <a:solidFill>
                  <a:srgbClr val="5B6270"/>
                </a:solidFill>
                <a:latin typeface="Calibri" pitchFamily="34" charset="0"/>
                <a:ea typeface="Calibri" pitchFamily="34" charset="-122"/>
                <a:cs typeface="Calibri" pitchFamily="34" charset="-120"/>
              </a:rPr>
              <a:t>s ≈ Σⱼ βⱼ Σₖ 2^(8−k) ⟨aⱼ, bₖ⟩</a:t>
            </a:r>
            <a:endParaRPr lang="en-US" sz="1500" dirty="0"/>
          </a:p>
        </p:txBody>
      </p:sp>
      <p:pic>
        <p:nvPicPr>
          <p:cNvPr id="7" name="Image 0" descr="/home/user/cvprojectg10/results/figures/filter_bases.png">    </p:cNvPr>
          <p:cNvPicPr>
            <a:picLocks noChangeAspect="1"/>
          </p:cNvPicPr>
          <p:nvPr/>
        </p:nvPicPr>
        <p:blipFill>
          <a:blip r:embed="rId1"/>
          <a:srcRect l="0" r="0" t="0" b="0"/>
          <a:stretch/>
        </p:blipFill>
        <p:spPr>
          <a:xfrm>
            <a:off x="6309360" y="1554480"/>
            <a:ext cx="5394960" cy="1737360"/>
          </a:xfrm>
          <a:prstGeom prst="rect">
            <a:avLst/>
          </a:prstGeom>
        </p:spPr>
      </p:pic>
      <p:sp>
        <p:nvSpPr>
          <p:cNvPr id="8" name="Text 5"/>
          <p:cNvSpPr txBox="1"/>
          <p:nvPr/>
        </p:nvSpPr>
        <p:spPr>
          <a:xfrm>
            <a:off x="6309360" y="3566160"/>
            <a:ext cx="5394960" cy="2560320"/>
          </a:xfrm>
          <a:prstGeom prst="rect">
            <a:avLst/>
          </a:prstGeom>
          <a:noFill/>
          <a:ln/>
        </p:spPr>
        <p:txBody>
          <a:bodyPr wrap="square" lIns="0" tIns="0" rIns="0" bIns="0" rtlCol="0" anchor="t"/>
          <a:lstStyle/>
          <a:p>
            <a:pPr marL="342900" indent="-342900">
              <a:spcAft>
                <a:spcPts val="900"/>
              </a:spcAft>
              <a:buSzPct val="100000"/>
              <a:buChar char="•"/>
            </a:pPr>
            <a:r>
              <a:rPr lang="en-US" sz="1400" dirty="0">
                <a:solidFill>
                  <a:srgbClr val="1B1F2A"/>
                </a:solidFill>
                <a:latin typeface="Calibri" pitchFamily="34" charset="0"/>
                <a:ea typeface="Calibri" pitchFamily="34" charset="-122"/>
                <a:cs typeface="Calibri" pitchFamily="34" charset="-120"/>
              </a:rPr>
              <a:t>With Nw = 2 and Ng = 4 a window needs 4 × (1 + 2) = 12 POPCOUNTs instead of 64 multiply-adds.</a:t>
            </a:r>
            <a:endParaRPr lang="en-US" sz="1400" dirty="0"/>
          </a:p>
          <a:p>
            <a:pPr marL="342900" indent="-342900">
              <a:spcAft>
                <a:spcPts val="900"/>
              </a:spcAft>
              <a:buSzPct val="100000"/>
              <a:buChar char="•"/>
            </a:pPr>
            <a:r>
              <a:rPr lang="en-US" sz="1400" dirty="0">
                <a:solidFill>
                  <a:srgbClr val="1B1F2A"/>
                </a:solidFill>
                <a:latin typeface="Calibri" pitchFamily="34" charset="0"/>
                <a:ea typeface="Calibri" pitchFamily="34" charset="-122"/>
                <a:cs typeface="Calibri" pitchFamily="34" charset="-120"/>
              </a:rPr>
              <a:t>Accuracy is unchanged: DR@1000 95.1% (binary) vs 94.6% (float w) on the synthetic test set.</a:t>
            </a:r>
            <a:endParaRPr lang="en-US" sz="1400" dirty="0"/>
          </a:p>
          <a:p>
            <a:pPr marL="342900" indent="-342900">
              <a:spcAft>
                <a:spcPts val="900"/>
              </a:spcAft>
              <a:buSzPct val="100000"/>
              <a:buChar char="•"/>
            </a:pPr>
            <a:r>
              <a:rPr lang="en-US" sz="1400" dirty="0">
                <a:solidFill>
                  <a:srgbClr val="1B1F2A"/>
                </a:solidFill>
                <a:latin typeface="Calibri" pitchFamily="34" charset="0"/>
                <a:ea typeface="Calibri" pitchFamily="34" charset="-122"/>
                <a:cs typeface="Calibri" pitchFamily="34" charset="-120"/>
              </a:rPr>
              <a:t>Unit-tested: the bitwise score equals ⟨w̃, g̃⟩ computed with floats to 1e-3.</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E8772E"/>
                </a:solidFill>
                <a:latin typeface="Calibri" pitchFamily="34" charset="0"/>
                <a:ea typeface="Calibri" pitchFamily="34" charset="-122"/>
                <a:cs typeface="Calibri" pitchFamily="34" charset="-120"/>
              </a:rPr>
              <a:t>IMPLEMENTATION</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indent="0" marL="0">
              <a:buNone/>
            </a:pPr>
            <a:r>
              <a:rPr lang="en-US" sz="3200" b="1" dirty="0">
                <a:solidFill>
                  <a:srgbClr val="1B1F2A"/>
                </a:solidFill>
                <a:latin typeface="Cambria" pitchFamily="34" charset="0"/>
                <a:ea typeface="Cambria" pitchFamily="34" charset="-122"/>
                <a:cs typeface="Cambria" pitchFamily="34" charset="-120"/>
              </a:rPr>
              <a:t>What we built</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B6270"/>
                </a:solidFill>
                <a:latin typeface="Calibri" pitchFamily="34" charset="0"/>
                <a:ea typeface="Calibri" pitchFamily="34" charset="-122"/>
                <a:cs typeface="Calibri" pitchFamily="34" charset="-120"/>
              </a:rPr>
              <a:t>7</a:t>
            </a:r>
            <a:endParaRPr lang="en-US" sz="1000" dirty="0"/>
          </a:p>
        </p:txBody>
      </p:sp>
      <p:sp>
        <p:nvSpPr>
          <p:cNvPr id="5" name="Text 3"/>
          <p:cNvSpPr txBox="1"/>
          <p:nvPr/>
        </p:nvSpPr>
        <p:spPr>
          <a:xfrm>
            <a:off x="548640" y="1554480"/>
            <a:ext cx="2377440" cy="548640"/>
          </a:xfrm>
          <a:prstGeom prst="rect">
            <a:avLst/>
          </a:prstGeom>
          <a:noFill/>
          <a:ln/>
        </p:spPr>
        <p:txBody>
          <a:bodyPr wrap="square" lIns="0" tIns="0" rIns="0" bIns="0" rtlCol="0" anchor="ctr"/>
          <a:lstStyle/>
          <a:p>
            <a:pPr indent="0" marL="0">
              <a:buNone/>
            </a:pPr>
            <a:r>
              <a:rPr lang="en-US" sz="1400" b="1" dirty="0">
                <a:solidFill>
                  <a:srgbClr val="1C7293"/>
                </a:solidFill>
                <a:latin typeface="Courier New" pitchFamily="34" charset="0"/>
                <a:ea typeface="Courier New" pitchFamily="34" charset="-122"/>
                <a:cs typeface="Courier New" pitchFamily="34" charset="-120"/>
              </a:rPr>
              <a:t>bing/features.py</a:t>
            </a:r>
            <a:endParaRPr lang="en-US" sz="1400" dirty="0"/>
          </a:p>
        </p:txBody>
      </p:sp>
      <p:sp>
        <p:nvSpPr>
          <p:cNvPr id="6" name="Text 4"/>
          <p:cNvSpPr txBox="1"/>
          <p:nvPr/>
        </p:nvSpPr>
        <p:spPr>
          <a:xfrm>
            <a:off x="2926080" y="1554480"/>
            <a:ext cx="4206240" cy="548640"/>
          </a:xfrm>
          <a:prstGeom prst="rect">
            <a:avLst/>
          </a:prstGeom>
          <a:noFill/>
          <a:ln/>
        </p:spPr>
        <p:txBody>
          <a:bodyPr wrap="square" lIns="0" tIns="0" rIns="0" bIns="0" rtlCol="0" anchor="ctr"/>
          <a:lstStyle/>
          <a:p>
            <a:pPr indent="0" marL="0">
              <a:buNone/>
            </a:pPr>
            <a:r>
              <a:rPr lang="en-US" sz="1350" dirty="0">
                <a:solidFill>
                  <a:srgbClr val="1B1F2A"/>
                </a:solidFill>
                <a:latin typeface="Calibri" pitchFamily="34" charset="0"/>
                <a:ea typeface="Calibri" pitchFamily="34" charset="-122"/>
                <a:cs typeface="Calibri" pitchFamily="34" charset="-120"/>
              </a:rPr>
              <a:t>NG maps, colour spaces, [-1 0 1] vs Sobel, per-box features</a:t>
            </a:r>
            <a:endParaRPr lang="en-US" sz="1350" dirty="0"/>
          </a:p>
        </p:txBody>
      </p:sp>
      <p:sp>
        <p:nvSpPr>
          <p:cNvPr id="7" name="Text 5"/>
          <p:cNvSpPr txBox="1"/>
          <p:nvPr/>
        </p:nvSpPr>
        <p:spPr>
          <a:xfrm>
            <a:off x="548640" y="2267712"/>
            <a:ext cx="2377440" cy="548640"/>
          </a:xfrm>
          <a:prstGeom prst="rect">
            <a:avLst/>
          </a:prstGeom>
          <a:noFill/>
          <a:ln/>
        </p:spPr>
        <p:txBody>
          <a:bodyPr wrap="square" lIns="0" tIns="0" rIns="0" bIns="0" rtlCol="0" anchor="ctr"/>
          <a:lstStyle/>
          <a:p>
            <a:pPr indent="0" marL="0">
              <a:buNone/>
            </a:pPr>
            <a:r>
              <a:rPr lang="en-US" sz="1400" b="1" dirty="0">
                <a:solidFill>
                  <a:srgbClr val="1C7293"/>
                </a:solidFill>
                <a:latin typeface="Courier New" pitchFamily="34" charset="0"/>
                <a:ea typeface="Courier New" pitchFamily="34" charset="-122"/>
                <a:cs typeface="Courier New" pitchFamily="34" charset="-120"/>
              </a:rPr>
              <a:t>bing/binary.py</a:t>
            </a:r>
            <a:endParaRPr lang="en-US" sz="1400" dirty="0"/>
          </a:p>
        </p:txBody>
      </p:sp>
      <p:sp>
        <p:nvSpPr>
          <p:cNvPr id="8" name="Text 6"/>
          <p:cNvSpPr txBox="1"/>
          <p:nvPr/>
        </p:nvSpPr>
        <p:spPr>
          <a:xfrm>
            <a:off x="2926080" y="2267712"/>
            <a:ext cx="4206240" cy="548640"/>
          </a:xfrm>
          <a:prstGeom prst="rect">
            <a:avLst/>
          </a:prstGeom>
          <a:noFill/>
          <a:ln/>
        </p:spPr>
        <p:txBody>
          <a:bodyPr wrap="square" lIns="0" tIns="0" rIns="0" bIns="0" rtlCol="0" anchor="ctr"/>
          <a:lstStyle/>
          <a:p>
            <a:pPr indent="0" marL="0">
              <a:buNone/>
            </a:pPr>
            <a:r>
              <a:rPr lang="en-US" sz="1350" dirty="0">
                <a:solidFill>
                  <a:srgbClr val="1B1F2A"/>
                </a:solidFill>
                <a:latin typeface="Calibri" pitchFamily="34" charset="0"/>
                <a:ea typeface="Calibri" pitchFamily="34" charset="-122"/>
                <a:cs typeface="Calibri" pitchFamily="34" charset="-120"/>
              </a:rPr>
              <a:t>Alg. 1 filter binarization, 64-bit packing, AND+POPCOUNT scorer (numpy)</a:t>
            </a:r>
            <a:endParaRPr lang="en-US" sz="1350" dirty="0"/>
          </a:p>
        </p:txBody>
      </p:sp>
      <p:sp>
        <p:nvSpPr>
          <p:cNvPr id="9" name="Text 7"/>
          <p:cNvSpPr txBox="1"/>
          <p:nvPr/>
        </p:nvSpPr>
        <p:spPr>
          <a:xfrm>
            <a:off x="548640" y="2980944"/>
            <a:ext cx="2377440" cy="548640"/>
          </a:xfrm>
          <a:prstGeom prst="rect">
            <a:avLst/>
          </a:prstGeom>
          <a:noFill/>
          <a:ln/>
        </p:spPr>
        <p:txBody>
          <a:bodyPr wrap="square" lIns="0" tIns="0" rIns="0" bIns="0" rtlCol="0" anchor="ctr"/>
          <a:lstStyle/>
          <a:p>
            <a:pPr indent="0" marL="0">
              <a:buNone/>
            </a:pPr>
            <a:r>
              <a:rPr lang="en-US" sz="1400" b="1" dirty="0">
                <a:solidFill>
                  <a:srgbClr val="1C7293"/>
                </a:solidFill>
                <a:latin typeface="Courier New" pitchFamily="34" charset="0"/>
                <a:ea typeface="Courier New" pitchFamily="34" charset="-122"/>
                <a:cs typeface="Courier New" pitchFamily="34" charset="-120"/>
              </a:rPr>
              <a:t>bing/fast.py</a:t>
            </a:r>
            <a:endParaRPr lang="en-US" sz="1400" dirty="0"/>
          </a:p>
        </p:txBody>
      </p:sp>
      <p:sp>
        <p:nvSpPr>
          <p:cNvPr id="10" name="Text 8"/>
          <p:cNvSpPr txBox="1"/>
          <p:nvPr/>
        </p:nvSpPr>
        <p:spPr>
          <a:xfrm>
            <a:off x="2926080" y="2980944"/>
            <a:ext cx="4206240" cy="548640"/>
          </a:xfrm>
          <a:prstGeom prst="rect">
            <a:avLst/>
          </a:prstGeom>
          <a:noFill/>
          <a:ln/>
        </p:spPr>
        <p:txBody>
          <a:bodyPr wrap="square" lIns="0" tIns="0" rIns="0" bIns="0" rtlCol="0" anchor="ctr"/>
          <a:lstStyle/>
          <a:p>
            <a:pPr indent="0" marL="0">
              <a:buNone/>
            </a:pPr>
            <a:r>
              <a:rPr lang="en-US" sz="1350" dirty="0">
                <a:solidFill>
                  <a:srgbClr val="1B1F2A"/>
                </a:solidFill>
                <a:latin typeface="Calibri" pitchFamily="34" charset="0"/>
                <a:ea typeface="Calibri" pitchFamily="34" charset="-122"/>
                <a:cs typeface="Calibri" pitchFamily="34" charset="-120"/>
              </a:rPr>
              <a:t>Numba JIT kernel of Alg. 2 — shift/OR feature packing, parallel popcount</a:t>
            </a:r>
            <a:endParaRPr lang="en-US" sz="1350" dirty="0"/>
          </a:p>
        </p:txBody>
      </p:sp>
      <p:sp>
        <p:nvSpPr>
          <p:cNvPr id="11" name="Text 9"/>
          <p:cNvSpPr txBox="1"/>
          <p:nvPr/>
        </p:nvSpPr>
        <p:spPr>
          <a:xfrm>
            <a:off x="548640" y="3694176"/>
            <a:ext cx="2377440" cy="548640"/>
          </a:xfrm>
          <a:prstGeom prst="rect">
            <a:avLst/>
          </a:prstGeom>
          <a:noFill/>
          <a:ln/>
        </p:spPr>
        <p:txBody>
          <a:bodyPr wrap="square" lIns="0" tIns="0" rIns="0" bIns="0" rtlCol="0" anchor="ctr"/>
          <a:lstStyle/>
          <a:p>
            <a:pPr indent="0" marL="0">
              <a:buNone/>
            </a:pPr>
            <a:r>
              <a:rPr lang="en-US" sz="1400" b="1" dirty="0">
                <a:solidFill>
                  <a:srgbClr val="1C7293"/>
                </a:solidFill>
                <a:latin typeface="Courier New" pitchFamily="34" charset="0"/>
                <a:ea typeface="Courier New" pitchFamily="34" charset="-122"/>
                <a:cs typeface="Courier New" pitchFamily="34" charset="-120"/>
              </a:rPr>
              <a:t>bing/model.py</a:t>
            </a:r>
            <a:endParaRPr lang="en-US" sz="1400" dirty="0"/>
          </a:p>
        </p:txBody>
      </p:sp>
      <p:sp>
        <p:nvSpPr>
          <p:cNvPr id="12" name="Text 10"/>
          <p:cNvSpPr txBox="1"/>
          <p:nvPr/>
        </p:nvSpPr>
        <p:spPr>
          <a:xfrm>
            <a:off x="2926080" y="3694176"/>
            <a:ext cx="4206240" cy="548640"/>
          </a:xfrm>
          <a:prstGeom prst="rect">
            <a:avLst/>
          </a:prstGeom>
          <a:noFill/>
          <a:ln/>
        </p:spPr>
        <p:txBody>
          <a:bodyPr wrap="square" lIns="0" tIns="0" rIns="0" bIns="0" rtlCol="0" anchor="ctr"/>
          <a:lstStyle/>
          <a:p>
            <a:pPr indent="0" marL="0">
              <a:buNone/>
            </a:pPr>
            <a:r>
              <a:rPr lang="en-US" sz="1350" dirty="0">
                <a:solidFill>
                  <a:srgbClr val="1B1F2A"/>
                </a:solidFill>
                <a:latin typeface="Calibri" pitchFamily="34" charset="0"/>
                <a:ea typeface="Calibri" pitchFamily="34" charset="-122"/>
                <a:cs typeface="Calibri" pitchFamily="34" charset="-120"/>
              </a:rPr>
              <a:t>Two-stage training (LinearSVC + per-size calibration), NMS, ranking, heat-map</a:t>
            </a:r>
            <a:endParaRPr lang="en-US" sz="1350" dirty="0"/>
          </a:p>
        </p:txBody>
      </p:sp>
      <p:sp>
        <p:nvSpPr>
          <p:cNvPr id="13" name="Text 11"/>
          <p:cNvSpPr txBox="1"/>
          <p:nvPr/>
        </p:nvSpPr>
        <p:spPr>
          <a:xfrm>
            <a:off x="548640" y="4407408"/>
            <a:ext cx="2377440" cy="548640"/>
          </a:xfrm>
          <a:prstGeom prst="rect">
            <a:avLst/>
          </a:prstGeom>
          <a:noFill/>
          <a:ln/>
        </p:spPr>
        <p:txBody>
          <a:bodyPr wrap="square" lIns="0" tIns="0" rIns="0" bIns="0" rtlCol="0" anchor="ctr"/>
          <a:lstStyle/>
          <a:p>
            <a:pPr indent="0" marL="0">
              <a:buNone/>
            </a:pPr>
            <a:r>
              <a:rPr lang="en-US" sz="1400" b="1" dirty="0">
                <a:solidFill>
                  <a:srgbClr val="1C7293"/>
                </a:solidFill>
                <a:latin typeface="Courier New" pitchFamily="34" charset="0"/>
                <a:ea typeface="Courier New" pitchFamily="34" charset="-122"/>
                <a:cs typeface="Courier New" pitchFamily="34" charset="-120"/>
              </a:rPr>
              <a:t>bing/metrics.py</a:t>
            </a:r>
            <a:endParaRPr lang="en-US" sz="1400" dirty="0"/>
          </a:p>
        </p:txBody>
      </p:sp>
      <p:sp>
        <p:nvSpPr>
          <p:cNvPr id="14" name="Text 12"/>
          <p:cNvSpPr txBox="1"/>
          <p:nvPr/>
        </p:nvSpPr>
        <p:spPr>
          <a:xfrm>
            <a:off x="2926080" y="4407408"/>
            <a:ext cx="4206240" cy="548640"/>
          </a:xfrm>
          <a:prstGeom prst="rect">
            <a:avLst/>
          </a:prstGeom>
          <a:noFill/>
          <a:ln/>
        </p:spPr>
        <p:txBody>
          <a:bodyPr wrap="square" lIns="0" tIns="0" rIns="0" bIns="0" rtlCol="0" anchor="ctr"/>
          <a:lstStyle/>
          <a:p>
            <a:pPr indent="0" marL="0">
              <a:buNone/>
            </a:pPr>
            <a:r>
              <a:rPr lang="en-US" sz="1350" dirty="0">
                <a:solidFill>
                  <a:srgbClr val="1B1F2A"/>
                </a:solidFill>
                <a:latin typeface="Calibri" pitchFamily="34" charset="0"/>
                <a:ea typeface="Calibri" pitchFamily="34" charset="-122"/>
                <a:cs typeface="Calibri" pitchFamily="34" charset="-120"/>
              </a:rPr>
              <a:t>DR-#WIN, MABO, AUC, recall-vs-IoU</a:t>
            </a:r>
            <a:endParaRPr lang="en-US" sz="1350" dirty="0"/>
          </a:p>
        </p:txBody>
      </p:sp>
      <p:sp>
        <p:nvSpPr>
          <p:cNvPr id="15" name="Text 13"/>
          <p:cNvSpPr txBox="1"/>
          <p:nvPr/>
        </p:nvSpPr>
        <p:spPr>
          <a:xfrm>
            <a:off x="548640" y="5120640"/>
            <a:ext cx="2377440" cy="548640"/>
          </a:xfrm>
          <a:prstGeom prst="rect">
            <a:avLst/>
          </a:prstGeom>
          <a:noFill/>
          <a:ln/>
        </p:spPr>
        <p:txBody>
          <a:bodyPr wrap="square" lIns="0" tIns="0" rIns="0" bIns="0" rtlCol="0" anchor="ctr"/>
          <a:lstStyle/>
          <a:p>
            <a:pPr indent="0" marL="0">
              <a:buNone/>
            </a:pPr>
            <a:r>
              <a:rPr lang="en-US" sz="1400" b="1" dirty="0">
                <a:solidFill>
                  <a:srgbClr val="1C7293"/>
                </a:solidFill>
                <a:latin typeface="Courier New" pitchFamily="34" charset="0"/>
                <a:ea typeface="Courier New" pitchFamily="34" charset="-122"/>
                <a:cs typeface="Courier New" pitchFamily="34" charset="-120"/>
              </a:rPr>
              <a:t>bing/datasets.py</a:t>
            </a:r>
            <a:endParaRPr lang="en-US" sz="1400" dirty="0"/>
          </a:p>
        </p:txBody>
      </p:sp>
      <p:sp>
        <p:nvSpPr>
          <p:cNvPr id="16" name="Text 14"/>
          <p:cNvSpPr txBox="1"/>
          <p:nvPr/>
        </p:nvSpPr>
        <p:spPr>
          <a:xfrm>
            <a:off x="2926080" y="5120640"/>
            <a:ext cx="4206240" cy="548640"/>
          </a:xfrm>
          <a:prstGeom prst="rect">
            <a:avLst/>
          </a:prstGeom>
          <a:noFill/>
          <a:ln/>
        </p:spPr>
        <p:txBody>
          <a:bodyPr wrap="square" lIns="0" tIns="0" rIns="0" bIns="0" rtlCol="0" anchor="ctr"/>
          <a:lstStyle/>
          <a:p>
            <a:pPr indent="0" marL="0">
              <a:buNone/>
            </a:pPr>
            <a:r>
              <a:rPr lang="en-US" sz="1350" dirty="0">
                <a:solidFill>
                  <a:srgbClr val="1B1F2A"/>
                </a:solidFill>
                <a:latin typeface="Calibri" pitchFamily="34" charset="0"/>
                <a:ea typeface="Calibri" pitchFamily="34" charset="-122"/>
                <a:cs typeface="Calibri" pitchFamily="34" charset="-120"/>
              </a:rPr>
              <a:t>Synthetic scene generator, real photos, PASCAL VOC 2007 loader</a:t>
            </a:r>
            <a:endParaRPr lang="en-US" sz="1350" dirty="0"/>
          </a:p>
        </p:txBody>
      </p:sp>
      <p:sp>
        <p:nvSpPr>
          <p:cNvPr id="17" name="Shape 15"/>
          <p:cNvSpPr/>
          <p:nvPr/>
        </p:nvSpPr>
        <p:spPr>
          <a:xfrm>
            <a:off x="7589520" y="1554480"/>
            <a:ext cx="4023360" cy="4297680"/>
          </a:xfrm>
          <a:prstGeom prst="roundRect">
            <a:avLst>
              <a:gd name="adj" fmla="val 2727"/>
            </a:avLst>
          </a:prstGeom>
          <a:solidFill>
            <a:srgbClr val="F1F4F7"/>
          </a:solidFill>
          <a:ln w="12700">
            <a:solidFill>
              <a:srgbClr val="F1F4F7"/>
            </a:solidFill>
            <a:prstDash val="solid"/>
          </a:ln>
        </p:spPr>
      </p:sp>
      <p:sp>
        <p:nvSpPr>
          <p:cNvPr id="18" name="Text 16"/>
          <p:cNvSpPr txBox="1"/>
          <p:nvPr/>
        </p:nvSpPr>
        <p:spPr>
          <a:xfrm>
            <a:off x="7863840" y="1783080"/>
            <a:ext cx="3566160" cy="3931920"/>
          </a:xfrm>
          <a:prstGeom prst="rect">
            <a:avLst/>
          </a:prstGeom>
          <a:noFill/>
          <a:ln/>
        </p:spPr>
        <p:txBody>
          <a:bodyPr wrap="square" lIns="0" tIns="0" rIns="0" bIns="0" rtlCol="0" anchor="t"/>
          <a:lstStyle/>
          <a:p>
            <a:pPr indent="0" marL="0">
              <a:buNone/>
            </a:pPr>
            <a:r>
              <a:rPr lang="en-US" sz="1600" b="1" dirty="0">
                <a:solidFill>
                  <a:srgbClr val="1B1F2A"/>
                </a:solidFill>
                <a:latin typeface="Calibri" pitchFamily="34" charset="0"/>
                <a:ea typeface="Calibri" pitchFamily="34" charset="-122"/>
                <a:cs typeface="Calibri" pitchFamily="34" charset="-120"/>
              </a:rPr>
              <a:t>Scripts</a:t>
            </a:r>
            <a:endParaRPr lang="en-US" sz="1400" dirty="0"/>
          </a:p>
          <a:p>
            <a:pPr indent="0" marL="0">
              <a:buNone/>
            </a:pPr>
            <a:r>
              <a:rPr lang="en-US" sz="1400" dirty="0">
                <a:solidFill>
                  <a:srgbClr val="5B6270"/>
                </a:solidFill>
                <a:latin typeface="Calibri" pitchFamily="34" charset="0"/>
                <a:ea typeface="Calibri" pitchFamily="34" charset="-122"/>
                <a:cs typeface="Calibri" pitchFamily="34" charset="-120"/>
              </a:rPr>
              <a:t>make_synthetic.py · run_experiments.py · make_figures.py · demo.py (image / webcam)</a:t>
            </a:r>
            <a:endParaRPr lang="en-US" sz="1400" dirty="0"/>
          </a:p>
          <a:p>
            <a:pPr indent="0" marL="0">
              <a:buNone/>
            </a:pPr>
            <a:r>
              <a:rPr lang="en-US" sz="1400" dirty="0">
                <a:solidFill>
                  <a:srgbClr val="1B1F2A"/>
                </a:solidFill>
                <a:latin typeface="Calibri" pitchFamily="34" charset="0"/>
                <a:ea typeface="Calibri" pitchFamily="34" charset="-122"/>
                <a:cs typeface="Calibri" pitchFamily="34" charset="-120"/>
              </a:rPr>
              <a:t> </a:t>
            </a:r>
            <a:endParaRPr lang="en-US" sz="1400" dirty="0"/>
          </a:p>
          <a:p>
            <a:pPr indent="0" marL="0">
              <a:buNone/>
            </a:pPr>
            <a:r>
              <a:rPr lang="en-US" sz="1600" b="1" dirty="0">
                <a:solidFill>
                  <a:srgbClr val="1B1F2A"/>
                </a:solidFill>
                <a:latin typeface="Calibri" pitchFamily="34" charset="0"/>
                <a:ea typeface="Calibri" pitchFamily="34" charset="-122"/>
                <a:cs typeface="Calibri" pitchFamily="34" charset="-120"/>
              </a:rPr>
              <a:t>Stack</a:t>
            </a:r>
            <a:endParaRPr lang="en-US" sz="1400" dirty="0"/>
          </a:p>
          <a:p>
            <a:pPr indent="0" marL="0">
              <a:buNone/>
            </a:pPr>
            <a:r>
              <a:rPr lang="en-US" sz="1400" dirty="0">
                <a:solidFill>
                  <a:srgbClr val="5B6270"/>
                </a:solidFill>
                <a:latin typeface="Calibri" pitchFamily="34" charset="0"/>
                <a:ea typeface="Calibri" pitchFamily="34" charset="-122"/>
                <a:cs typeface="Calibri" pitchFamily="34" charset="-120"/>
              </a:rPr>
              <a:t>Python · OpenCV · NumPy · scikit-learn · Numba · Matplotlib</a:t>
            </a:r>
            <a:endParaRPr lang="en-US" sz="1400" dirty="0"/>
          </a:p>
          <a:p>
            <a:pPr indent="0" marL="0">
              <a:buNone/>
            </a:pPr>
            <a:r>
              <a:rPr lang="en-US" sz="1400" dirty="0">
                <a:solidFill>
                  <a:srgbClr val="1B1F2A"/>
                </a:solidFill>
                <a:latin typeface="Calibri" pitchFamily="34" charset="0"/>
                <a:ea typeface="Calibri" pitchFamily="34" charset="-122"/>
                <a:cs typeface="Calibri" pitchFamily="34" charset="-120"/>
              </a:rPr>
              <a:t> </a:t>
            </a:r>
            <a:endParaRPr lang="en-US" sz="1400" dirty="0"/>
          </a:p>
          <a:p>
            <a:pPr indent="0" marL="0">
              <a:buNone/>
            </a:pPr>
            <a:r>
              <a:rPr lang="en-US" sz="1600" b="1" dirty="0">
                <a:solidFill>
                  <a:srgbClr val="1B1F2A"/>
                </a:solidFill>
                <a:latin typeface="Calibri" pitchFamily="34" charset="0"/>
                <a:ea typeface="Calibri" pitchFamily="34" charset="-122"/>
                <a:cs typeface="Calibri" pitchFamily="34" charset="-120"/>
              </a:rPr>
              <a:t>Reference</a:t>
            </a:r>
            <a:endParaRPr lang="en-US" sz="1400" dirty="0"/>
          </a:p>
          <a:p>
            <a:pPr indent="0" marL="0">
              <a:buNone/>
            </a:pPr>
            <a:r>
              <a:rPr lang="en-US" sz="1400" dirty="0">
                <a:solidFill>
                  <a:srgbClr val="5B6270"/>
                </a:solidFill>
                <a:latin typeface="Calibri" pitchFamily="34" charset="0"/>
                <a:ea typeface="Calibri" pitchFamily="34" charset="-122"/>
                <a:cs typeface="Calibri" pitchFamily="34" charset="-120"/>
              </a:rPr>
              <a:t>Design follows torrvision/Objectness (C++); re-written from scratch in Python, no deep learning.</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E8772E"/>
                </a:solidFill>
                <a:latin typeface="Calibri" pitchFamily="34" charset="0"/>
                <a:ea typeface="Calibri" pitchFamily="34" charset="-122"/>
                <a:cs typeface="Calibri" pitchFamily="34" charset="-120"/>
              </a:rPr>
              <a:t>EXPERIMENTAL SETUP</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indent="0" marL="0">
              <a:buNone/>
            </a:pPr>
            <a:r>
              <a:rPr lang="en-US" sz="3200" b="1" dirty="0">
                <a:solidFill>
                  <a:srgbClr val="1B1F2A"/>
                </a:solidFill>
                <a:latin typeface="Cambria" pitchFamily="34" charset="0"/>
                <a:ea typeface="Cambria" pitchFamily="34" charset="-122"/>
                <a:cs typeface="Cambria" pitchFamily="34" charset="-120"/>
              </a:rPr>
              <a:t>Evaluation data</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B6270"/>
                </a:solidFill>
                <a:latin typeface="Calibri" pitchFamily="34" charset="0"/>
                <a:ea typeface="Calibri" pitchFamily="34" charset="-122"/>
                <a:cs typeface="Calibri" pitchFamily="34" charset="-120"/>
              </a:rPr>
              <a:t>8</a:t>
            </a:r>
            <a:endParaRPr lang="en-US" sz="1000" dirty="0"/>
          </a:p>
        </p:txBody>
      </p:sp>
      <p:pic>
        <p:nvPicPr>
          <p:cNvPr id="5" name="Image 0" descr="/home/user/cvprojectg10/results/figures/dataset_synthetic.png">    </p:cNvPr>
          <p:cNvPicPr>
            <a:picLocks noChangeAspect="1"/>
          </p:cNvPicPr>
          <p:nvPr/>
        </p:nvPicPr>
        <p:blipFill>
          <a:blip r:embed="rId1"/>
          <a:srcRect l="0" r="0" t="0" b="0"/>
          <a:stretch/>
        </p:blipFill>
        <p:spPr>
          <a:xfrm>
            <a:off x="548640" y="1463040"/>
            <a:ext cx="5486400" cy="2148840"/>
          </a:xfrm>
          <a:prstGeom prst="rect">
            <a:avLst/>
          </a:prstGeom>
        </p:spPr>
      </p:pic>
      <p:pic>
        <p:nvPicPr>
          <p:cNvPr id="6" name="Image 1" descr="/home/user/cvprojectg10/results/figures/dataset_real.png">    </p:cNvPr>
          <p:cNvPicPr>
            <a:picLocks noChangeAspect="1"/>
          </p:cNvPicPr>
          <p:nvPr/>
        </p:nvPicPr>
        <p:blipFill>
          <a:blip r:embed="rId2"/>
          <a:srcRect l="0" r="0" t="0" b="0"/>
          <a:stretch/>
        </p:blipFill>
        <p:spPr>
          <a:xfrm>
            <a:off x="6217920" y="1463040"/>
            <a:ext cx="5486400" cy="2148840"/>
          </a:xfrm>
          <a:prstGeom prst="rect">
            <a:avLst/>
          </a:prstGeom>
        </p:spPr>
      </p:pic>
      <p:sp>
        <p:nvSpPr>
          <p:cNvPr id="7" name="Text 3"/>
          <p:cNvSpPr txBox="1"/>
          <p:nvPr/>
        </p:nvSpPr>
        <p:spPr>
          <a:xfrm>
            <a:off x="548640" y="3749040"/>
            <a:ext cx="5486400" cy="365760"/>
          </a:xfrm>
          <a:prstGeom prst="rect">
            <a:avLst/>
          </a:prstGeom>
          <a:noFill/>
          <a:ln/>
        </p:spPr>
        <p:txBody>
          <a:bodyPr wrap="square" lIns="0" tIns="0" rIns="0" bIns="0" rtlCol="0" anchor="ctr"/>
          <a:lstStyle/>
          <a:p>
            <a:pPr indent="0" marL="0">
              <a:buNone/>
            </a:pPr>
            <a:r>
              <a:rPr lang="en-US" sz="1800" b="1" dirty="0">
                <a:solidFill>
                  <a:srgbClr val="1B1F2A"/>
                </a:solidFill>
                <a:latin typeface="Cambria" pitchFamily="34" charset="0"/>
                <a:ea typeface="Cambria" pitchFamily="34" charset="-122"/>
                <a:cs typeface="Cambria" pitchFamily="34" charset="-120"/>
              </a:rPr>
              <a:t>Synthetic benchmark</a:t>
            </a:r>
            <a:endParaRPr lang="en-US" sz="1800" dirty="0"/>
          </a:p>
        </p:txBody>
      </p:sp>
      <p:sp>
        <p:nvSpPr>
          <p:cNvPr id="8" name="Text 4"/>
          <p:cNvSpPr txBox="1"/>
          <p:nvPr/>
        </p:nvSpPr>
        <p:spPr>
          <a:xfrm>
            <a:off x="548640" y="4160520"/>
            <a:ext cx="5486400" cy="1645920"/>
          </a:xfrm>
          <a:prstGeom prst="rect">
            <a:avLst/>
          </a:prstGeom>
          <a:noFill/>
          <a:ln/>
        </p:spPr>
        <p:txBody>
          <a:bodyPr wrap="square" lIns="0" tIns="0" rIns="0" bIns="0" rtlCol="0" anchor="t"/>
          <a:lstStyle/>
          <a:p>
            <a:pPr marL="342900" indent="-342900">
              <a:spcAft>
                <a:spcPts val="900"/>
              </a:spcAft>
              <a:buSzPct val="100000"/>
              <a:buChar char="•"/>
            </a:pPr>
            <a:r>
              <a:rPr lang="en-US" sz="1400" dirty="0">
                <a:solidFill>
                  <a:srgbClr val="1B1F2A"/>
                </a:solidFill>
                <a:latin typeface="Calibri" pitchFamily="34" charset="0"/>
                <a:ea typeface="Calibri" pitchFamily="34" charset="-122"/>
                <a:cs typeface="Calibri" pitchFamily="34" charset="-120"/>
              </a:rPr>
              <a:t>600 train / 300 test images, 1–5 objects each (915 test objects)</a:t>
            </a:r>
            <a:endParaRPr lang="en-US" sz="1400" dirty="0"/>
          </a:p>
          <a:p>
            <a:pPr marL="342900" indent="-342900">
              <a:spcAft>
                <a:spcPts val="900"/>
              </a:spcAft>
              <a:buSzPct val="100000"/>
              <a:buChar char="•"/>
            </a:pPr>
            <a:r>
              <a:rPr lang="en-US" sz="1400" dirty="0">
                <a:solidFill>
                  <a:srgbClr val="1B1F2A"/>
                </a:solidFill>
                <a:latin typeface="Calibri" pitchFamily="34" charset="0"/>
                <a:ea typeface="Calibri" pitchFamily="34" charset="-122"/>
                <a:cs typeface="Calibri" pitchFamily="34" charset="-120"/>
              </a:rPr>
              <a:t>Textured / smooth backgrounds + random clutter lines (edges that are not objects), shading, noise, blur</a:t>
            </a:r>
            <a:endParaRPr lang="en-US" sz="1400" dirty="0"/>
          </a:p>
        </p:txBody>
      </p:sp>
      <p:sp>
        <p:nvSpPr>
          <p:cNvPr id="9" name="Text 5"/>
          <p:cNvSpPr txBox="1"/>
          <p:nvPr/>
        </p:nvSpPr>
        <p:spPr>
          <a:xfrm>
            <a:off x="6217920" y="3749040"/>
            <a:ext cx="5486400" cy="365760"/>
          </a:xfrm>
          <a:prstGeom prst="rect">
            <a:avLst/>
          </a:prstGeom>
          <a:noFill/>
          <a:ln/>
        </p:spPr>
        <p:txBody>
          <a:bodyPr wrap="square" lIns="0" tIns="0" rIns="0" bIns="0" rtlCol="0" anchor="ctr"/>
          <a:lstStyle/>
          <a:p>
            <a:pPr indent="0" marL="0">
              <a:buNone/>
            </a:pPr>
            <a:r>
              <a:rPr lang="en-US" sz="1800" b="1" dirty="0">
                <a:solidFill>
                  <a:srgbClr val="1B1F2A"/>
                </a:solidFill>
                <a:latin typeface="Cambria" pitchFamily="34" charset="0"/>
                <a:ea typeface="Cambria" pitchFamily="34" charset="-122"/>
                <a:cs typeface="Cambria" pitchFamily="34" charset="-120"/>
              </a:rPr>
              <a:t>Real photographs</a:t>
            </a:r>
            <a:endParaRPr lang="en-US" sz="1800" dirty="0"/>
          </a:p>
        </p:txBody>
      </p:sp>
      <p:sp>
        <p:nvSpPr>
          <p:cNvPr id="10" name="Text 6"/>
          <p:cNvSpPr txBox="1"/>
          <p:nvPr/>
        </p:nvSpPr>
        <p:spPr>
          <a:xfrm>
            <a:off x="6217920" y="4160520"/>
            <a:ext cx="5486400" cy="1645920"/>
          </a:xfrm>
          <a:prstGeom prst="rect">
            <a:avLst/>
          </a:prstGeom>
          <a:noFill/>
          <a:ln/>
        </p:spPr>
        <p:txBody>
          <a:bodyPr wrap="square" lIns="0" tIns="0" rIns="0" bIns="0" rtlCol="0" anchor="t"/>
          <a:lstStyle/>
          <a:p>
            <a:pPr marL="342900" indent="-342900">
              <a:spcAft>
                <a:spcPts val="900"/>
              </a:spcAft>
              <a:buSzPct val="100000"/>
              <a:buChar char="•"/>
            </a:pPr>
            <a:r>
              <a:rPr lang="en-US" sz="1400" dirty="0">
                <a:solidFill>
                  <a:srgbClr val="1B1F2A"/>
                </a:solidFill>
                <a:latin typeface="Calibri" pitchFamily="34" charset="0"/>
                <a:ea typeface="Calibri" pitchFamily="34" charset="-122"/>
                <a:cs typeface="Calibri" pitchFamily="34" charset="-120"/>
              </a:rPr>
              <a:t>10 unseen natural images, 58 hand-labelled boxes (people, cup, coins, motorcycle, pagoda …)</a:t>
            </a:r>
            <a:endParaRPr lang="en-US" sz="1400" dirty="0"/>
          </a:p>
          <a:p>
            <a:pPr marL="342900" indent="-342900">
              <a:spcAft>
                <a:spcPts val="900"/>
              </a:spcAft>
              <a:buSzPct val="100000"/>
              <a:buChar char="•"/>
            </a:pPr>
            <a:r>
              <a:rPr lang="en-US" sz="1400" dirty="0">
                <a:solidFill>
                  <a:srgbClr val="1B1F2A"/>
                </a:solidFill>
                <a:latin typeface="Calibri" pitchFamily="34" charset="0"/>
                <a:ea typeface="Calibri" pitchFamily="34" charset="-122"/>
                <a:cs typeface="Calibri" pitchFamily="34" charset="-120"/>
              </a:rPr>
              <a:t>Model trained only on synthetic data → tests generalisation of the ‘closed boundary’ cue</a:t>
            </a:r>
            <a:endParaRPr lang="en-US" sz="1400" dirty="0"/>
          </a:p>
        </p:txBody>
      </p:sp>
      <p:sp>
        <p:nvSpPr>
          <p:cNvPr id="11" name="Text 7"/>
          <p:cNvSpPr txBox="1"/>
          <p:nvPr/>
        </p:nvSpPr>
        <p:spPr>
          <a:xfrm>
            <a:off x="548640" y="5897880"/>
            <a:ext cx="11155680" cy="457200"/>
          </a:xfrm>
          <a:prstGeom prst="rect">
            <a:avLst/>
          </a:prstGeom>
          <a:noFill/>
          <a:ln/>
        </p:spPr>
        <p:txBody>
          <a:bodyPr wrap="square" lIns="0" tIns="0" rIns="0" bIns="0" rtlCol="0" anchor="ctr"/>
          <a:lstStyle/>
          <a:p>
            <a:pPr indent="0" marL="0">
              <a:buNone/>
            </a:pPr>
            <a:r>
              <a:rPr lang="en-US" sz="1250" i="1" dirty="0">
                <a:solidFill>
                  <a:srgbClr val="5B6270"/>
                </a:solidFill>
                <a:latin typeface="Calibri" pitchFamily="34" charset="0"/>
                <a:ea typeface="Calibri" pitchFamily="34" charset="-122"/>
                <a:cs typeface="Calibri" pitchFamily="34" charset="-120"/>
              </a:rPr>
              <a:t>Metrics: detection rate (DR, IoU ≥ 0.5) vs number of proposals, MABO, AUC, runtime. A VOC 2007 loader is included for the paper's full protocol.</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E8772E"/>
                </a:solidFill>
                <a:latin typeface="Calibri" pitchFamily="34" charset="0"/>
                <a:ea typeface="Calibri" pitchFamily="34" charset="-122"/>
                <a:cs typeface="Calibri" pitchFamily="34" charset="-120"/>
              </a:rPr>
              <a:t>RESULTS · SYNTHETIC TEST SET</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indent="0" marL="0">
              <a:buNone/>
            </a:pPr>
            <a:r>
              <a:rPr lang="en-US" sz="3200" b="1" dirty="0">
                <a:solidFill>
                  <a:srgbClr val="1B1F2A"/>
                </a:solidFill>
                <a:latin typeface="Cambria" pitchFamily="34" charset="0"/>
                <a:ea typeface="Cambria" pitchFamily="34" charset="-122"/>
                <a:cs typeface="Cambria" pitchFamily="34" charset="-120"/>
              </a:rPr>
              <a:t>Recall vs number of proposals</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B6270"/>
                </a:solidFill>
                <a:latin typeface="Calibri" pitchFamily="34" charset="0"/>
                <a:ea typeface="Calibri" pitchFamily="34" charset="-122"/>
                <a:cs typeface="Calibri" pitchFamily="34" charset="-120"/>
              </a:rPr>
              <a:t>9</a:t>
            </a:r>
            <a:endParaRPr lang="en-US" sz="1000" dirty="0"/>
          </a:p>
        </p:txBody>
      </p:sp>
      <p:pic>
        <p:nvPicPr>
          <p:cNvPr id="5" name="Image 0" descr="/home/user/cvprojectg10/results/figures/dr_synthetic.png">    </p:cNvPr>
          <p:cNvPicPr>
            <a:picLocks noChangeAspect="1"/>
          </p:cNvPicPr>
          <p:nvPr/>
        </p:nvPicPr>
        <p:blipFill>
          <a:blip r:embed="rId1"/>
          <a:srcRect l="0" r="0" t="0" b="0"/>
          <a:stretch/>
        </p:blipFill>
        <p:spPr>
          <a:xfrm>
            <a:off x="457200" y="1371600"/>
            <a:ext cx="6949440" cy="4572000"/>
          </a:xfrm>
          <a:prstGeom prst="rect">
            <a:avLst/>
          </a:prstGeom>
        </p:spPr>
      </p:pic>
      <p:sp>
        <p:nvSpPr>
          <p:cNvPr id="6" name="Text 3"/>
          <p:cNvSpPr txBox="1"/>
          <p:nvPr/>
        </p:nvSpPr>
        <p:spPr>
          <a:xfrm>
            <a:off x="7863840" y="1554480"/>
            <a:ext cx="3840480" cy="822960"/>
          </a:xfrm>
          <a:prstGeom prst="rect">
            <a:avLst/>
          </a:prstGeom>
          <a:noFill/>
          <a:ln/>
        </p:spPr>
        <p:txBody>
          <a:bodyPr wrap="square" lIns="0" tIns="0" rIns="0" bIns="0" rtlCol="0" anchor="ctr"/>
          <a:lstStyle/>
          <a:p>
            <a:pPr indent="0" marL="0">
              <a:buNone/>
            </a:pPr>
            <a:r>
              <a:rPr lang="en-US" sz="4400" b="1" dirty="0">
                <a:solidFill>
                  <a:srgbClr val="E8772E"/>
                </a:solidFill>
                <a:latin typeface="Cambria" pitchFamily="34" charset="0"/>
                <a:ea typeface="Cambria" pitchFamily="34" charset="-122"/>
                <a:cs typeface="Cambria" pitchFamily="34" charset="-120"/>
              </a:rPr>
              <a:t>95.1%</a:t>
            </a:r>
            <a:endParaRPr lang="en-US" sz="4400" dirty="0"/>
          </a:p>
        </p:txBody>
      </p:sp>
      <p:sp>
        <p:nvSpPr>
          <p:cNvPr id="7" name="Text 4"/>
          <p:cNvSpPr txBox="1"/>
          <p:nvPr/>
        </p:nvSpPr>
        <p:spPr>
          <a:xfrm>
            <a:off x="7863840" y="2377440"/>
            <a:ext cx="3840480" cy="548640"/>
          </a:xfrm>
          <a:prstGeom prst="rect">
            <a:avLst/>
          </a:prstGeom>
          <a:noFill/>
          <a:ln/>
        </p:spPr>
        <p:txBody>
          <a:bodyPr wrap="square" lIns="0" tIns="0" rIns="0" bIns="0" rtlCol="0" anchor="t"/>
          <a:lstStyle/>
          <a:p>
            <a:pPr indent="0" marL="0">
              <a:buNone/>
            </a:pPr>
            <a:r>
              <a:rPr lang="en-US" sz="1300" dirty="0">
                <a:solidFill>
                  <a:srgbClr val="5B6270"/>
                </a:solidFill>
                <a:latin typeface="Calibri" pitchFamily="34" charset="0"/>
                <a:ea typeface="Calibri" pitchFamily="34" charset="-122"/>
                <a:cs typeface="Calibri" pitchFamily="34" charset="-120"/>
              </a:rPr>
              <a:t>DR@1000 — BING (binary)</a:t>
            </a:r>
            <a:endParaRPr lang="en-US" sz="1300" dirty="0"/>
          </a:p>
        </p:txBody>
      </p:sp>
      <p:sp>
        <p:nvSpPr>
          <p:cNvPr id="8" name="Text 5"/>
          <p:cNvSpPr txBox="1"/>
          <p:nvPr/>
        </p:nvSpPr>
        <p:spPr>
          <a:xfrm>
            <a:off x="7863840" y="2971800"/>
            <a:ext cx="3840480" cy="822960"/>
          </a:xfrm>
          <a:prstGeom prst="rect">
            <a:avLst/>
          </a:prstGeom>
          <a:noFill/>
          <a:ln/>
        </p:spPr>
        <p:txBody>
          <a:bodyPr wrap="square" lIns="0" tIns="0" rIns="0" bIns="0" rtlCol="0" anchor="ctr"/>
          <a:lstStyle/>
          <a:p>
            <a:pPr indent="0" marL="0">
              <a:buNone/>
            </a:pPr>
            <a:r>
              <a:rPr lang="en-US" sz="4400" b="1" dirty="0">
                <a:solidFill>
                  <a:srgbClr val="1C7293"/>
                </a:solidFill>
                <a:latin typeface="Cambria" pitchFamily="34" charset="0"/>
                <a:ea typeface="Cambria" pitchFamily="34" charset="-122"/>
                <a:cs typeface="Cambria" pitchFamily="34" charset="-120"/>
              </a:rPr>
              <a:t>97.0%</a:t>
            </a:r>
            <a:endParaRPr lang="en-US" sz="4400" dirty="0"/>
          </a:p>
        </p:txBody>
      </p:sp>
      <p:sp>
        <p:nvSpPr>
          <p:cNvPr id="9" name="Text 6"/>
          <p:cNvSpPr txBox="1"/>
          <p:nvPr/>
        </p:nvSpPr>
        <p:spPr>
          <a:xfrm>
            <a:off x="7863840" y="3794760"/>
            <a:ext cx="3840480" cy="548640"/>
          </a:xfrm>
          <a:prstGeom prst="rect">
            <a:avLst/>
          </a:prstGeom>
          <a:noFill/>
          <a:ln/>
        </p:spPr>
        <p:txBody>
          <a:bodyPr wrap="square" lIns="0" tIns="0" rIns="0" bIns="0" rtlCol="0" anchor="t"/>
          <a:lstStyle/>
          <a:p>
            <a:pPr indent="0" marL="0">
              <a:buNone/>
            </a:pPr>
            <a:r>
              <a:rPr lang="en-US" sz="1300" dirty="0">
                <a:solidFill>
                  <a:srgbClr val="5B6270"/>
                </a:solidFill>
                <a:latin typeface="Calibri" pitchFamily="34" charset="0"/>
                <a:ea typeface="Calibri" pitchFamily="34" charset="-122"/>
                <a:cs typeface="Calibri" pitchFamily="34" charset="-120"/>
              </a:rPr>
              <a:t>DR@1000 — BING-Diversified (RGB + HSV + Gray)</a:t>
            </a:r>
            <a:endParaRPr lang="en-US" sz="1300" dirty="0"/>
          </a:p>
        </p:txBody>
      </p:sp>
      <p:sp>
        <p:nvSpPr>
          <p:cNvPr id="10" name="Text 7"/>
          <p:cNvSpPr txBox="1"/>
          <p:nvPr/>
        </p:nvSpPr>
        <p:spPr>
          <a:xfrm>
            <a:off x="7863840" y="4389120"/>
            <a:ext cx="3840480" cy="822960"/>
          </a:xfrm>
          <a:prstGeom prst="rect">
            <a:avLst/>
          </a:prstGeom>
          <a:noFill/>
          <a:ln/>
        </p:spPr>
        <p:txBody>
          <a:bodyPr wrap="square" lIns="0" tIns="0" rIns="0" bIns="0" rtlCol="0" anchor="ctr"/>
          <a:lstStyle/>
          <a:p>
            <a:pPr indent="0" marL="0">
              <a:buNone/>
            </a:pPr>
            <a:r>
              <a:rPr lang="en-US" sz="4400" b="1" dirty="0">
                <a:solidFill>
                  <a:srgbClr val="5B6270"/>
                </a:solidFill>
                <a:latin typeface="Cambria" pitchFamily="34" charset="0"/>
                <a:ea typeface="Cambria" pitchFamily="34" charset="-122"/>
                <a:cs typeface="Cambria" pitchFamily="34" charset="-120"/>
              </a:rPr>
              <a:t>53.6%</a:t>
            </a:r>
            <a:endParaRPr lang="en-US" sz="4400" dirty="0"/>
          </a:p>
        </p:txBody>
      </p:sp>
      <p:sp>
        <p:nvSpPr>
          <p:cNvPr id="11" name="Text 8"/>
          <p:cNvSpPr txBox="1"/>
          <p:nvPr/>
        </p:nvSpPr>
        <p:spPr>
          <a:xfrm>
            <a:off x="7863840" y="5212080"/>
            <a:ext cx="3840480" cy="548640"/>
          </a:xfrm>
          <a:prstGeom prst="rect">
            <a:avLst/>
          </a:prstGeom>
          <a:noFill/>
          <a:ln/>
        </p:spPr>
        <p:txBody>
          <a:bodyPr wrap="square" lIns="0" tIns="0" rIns="0" bIns="0" rtlCol="0" anchor="t"/>
          <a:lstStyle/>
          <a:p>
            <a:pPr indent="0" marL="0">
              <a:buNone/>
            </a:pPr>
            <a:r>
              <a:rPr lang="en-US" sz="1300" dirty="0">
                <a:solidFill>
                  <a:srgbClr val="5B6270"/>
                </a:solidFill>
                <a:latin typeface="Calibri" pitchFamily="34" charset="0"/>
                <a:ea typeface="Calibri" pitchFamily="34" charset="-122"/>
                <a:cs typeface="Calibri" pitchFamily="34" charset="-120"/>
              </a:rPr>
              <a:t>DR@1000 — random boxes (no objectness)</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E8772E"/>
                </a:solidFill>
                <a:latin typeface="Calibri" pitchFamily="34" charset="0"/>
                <a:ea typeface="Calibri" pitchFamily="34" charset="-122"/>
                <a:cs typeface="Calibri" pitchFamily="34" charset="-120"/>
              </a:rPr>
              <a:t>RESULTS · BASELINES</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indent="0" marL="0">
              <a:buNone/>
            </a:pPr>
            <a:r>
              <a:rPr lang="en-US" sz="3200" b="1" dirty="0">
                <a:solidFill>
                  <a:srgbClr val="1B1F2A"/>
                </a:solidFill>
                <a:latin typeface="Cambria" pitchFamily="34" charset="0"/>
                <a:ea typeface="Cambria" pitchFamily="34" charset="-122"/>
                <a:cs typeface="Cambria" pitchFamily="34" charset="-120"/>
              </a:rPr>
              <a:t>How does BING compare?</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B6270"/>
                </a:solidFill>
                <a:latin typeface="Calibri" pitchFamily="34" charset="0"/>
                <a:ea typeface="Calibri" pitchFamily="34" charset="-122"/>
                <a:cs typeface="Calibri" pitchFamily="34" charset="-120"/>
              </a:rPr>
              <a:t>10</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7498080" cy="914400"/>
        </p:xfrm>
        <a:graphic>
          <a:graphicData uri="http://schemas.openxmlformats.org/drawingml/2006/table">
            <a:tbl>
              <a:tblPr/>
              <a:tblGrid>
                <a:gridCol w="2286000"/>
                <a:gridCol w="960120"/>
                <a:gridCol w="1051560"/>
                <a:gridCol w="1234440"/>
                <a:gridCol w="868680"/>
                <a:gridCol w="1097280"/>
              </a:tblGrid>
              <a:tr h="43891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Method</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DR@100</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DR@1k</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MABO@1k</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AUC</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img/s †</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r>
              <a:tr h="438912">
                <a:tc>
                  <a:txBody>
                    <a:bodyPr/>
                    <a:lstStyle/>
                    <a:p>
                      <a:pPr algn="l" indent="0" marL="0">
                        <a:buNone/>
                      </a:pPr>
                      <a:r>
                        <a:rPr lang="en-US" sz="1300" b="1" dirty="0">
                          <a:solidFill>
                            <a:srgbClr val="1B1F2A"/>
                          </a:solidFill>
                          <a:latin typeface="Calibri" pitchFamily="34" charset="0"/>
                          <a:ea typeface="Calibri" pitchFamily="34" charset="-122"/>
                          <a:cs typeface="Calibri" pitchFamily="34" charset="-120"/>
                        </a:rPr>
                        <a:t>BING (binary)</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84.0%</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95.1%</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0.658</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0.825</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30.3</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r>
              <a:tr h="438912">
                <a:tc>
                  <a:txBody>
                    <a:bodyPr/>
                    <a:lstStyle/>
                    <a:p>
                      <a:pPr algn="l" indent="0" marL="0">
                        <a:buNone/>
                      </a:pPr>
                      <a:r>
                        <a:rPr lang="en-US" sz="1300" dirty="0">
                          <a:solidFill>
                            <a:srgbClr val="1B1F2A"/>
                          </a:solidFill>
                          <a:latin typeface="Calibri" pitchFamily="34" charset="0"/>
                          <a:ea typeface="Calibri" pitchFamily="34" charset="-122"/>
                          <a:cs typeface="Calibri" pitchFamily="34" charset="-120"/>
                        </a:rPr>
                        <a:t>BING (float w)</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82.7%</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94.6%</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0.658</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0.820</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62.2</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r>
              <a:tr h="438912">
                <a:tc>
                  <a:txBody>
                    <a:bodyPr/>
                    <a:lstStyle/>
                    <a:p>
                      <a:pPr algn="l" indent="0" marL="0">
                        <a:buNone/>
                      </a:pPr>
                      <a:r>
                        <a:rPr lang="en-US" sz="1300" dirty="0">
                          <a:solidFill>
                            <a:srgbClr val="1B1F2A"/>
                          </a:solidFill>
                          <a:latin typeface="Calibri" pitchFamily="34" charset="0"/>
                          <a:ea typeface="Calibri" pitchFamily="34" charset="-122"/>
                          <a:cs typeface="Calibri" pitchFamily="34" charset="-120"/>
                        </a:rPr>
                        <a:t>BING stage I only</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73.2%</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93.8%</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0.653</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0.758</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22.0</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r>
              <a:tr h="438912">
                <a:tc>
                  <a:txBody>
                    <a:bodyPr/>
                    <a:lstStyle/>
                    <a:p>
                      <a:pPr algn="l" indent="0" marL="0">
                        <a:buNone/>
                      </a:pPr>
                      <a:r>
                        <a:rPr lang="en-US" sz="1300" dirty="0">
                          <a:solidFill>
                            <a:srgbClr val="1B1F2A"/>
                          </a:solidFill>
                          <a:latin typeface="Calibri" pitchFamily="34" charset="0"/>
                          <a:ea typeface="Calibri" pitchFamily="34" charset="-122"/>
                          <a:cs typeface="Calibri" pitchFamily="34" charset="-120"/>
                        </a:rPr>
                        <a:t>BING-Diversified</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79.0%</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97.0%</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0.675</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0.808</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20.2</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r>
              <a:tr h="438912">
                <a:tc>
                  <a:txBody>
                    <a:bodyPr/>
                    <a:lstStyle/>
                    <a:p>
                      <a:pPr algn="l" indent="0" marL="0">
                        <a:buNone/>
                      </a:pPr>
                      <a:r>
                        <a:rPr lang="en-US" sz="1300" dirty="0">
                          <a:solidFill>
                            <a:srgbClr val="1B1F2A"/>
                          </a:solidFill>
                          <a:latin typeface="Calibri" pitchFamily="34" charset="0"/>
                          <a:ea typeface="Calibri" pitchFamily="34" charset="-122"/>
                          <a:cs typeface="Calibri" pitchFamily="34" charset="-120"/>
                        </a:rPr>
                        <a:t>Selective Search (fast) *</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86.9%</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96.3%</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0.885</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0.778</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1.5</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r>
              <a:tr h="438912">
                <a:tc>
                  <a:txBody>
                    <a:bodyPr/>
                    <a:lstStyle/>
                    <a:p>
                      <a:pPr algn="l" indent="0" marL="0">
                        <a:buNone/>
                      </a:pPr>
                      <a:r>
                        <a:rPr lang="en-US" sz="1300" dirty="0">
                          <a:solidFill>
                            <a:srgbClr val="1B1F2A"/>
                          </a:solidFill>
                          <a:latin typeface="Calibri" pitchFamily="34" charset="0"/>
                          <a:ea typeface="Calibri" pitchFamily="34" charset="-122"/>
                          <a:cs typeface="Calibri" pitchFamily="34" charset="-120"/>
                        </a:rPr>
                        <a:t>Random boxes</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26.3%</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53.6%</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0.518</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0.365</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r>
              <a:tr h="438912">
                <a:tc>
                  <a:txBody>
                    <a:bodyPr/>
                    <a:lstStyle/>
                    <a:p>
                      <a:pPr algn="l" indent="0" marL="0">
                        <a:buNone/>
                      </a:pPr>
                      <a:r>
                        <a:rPr lang="en-US" sz="1300" dirty="0">
                          <a:solidFill>
                            <a:srgbClr val="1B1F2A"/>
                          </a:solidFill>
                          <a:latin typeface="Calibri" pitchFamily="34" charset="0"/>
                          <a:ea typeface="Calibri" pitchFamily="34" charset="-122"/>
                          <a:cs typeface="Calibri" pitchFamily="34" charset="-120"/>
                        </a:rPr>
                        <a:t>Sliding windows</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0.8%</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7.0%</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0.314</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0.052</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10.7</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r>
            </a:tbl>
          </a:graphicData>
        </a:graphic>
      </p:graphicFrame>
      <p:sp>
        <p:nvSpPr>
          <p:cNvPr id="6" name="Text 3"/>
          <p:cNvSpPr txBox="1"/>
          <p:nvPr/>
        </p:nvSpPr>
        <p:spPr>
          <a:xfrm>
            <a:off x="548640" y="5257800"/>
            <a:ext cx="7315200" cy="731520"/>
          </a:xfrm>
          <a:prstGeom prst="rect">
            <a:avLst/>
          </a:prstGeom>
          <a:noFill/>
          <a:ln/>
        </p:spPr>
        <p:txBody>
          <a:bodyPr wrap="square" lIns="0" tIns="0" rIns="0" bIns="0" rtlCol="0" anchor="ctr"/>
          <a:lstStyle/>
          <a:p>
            <a:pPr indent="0" marL="0">
              <a:buNone/>
            </a:pPr>
            <a:r>
              <a:rPr lang="en-US" sz="1150" i="1" dirty="0">
                <a:solidFill>
                  <a:srgbClr val="5B6270"/>
                </a:solidFill>
                <a:latin typeface="Calibri" pitchFamily="34" charset="0"/>
                <a:ea typeface="Calibri" pitchFamily="34" charset="-122"/>
                <a:cs typeface="Calibri" pitchFamily="34" charset="-120"/>
              </a:rPr>
              <a:t>* Selective Search on 60 test images (it is ~40× slower); BING on the same subset: DR@1000 97.4%. † End-to-end timing during evaluation (default INTER_AREA resizing, Python overhead) — see the Speed slide for the controlled benchmark.</a:t>
            </a:r>
            <a:endParaRPr lang="en-US" sz="1150" dirty="0"/>
          </a:p>
        </p:txBody>
      </p:sp>
      <p:sp>
        <p:nvSpPr>
          <p:cNvPr id="7" name="Shape 4"/>
          <p:cNvSpPr/>
          <p:nvPr/>
        </p:nvSpPr>
        <p:spPr>
          <a:xfrm>
            <a:off x="8229600" y="1554480"/>
            <a:ext cx="3474720" cy="4389120"/>
          </a:xfrm>
          <a:prstGeom prst="roundRect">
            <a:avLst>
              <a:gd name="adj" fmla="val 3158"/>
            </a:avLst>
          </a:prstGeom>
          <a:solidFill>
            <a:srgbClr val="F1F4F7"/>
          </a:solidFill>
          <a:ln w="12700">
            <a:solidFill>
              <a:srgbClr val="F1F4F7"/>
            </a:solidFill>
            <a:prstDash val="solid"/>
          </a:ln>
        </p:spPr>
      </p:sp>
      <p:sp>
        <p:nvSpPr>
          <p:cNvPr id="8" name="Text 5"/>
          <p:cNvSpPr txBox="1"/>
          <p:nvPr/>
        </p:nvSpPr>
        <p:spPr>
          <a:xfrm>
            <a:off x="8458200" y="1783080"/>
            <a:ext cx="3063240" cy="4023360"/>
          </a:xfrm>
          <a:prstGeom prst="rect">
            <a:avLst/>
          </a:prstGeom>
          <a:noFill/>
          <a:ln/>
        </p:spPr>
        <p:txBody>
          <a:bodyPr wrap="square" lIns="0" tIns="0" rIns="0" bIns="0" rtlCol="0" anchor="t"/>
          <a:lstStyle/>
          <a:p>
            <a:pPr indent="0" marL="0">
              <a:spcAft>
                <a:spcPts val="600"/>
              </a:spcAft>
              <a:buNone/>
            </a:pPr>
            <a:r>
              <a:rPr lang="en-US" sz="1700" b="1" dirty="0">
                <a:solidFill>
                  <a:srgbClr val="1B1F2A"/>
                </a:solidFill>
                <a:latin typeface="Calibri" pitchFamily="34" charset="0"/>
                <a:ea typeface="Calibri" pitchFamily="34" charset="-122"/>
                <a:cs typeface="Calibri" pitchFamily="34" charset="-120"/>
              </a:rPr>
              <a:t>Take-aways</a:t>
            </a:r>
            <a:endParaRPr lang="en-US" sz="1350" dirty="0"/>
          </a:p>
          <a:p>
            <a:pPr marL="342900" indent="-342900">
              <a:spcAft>
                <a:spcPts val="600"/>
              </a:spcAft>
              <a:buSzPct val="100000"/>
              <a:buChar char="•"/>
            </a:pPr>
            <a:r>
              <a:rPr lang="en-US" sz="1350" dirty="0">
                <a:solidFill>
                  <a:srgbClr val="1B1F2A"/>
                </a:solidFill>
                <a:latin typeface="Calibri" pitchFamily="34" charset="0"/>
                <a:ea typeface="Calibri" pitchFamily="34" charset="-122"/>
                <a:cs typeface="Calibri" pitchFamily="34" charset="-120"/>
              </a:rPr>
              <a:t>Stage II calibration matters: +11 pts DR@100.</a:t>
            </a:r>
            <a:endParaRPr lang="en-US" sz="1350" dirty="0"/>
          </a:p>
          <a:p>
            <a:pPr marL="342900" indent="-342900">
              <a:spcAft>
                <a:spcPts val="600"/>
              </a:spcAft>
              <a:buSzPct val="100000"/>
              <a:buChar char="•"/>
            </a:pPr>
            <a:r>
              <a:rPr lang="en-US" sz="1350" dirty="0">
                <a:solidFill>
                  <a:srgbClr val="1B1F2A"/>
                </a:solidFill>
                <a:latin typeface="Calibri" pitchFamily="34" charset="0"/>
                <a:ea typeface="Calibri" pitchFamily="34" charset="-122"/>
                <a:cs typeface="Calibri" pitchFamily="34" charset="-120"/>
              </a:rPr>
              <a:t>Binary ≈ float accuracy.</a:t>
            </a:r>
            <a:endParaRPr lang="en-US" sz="1350" dirty="0"/>
          </a:p>
          <a:p>
            <a:pPr marL="342900" indent="-342900">
              <a:spcAft>
                <a:spcPts val="600"/>
              </a:spcAft>
              <a:buSzPct val="100000"/>
              <a:buChar char="•"/>
            </a:pPr>
            <a:r>
              <a:rPr lang="en-US" sz="1350" dirty="0">
                <a:solidFill>
                  <a:srgbClr val="1B1F2A"/>
                </a:solidFill>
                <a:latin typeface="Calibri" pitchFamily="34" charset="0"/>
                <a:ea typeface="Calibri" pitchFamily="34" charset="-122"/>
                <a:cs typeface="Calibri" pitchFamily="34" charset="-120"/>
              </a:rPr>
              <a:t>Selective Search localises tighter (higher MABO) but is 40× slower.</a:t>
            </a:r>
            <a:endParaRPr lang="en-US" sz="1350" dirty="0"/>
          </a:p>
          <a:p>
            <a:pPr marL="342900" indent="-342900">
              <a:spcAft>
                <a:spcPts val="600"/>
              </a:spcAft>
              <a:buSzPct val="100000"/>
              <a:buChar char="•"/>
            </a:pPr>
            <a:r>
              <a:rPr lang="en-US" sz="1350" dirty="0">
                <a:solidFill>
                  <a:srgbClr val="1B1F2A"/>
                </a:solidFill>
                <a:latin typeface="Calibri" pitchFamily="34" charset="0"/>
                <a:ea typeface="Calibri" pitchFamily="34" charset="-122"/>
                <a:cs typeface="Calibri" pitchFamily="34" charset="-120"/>
              </a:rPr>
              <a:t>Exactly the trade-off the paper reports: BING is excellent at IoU 0.5, weaker at high IoU.</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E8772E"/>
                </a:solidFill>
                <a:latin typeface="Calibri" pitchFamily="34" charset="0"/>
                <a:ea typeface="Calibri" pitchFamily="34" charset="-122"/>
                <a:cs typeface="Calibri" pitchFamily="34" charset="-120"/>
              </a:rPr>
              <a:t>RESULTS · REAL IMAGES</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indent="0" marL="0">
              <a:buNone/>
            </a:pPr>
            <a:r>
              <a:rPr lang="en-US" sz="3200" b="1" dirty="0">
                <a:solidFill>
                  <a:srgbClr val="1B1F2A"/>
                </a:solidFill>
                <a:latin typeface="Cambria" pitchFamily="34" charset="0"/>
                <a:ea typeface="Cambria" pitchFamily="34" charset="-122"/>
                <a:cs typeface="Cambria" pitchFamily="34" charset="-120"/>
              </a:rPr>
              <a:t>Generalisation to real photographs</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B6270"/>
                </a:solidFill>
                <a:latin typeface="Calibri" pitchFamily="34" charset="0"/>
                <a:ea typeface="Calibri" pitchFamily="34" charset="-122"/>
                <a:cs typeface="Calibri" pitchFamily="34" charset="-120"/>
              </a:rPr>
              <a:t>11</a:t>
            </a:r>
            <a:endParaRPr lang="en-US" sz="1000" dirty="0"/>
          </a:p>
        </p:txBody>
      </p:sp>
      <p:pic>
        <p:nvPicPr>
          <p:cNvPr id="5" name="Image 0" descr="/home/user/cvprojectg10/results/figures/dr_real.png">    </p:cNvPr>
          <p:cNvPicPr>
            <a:picLocks noChangeAspect="1"/>
          </p:cNvPicPr>
          <p:nvPr/>
        </p:nvPicPr>
        <p:blipFill>
          <a:blip r:embed="rId1"/>
          <a:srcRect l="0" r="0" t="0" b="0"/>
          <a:stretch/>
        </p:blipFill>
        <p:spPr>
          <a:xfrm>
            <a:off x="457200" y="1371600"/>
            <a:ext cx="5669280" cy="3749040"/>
          </a:xfrm>
          <a:prstGeom prst="rect">
            <a:avLst/>
          </a:prstGeom>
        </p:spPr>
      </p:pic>
      <p:pic>
        <p:nvPicPr>
          <p:cNvPr id="6" name="Image 1" descr="/home/user/cvprojectg10/results/figures/found_real.png">    </p:cNvPr>
          <p:cNvPicPr>
            <a:picLocks noChangeAspect="1"/>
          </p:cNvPicPr>
          <p:nvPr/>
        </p:nvPicPr>
        <p:blipFill>
          <a:blip r:embed="rId2"/>
          <a:srcRect l="0" r="0" t="0" b="0"/>
          <a:stretch/>
        </p:blipFill>
        <p:spPr>
          <a:xfrm>
            <a:off x="6309360" y="1371600"/>
            <a:ext cx="5486400" cy="4754880"/>
          </a:xfrm>
          <a:prstGeom prst="rect">
            <a:avLst/>
          </a:prstGeom>
        </p:spPr>
      </p:pic>
      <p:sp>
        <p:nvSpPr>
          <p:cNvPr id="7" name="Text 3"/>
          <p:cNvSpPr txBox="1"/>
          <p:nvPr/>
        </p:nvSpPr>
        <p:spPr>
          <a:xfrm>
            <a:off x="548640" y="5257800"/>
            <a:ext cx="5577840" cy="1097280"/>
          </a:xfrm>
          <a:prstGeom prst="rect">
            <a:avLst/>
          </a:prstGeom>
          <a:noFill/>
          <a:ln/>
        </p:spPr>
        <p:txBody>
          <a:bodyPr wrap="square" lIns="0" tIns="0" rIns="0" bIns="0" rtlCol="0" anchor="t"/>
          <a:lstStyle/>
          <a:p>
            <a:pPr indent="0" marL="0">
              <a:buNone/>
            </a:pPr>
            <a:r>
              <a:rPr lang="en-US" sz="1250" dirty="0">
                <a:solidFill>
                  <a:srgbClr val="5B6270"/>
                </a:solidFill>
                <a:latin typeface="Calibri" pitchFamily="34" charset="0"/>
                <a:ea typeface="Calibri" pitchFamily="34" charset="-122"/>
                <a:cs typeface="Calibri" pitchFamily="34" charset="-120"/>
              </a:rPr>
              <a:t>Trained only on synthetic scenes, BING recovers 86.2% of 58 real objects in its top 1000 proposals (Diversified: 91.4%; random: 48.3%). Right: best proposal per object among the top 1000 — green = found (IoU ≥ 0.5), red = missed.</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E8772E"/>
                </a:solidFill>
                <a:latin typeface="Calibri" pitchFamily="34" charset="0"/>
                <a:ea typeface="Calibri" pitchFamily="34" charset="-122"/>
                <a:cs typeface="Calibri" pitchFamily="34" charset="-120"/>
              </a:rPr>
              <a:t>VISUALISING OBJECTNESS</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indent="0" marL="0">
              <a:buNone/>
            </a:pPr>
            <a:r>
              <a:rPr lang="en-US" sz="3200" b="1" dirty="0">
                <a:solidFill>
                  <a:srgbClr val="1B1F2A"/>
                </a:solidFill>
                <a:latin typeface="Cambria" pitchFamily="34" charset="0"/>
                <a:ea typeface="Cambria" pitchFamily="34" charset="-122"/>
                <a:cs typeface="Cambria" pitchFamily="34" charset="-120"/>
              </a:rPr>
              <a:t>What BING looks at</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B6270"/>
                </a:solidFill>
                <a:latin typeface="Calibri" pitchFamily="34" charset="0"/>
                <a:ea typeface="Calibri" pitchFamily="34" charset="-122"/>
                <a:cs typeface="Calibri" pitchFamily="34" charset="-120"/>
              </a:rPr>
              <a:t>12</a:t>
            </a:r>
            <a:endParaRPr lang="en-US" sz="1000" dirty="0"/>
          </a:p>
        </p:txBody>
      </p:sp>
      <p:pic>
        <p:nvPicPr>
          <p:cNvPr id="5" name="Image 0" descr="/home/user/cvprojectg10/results/figures/top8_real.png">    </p:cNvPr>
          <p:cNvPicPr>
            <a:picLocks noChangeAspect="1"/>
          </p:cNvPicPr>
          <p:nvPr/>
        </p:nvPicPr>
        <p:blipFill>
          <a:blip r:embed="rId1"/>
          <a:srcRect l="0" r="0" t="0" b="0"/>
          <a:stretch/>
        </p:blipFill>
        <p:spPr>
          <a:xfrm>
            <a:off x="457200" y="1371600"/>
            <a:ext cx="6400800" cy="4937760"/>
          </a:xfrm>
          <a:prstGeom prst="rect">
            <a:avLst/>
          </a:prstGeom>
        </p:spPr>
      </p:pic>
      <p:pic>
        <p:nvPicPr>
          <p:cNvPr id="6" name="Image 1" descr="/home/user/cvprojectg10/results/figures/heatmaps_real.png">    </p:cNvPr>
          <p:cNvPicPr>
            <a:picLocks noChangeAspect="1"/>
          </p:cNvPicPr>
          <p:nvPr/>
        </p:nvPicPr>
        <p:blipFill>
          <a:blip r:embed="rId2"/>
          <a:srcRect l="0" r="0" t="0" b="0"/>
          <a:stretch/>
        </p:blipFill>
        <p:spPr>
          <a:xfrm>
            <a:off x="7040880" y="1463040"/>
            <a:ext cx="4754880" cy="3566160"/>
          </a:xfrm>
          <a:prstGeom prst="rect">
            <a:avLst/>
          </a:prstGeom>
        </p:spPr>
      </p:pic>
      <p:sp>
        <p:nvSpPr>
          <p:cNvPr id="7" name="Text 3"/>
          <p:cNvSpPr txBox="1"/>
          <p:nvPr/>
        </p:nvSpPr>
        <p:spPr>
          <a:xfrm>
            <a:off x="7040880" y="5120640"/>
            <a:ext cx="4663440" cy="1188720"/>
          </a:xfrm>
          <a:prstGeom prst="rect">
            <a:avLst/>
          </a:prstGeom>
          <a:noFill/>
          <a:ln/>
        </p:spPr>
        <p:txBody>
          <a:bodyPr wrap="square" lIns="0" tIns="0" rIns="0" bIns="0" rtlCol="0" anchor="t"/>
          <a:lstStyle/>
          <a:p>
            <a:pPr indent="0" marL="0">
              <a:buNone/>
            </a:pPr>
            <a:r>
              <a:rPr lang="en-US" sz="1250" dirty="0">
                <a:solidFill>
                  <a:srgbClr val="5B6270"/>
                </a:solidFill>
                <a:latin typeface="Calibri" pitchFamily="34" charset="0"/>
                <a:ea typeface="Calibri" pitchFamily="34" charset="-122"/>
                <a:cs typeface="Calibri" pitchFamily="34" charset="-120"/>
              </a:rPr>
              <a:t>Left: the 8 highest-ranked proposals. Right: objectness heat-map (sum of the top 2000 proposal scores per pixel) — mass concentrates on the cup, the pagoda, the flower and the person rather than on texture.</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E8772E"/>
                </a:solidFill>
                <a:latin typeface="Calibri" pitchFamily="34" charset="0"/>
                <a:ea typeface="Calibri" pitchFamily="34" charset="-122"/>
                <a:cs typeface="Calibri" pitchFamily="34" charset="-120"/>
              </a:rPr>
              <a:t>COMPUTATIONAL EFFICIENCY</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indent="0" marL="0">
              <a:buNone/>
            </a:pPr>
            <a:r>
              <a:rPr lang="en-US" sz="3200" b="1" dirty="0">
                <a:solidFill>
                  <a:srgbClr val="1B1F2A"/>
                </a:solidFill>
                <a:latin typeface="Cambria" pitchFamily="34" charset="0"/>
                <a:ea typeface="Cambria" pitchFamily="34" charset="-122"/>
                <a:cs typeface="Cambria" pitchFamily="34" charset="-120"/>
              </a:rPr>
              <a:t>Speed</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B6270"/>
                </a:solidFill>
                <a:latin typeface="Calibri" pitchFamily="34" charset="0"/>
                <a:ea typeface="Calibri" pitchFamily="34" charset="-122"/>
                <a:cs typeface="Calibri" pitchFamily="34" charset="-120"/>
              </a:rPr>
              <a:t>13</a:t>
            </a:r>
            <a:endParaRPr lang="en-US" sz="1000" dirty="0"/>
          </a:p>
        </p:txBody>
      </p:sp>
      <p:pic>
        <p:nvPicPr>
          <p:cNvPr id="5" name="Image 0" descr="/home/user/cvprojectg10/results/figures/speed.png">    </p:cNvPr>
          <p:cNvPicPr>
            <a:picLocks noChangeAspect="1"/>
          </p:cNvPicPr>
          <p:nvPr/>
        </p:nvPicPr>
        <p:blipFill>
          <a:blip r:embed="rId1"/>
          <a:srcRect l="0" r="0" t="0" b="0"/>
          <a:stretch/>
        </p:blipFill>
        <p:spPr>
          <a:xfrm>
            <a:off x="457200" y="1371600"/>
            <a:ext cx="6583680" cy="3749040"/>
          </a:xfrm>
          <a:prstGeom prst="rect">
            <a:avLst/>
          </a:prstGeom>
        </p:spPr>
      </p:pic>
      <p:pic>
        <p:nvPicPr>
          <p:cNvPr id="6" name="Image 1" descr="/home/user/cvprojectg10/results/figures/stage_time.png">    </p:cNvPr>
          <p:cNvPicPr>
            <a:picLocks noChangeAspect="1"/>
          </p:cNvPicPr>
          <p:nvPr/>
        </p:nvPicPr>
        <p:blipFill>
          <a:blip r:embed="rId2"/>
          <a:srcRect l="0" r="0" t="0" b="0"/>
          <a:stretch/>
        </p:blipFill>
        <p:spPr>
          <a:xfrm>
            <a:off x="7223760" y="1417320"/>
            <a:ext cx="4480560" cy="1828800"/>
          </a:xfrm>
          <a:prstGeom prst="rect">
            <a:avLst/>
          </a:prstGeom>
        </p:spPr>
      </p:pic>
      <p:sp>
        <p:nvSpPr>
          <p:cNvPr id="7" name="Text 3"/>
          <p:cNvSpPr txBox="1"/>
          <p:nvPr/>
        </p:nvSpPr>
        <p:spPr>
          <a:xfrm>
            <a:off x="7223760" y="3474720"/>
            <a:ext cx="4480560" cy="2743200"/>
          </a:xfrm>
          <a:prstGeom prst="rect">
            <a:avLst/>
          </a:prstGeom>
          <a:noFill/>
          <a:ln/>
        </p:spPr>
        <p:txBody>
          <a:bodyPr wrap="square" lIns="0" tIns="0" rIns="0" bIns="0" rtlCol="0" anchor="t"/>
          <a:lstStyle/>
          <a:p>
            <a:pPr marL="342900" indent="-342900">
              <a:spcAft>
                <a:spcPts val="900"/>
              </a:spcAft>
              <a:buSzPct val="100000"/>
              <a:buChar char="•"/>
            </a:pPr>
            <a:r>
              <a:rPr lang="en-US" sz="1350" dirty="0">
                <a:solidFill>
                  <a:srgbClr val="1B1F2A"/>
                </a:solidFill>
                <a:latin typeface="Calibri" pitchFamily="34" charset="0"/>
                <a:ea typeface="Calibri" pitchFamily="34" charset="-122"/>
                <a:cs typeface="Calibri" pitchFamily="34" charset="-120"/>
              </a:rPr>
              <a:t>Numba JIT of the bitwise kernel: 160 img/s vs 37 img/s in pure numpy.</a:t>
            </a:r>
            <a:endParaRPr lang="en-US" sz="1350" dirty="0"/>
          </a:p>
          <a:p>
            <a:pPr marL="342900" indent="-342900">
              <a:spcAft>
                <a:spcPts val="900"/>
              </a:spcAft>
              <a:buSzPct val="100000"/>
              <a:buChar char="•"/>
            </a:pPr>
            <a:r>
              <a:rPr lang="en-US" sz="1350" dirty="0">
                <a:solidFill>
                  <a:srgbClr val="1B1F2A"/>
                </a:solidFill>
                <a:latin typeface="Calibri" pitchFamily="34" charset="0"/>
                <a:ea typeface="Calibri" pitchFamily="34" charset="-122"/>
                <a:cs typeface="Calibri" pitchFamily="34" charset="-120"/>
              </a:rPr>
              <a:t>OpenCV's SIMD float correlation is still competitive in Python (188 img/s): the paper's 300 fps comes from hand-written C++ with SSE popcount.</a:t>
            </a:r>
            <a:endParaRPr lang="en-US" sz="1350" dirty="0"/>
          </a:p>
          <a:p>
            <a:pPr marL="342900" indent="-342900">
              <a:spcAft>
                <a:spcPts val="900"/>
              </a:spcAft>
              <a:buSzPct val="100000"/>
              <a:buChar char="•"/>
            </a:pPr>
            <a:r>
              <a:rPr lang="en-US" sz="1350" dirty="0">
                <a:solidFill>
                  <a:srgbClr val="1B1F2A"/>
                </a:solidFill>
                <a:latin typeface="Calibri" pitchFamily="34" charset="0"/>
                <a:ea typeface="Calibri" pitchFamily="34" charset="-122"/>
                <a:cs typeface="Calibri" pitchFamily="34" charset="-120"/>
              </a:rPr>
              <a:t>Per image, resizing dominates (12.9 ms with INTER_AREA) — scoring all windows with bit operations takes only 3.7 ms.</a:t>
            </a:r>
            <a:endParaRPr lang="en-US" sz="1350" dirty="0"/>
          </a:p>
          <a:p>
            <a:pPr marL="342900" indent="-342900">
              <a:spcAft>
                <a:spcPts val="900"/>
              </a:spcAft>
              <a:buSzPct val="100000"/>
              <a:buChar char="•"/>
            </a:pPr>
            <a:r>
              <a:rPr lang="en-US" sz="1350" dirty="0">
                <a:solidFill>
                  <a:srgbClr val="1B1F2A"/>
                </a:solidFill>
                <a:latin typeface="Calibri" pitchFamily="34" charset="0"/>
                <a:ea typeface="Calibri" pitchFamily="34" charset="-122"/>
                <a:cs typeface="Calibri" pitchFamily="34" charset="-120"/>
              </a:rPr>
              <a:t>Selective Search: ~1 img/s — BING is 1–2 orders of magnitude faster.</a:t>
            </a:r>
            <a:endParaRPr lang="en-US" sz="1350" dirty="0"/>
          </a:p>
        </p:txBody>
      </p:sp>
      <p:sp>
        <p:nvSpPr>
          <p:cNvPr id="8" name="Text 4"/>
          <p:cNvSpPr txBox="1"/>
          <p:nvPr/>
        </p:nvSpPr>
        <p:spPr>
          <a:xfrm>
            <a:off x="548640" y="5257800"/>
            <a:ext cx="6400800" cy="731520"/>
          </a:xfrm>
          <a:prstGeom prst="rect">
            <a:avLst/>
          </a:prstGeom>
          <a:noFill/>
          <a:ln/>
        </p:spPr>
        <p:txBody>
          <a:bodyPr wrap="square" lIns="0" tIns="0" rIns="0" bIns="0" rtlCol="0" anchor="ctr"/>
          <a:lstStyle/>
          <a:p>
            <a:pPr indent="0" marL="0">
              <a:buNone/>
            </a:pPr>
            <a:r>
              <a:rPr lang="en-US" sz="1200" i="1" dirty="0">
                <a:solidFill>
                  <a:srgbClr val="5B6270"/>
                </a:solidFill>
                <a:latin typeface="Calibri" pitchFamily="34" charset="0"/>
                <a:ea typeface="Calibri" pitchFamily="34" charset="-122"/>
                <a:cs typeface="Calibri" pitchFamily="34" charset="-120"/>
              </a:rPr>
              <a:t>Blue = binarized scoring, orange = float filter. INTER_AREA gives anti-aliased resizing; bilinear matches the original C++ and is ~2× faster.</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E8772E"/>
                </a:solidFill>
                <a:latin typeface="Calibri" pitchFamily="34" charset="0"/>
                <a:ea typeface="Calibri" pitchFamily="34" charset="-122"/>
                <a:cs typeface="Calibri" pitchFamily="34" charset="-120"/>
              </a:rPr>
              <a:t>CONTRIBUTIONS · ANALYSIS</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indent="0" marL="0">
              <a:buNone/>
            </a:pPr>
            <a:r>
              <a:rPr lang="en-US" sz="3200" b="1" dirty="0">
                <a:solidFill>
                  <a:srgbClr val="1B1F2A"/>
                </a:solidFill>
                <a:latin typeface="Cambria" pitchFamily="34" charset="0"/>
                <a:ea typeface="Cambria" pitchFamily="34" charset="-122"/>
                <a:cs typeface="Cambria" pitchFamily="34" charset="-120"/>
              </a:rPr>
              <a:t>Ablation studies</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B6270"/>
                </a:solidFill>
                <a:latin typeface="Calibri" pitchFamily="34" charset="0"/>
                <a:ea typeface="Calibri" pitchFamily="34" charset="-122"/>
                <a:cs typeface="Calibri" pitchFamily="34" charset="-120"/>
              </a:rPr>
              <a:t>14</a:t>
            </a:r>
            <a:endParaRPr lang="en-US" sz="1000" dirty="0"/>
          </a:p>
        </p:txBody>
      </p:sp>
      <p:pic>
        <p:nvPicPr>
          <p:cNvPr id="5" name="Image 0" descr="/home/user/cvprojectg10/results/figures/ablations.png">    </p:cNvPr>
          <p:cNvPicPr>
            <a:picLocks noChangeAspect="1"/>
          </p:cNvPicPr>
          <p:nvPr/>
        </p:nvPicPr>
        <p:blipFill>
          <a:blip r:embed="rId1"/>
          <a:srcRect l="0" r="0" t="0" b="0"/>
          <a:stretch/>
        </p:blipFill>
        <p:spPr>
          <a:xfrm>
            <a:off x="457200" y="1325880"/>
            <a:ext cx="7863840" cy="4206240"/>
          </a:xfrm>
          <a:prstGeom prst="rect">
            <a:avLst/>
          </a:prstGeom>
        </p:spPr>
      </p:pic>
      <p:sp>
        <p:nvSpPr>
          <p:cNvPr id="6" name="Text 3"/>
          <p:cNvSpPr txBox="1"/>
          <p:nvPr/>
        </p:nvSpPr>
        <p:spPr>
          <a:xfrm>
            <a:off x="8503920" y="1463040"/>
            <a:ext cx="3291840" cy="4846320"/>
          </a:xfrm>
          <a:prstGeom prst="rect">
            <a:avLst/>
          </a:prstGeom>
          <a:noFill/>
          <a:ln/>
        </p:spPr>
        <p:txBody>
          <a:bodyPr wrap="square" lIns="0" tIns="0" rIns="0" bIns="0" rtlCol="0" anchor="t"/>
          <a:lstStyle/>
          <a:p>
            <a:pPr marL="342900" indent="-342900">
              <a:spcAft>
                <a:spcPts val="900"/>
              </a:spcAft>
              <a:buSzPct val="100000"/>
              <a:buChar char="•"/>
            </a:pPr>
            <a:r>
              <a:rPr lang="en-US" sz="1250" b="1" dirty="0">
                <a:solidFill>
                  <a:srgbClr val="1B1F2A"/>
                </a:solidFill>
                <a:latin typeface="Calibri" pitchFamily="34" charset="0"/>
                <a:ea typeface="Calibri" pitchFamily="34" charset="-122"/>
                <a:cs typeface="Calibri" pitchFamily="34" charset="-120"/>
              </a:rPr>
              <a:t>Gradient representation: </a:t>
            </a:r>
            <a:pPr indent="0" marL="0">
              <a:buNone/>
            </a:pPr>
            <a:r>
              <a:rPr lang="en-US" sz="1250" dirty="0">
                <a:solidFill>
                  <a:srgbClr val="5B6270"/>
                </a:solidFill>
                <a:latin typeface="Calibri" pitchFamily="34" charset="0"/>
                <a:ea typeface="Calibri" pitchFamily="34" charset="-122"/>
                <a:cs typeface="Calibri" pitchFamily="34" charset="-120"/>
              </a:rPr>
              <a:t>[-1 0 1] 95.1% vs Sobel 95.1% — the simplest mask is enough.</a:t>
            </a:r>
            <a:endParaRPr lang="en-US" sz="1250" dirty="0"/>
          </a:p>
          <a:p>
            <a:pPr marL="342900" indent="-342900">
              <a:spcAft>
                <a:spcPts val="900"/>
              </a:spcAft>
              <a:buSzPct val="100000"/>
              <a:buChar char="•"/>
            </a:pPr>
            <a:r>
              <a:rPr lang="en-US" sz="1250" b="1" dirty="0">
                <a:solidFill>
                  <a:srgbClr val="1B1F2A"/>
                </a:solidFill>
                <a:latin typeface="Calibri" pitchFamily="34" charset="0"/>
                <a:ea typeface="Calibri" pitchFamily="34" charset="-122"/>
                <a:cs typeface="Calibri" pitchFamily="34" charset="-120"/>
              </a:rPr>
              <a:t>Colour space: </a:t>
            </a:r>
            <a:pPr indent="0" marL="0">
              <a:buNone/>
            </a:pPr>
            <a:r>
              <a:rPr lang="en-US" sz="1250" dirty="0">
                <a:solidFill>
                  <a:srgbClr val="5B6270"/>
                </a:solidFill>
                <a:latin typeface="Calibri" pitchFamily="34" charset="0"/>
                <a:ea typeface="Calibri" pitchFamily="34" charset="-122"/>
                <a:cs typeface="Calibri" pitchFamily="34" charset="-120"/>
              </a:rPr>
              <a:t>RGB 95.1%, HSV 94.1%, Lab 94.1%, Gray 89.3%; they are complementary (Diversified).</a:t>
            </a:r>
            <a:endParaRPr lang="en-US" sz="1250" dirty="0"/>
          </a:p>
          <a:p>
            <a:pPr marL="342900" indent="-342900">
              <a:spcAft>
                <a:spcPts val="900"/>
              </a:spcAft>
              <a:buSzPct val="100000"/>
              <a:buChar char="•"/>
            </a:pPr>
            <a:r>
              <a:rPr lang="en-US" sz="1250" b="1" dirty="0">
                <a:solidFill>
                  <a:srgbClr val="1B1F2A"/>
                </a:solidFill>
                <a:latin typeface="Calibri" pitchFamily="34" charset="0"/>
                <a:ea typeface="Calibri" pitchFamily="34" charset="-122"/>
                <a:cs typeface="Calibri" pitchFamily="34" charset="-120"/>
              </a:rPr>
              <a:t>Binarization: </a:t>
            </a:r>
            <a:pPr indent="0" marL="0">
              <a:buNone/>
            </a:pPr>
            <a:r>
              <a:rPr lang="en-US" sz="1250" dirty="0">
                <a:solidFill>
                  <a:srgbClr val="5B6270"/>
                </a:solidFill>
                <a:latin typeface="Calibri" pitchFamily="34" charset="0"/>
                <a:ea typeface="Calibri" pitchFamily="34" charset="-122"/>
                <a:cs typeface="Calibri" pitchFamily="34" charset="-120"/>
              </a:rPr>
              <a:t>Nw = 1 → 95.1%, Nw = 2 → 95.1%; Ng = 1 → 92.8%, Ng = 4 → 95.1%.</a:t>
            </a:r>
            <a:endParaRPr lang="en-US" sz="1250" dirty="0"/>
          </a:p>
          <a:p>
            <a:pPr marL="342900" indent="-342900">
              <a:spcAft>
                <a:spcPts val="900"/>
              </a:spcAft>
              <a:buSzPct val="100000"/>
              <a:buChar char="•"/>
            </a:pPr>
            <a:r>
              <a:rPr lang="en-US" sz="1250" b="1" dirty="0">
                <a:solidFill>
                  <a:srgbClr val="1B1F2A"/>
                </a:solidFill>
                <a:latin typeface="Calibri" pitchFamily="34" charset="0"/>
                <a:ea typeface="Calibri" pitchFamily="34" charset="-122"/>
                <a:cs typeface="Calibri" pitchFamily="34" charset="-120"/>
              </a:rPr>
              <a:t>Data: </a:t>
            </a:r>
            <a:pPr indent="0" marL="0">
              <a:buNone/>
            </a:pPr>
            <a:r>
              <a:rPr lang="en-US" sz="1250" dirty="0">
                <a:solidFill>
                  <a:srgbClr val="5B6270"/>
                </a:solidFill>
                <a:latin typeface="Calibri" pitchFamily="34" charset="0"/>
                <a:ea typeface="Calibri" pitchFamily="34" charset="-122"/>
                <a:cs typeface="Calibri" pitchFamily="34" charset="-120"/>
              </a:rPr>
              <a:t>only 10 training images already give 79.2% — 64 weights are easy to learn.</a:t>
            </a:r>
            <a:endParaRPr lang="en-US" sz="1250" dirty="0"/>
          </a:p>
        </p:txBody>
      </p:sp>
      <p:sp>
        <p:nvSpPr>
          <p:cNvPr id="7" name="Text 4"/>
          <p:cNvSpPr txBox="1"/>
          <p:nvPr/>
        </p:nvSpPr>
        <p:spPr>
          <a:xfrm>
            <a:off x="548640" y="5669280"/>
            <a:ext cx="7680960" cy="365760"/>
          </a:xfrm>
          <a:prstGeom prst="rect">
            <a:avLst/>
          </a:prstGeom>
          <a:noFill/>
          <a:ln/>
        </p:spPr>
        <p:txBody>
          <a:bodyPr wrap="square" lIns="0" tIns="0" rIns="0" bIns="0" rtlCol="0" anchor="ctr"/>
          <a:lstStyle/>
          <a:p>
            <a:pPr indent="0" marL="0">
              <a:buNone/>
            </a:pPr>
            <a:r>
              <a:rPr lang="en-US" sz="1200" i="1" dirty="0">
                <a:solidFill>
                  <a:srgbClr val="5B6270"/>
                </a:solidFill>
                <a:latin typeface="Calibri" pitchFamily="34" charset="0"/>
                <a:ea typeface="Calibri" pitchFamily="34" charset="-122"/>
                <a:cs typeface="Calibri" pitchFamily="34" charset="-120"/>
              </a:rPr>
              <a:t>All numbers: DR@1000 on the synthetic test set; bars also show DR@100.</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E8772E"/>
                </a:solidFill>
                <a:latin typeface="Calibri" pitchFamily="34" charset="0"/>
                <a:ea typeface="Calibri" pitchFamily="34" charset="-122"/>
                <a:cs typeface="Calibri" pitchFamily="34" charset="-120"/>
              </a:rPr>
              <a:t>CONTRIBUTIONS · ANALYSIS</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indent="0" marL="0">
              <a:buNone/>
            </a:pPr>
            <a:r>
              <a:rPr lang="en-US" sz="3200" b="1" dirty="0">
                <a:solidFill>
                  <a:srgbClr val="1B1F2A"/>
                </a:solidFill>
                <a:latin typeface="Cambria" pitchFamily="34" charset="0"/>
                <a:ea typeface="Cambria" pitchFamily="34" charset="-122"/>
                <a:cs typeface="Cambria" pitchFamily="34" charset="-120"/>
              </a:rPr>
              <a:t>Proposal quality vs localisation precision</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B6270"/>
                </a:solidFill>
                <a:latin typeface="Calibri" pitchFamily="34" charset="0"/>
                <a:ea typeface="Calibri" pitchFamily="34" charset="-122"/>
                <a:cs typeface="Calibri" pitchFamily="34" charset="-120"/>
              </a:rPr>
              <a:t>15</a:t>
            </a:r>
            <a:endParaRPr lang="en-US" sz="1000" dirty="0"/>
          </a:p>
        </p:txBody>
      </p:sp>
      <p:pic>
        <p:nvPicPr>
          <p:cNvPr id="5" name="Image 0" descr="/home/user/cvprojectg10/results/figures/recall_iou_synthetic.png">    </p:cNvPr>
          <p:cNvPicPr>
            <a:picLocks noChangeAspect="1"/>
          </p:cNvPicPr>
          <p:nvPr/>
        </p:nvPicPr>
        <p:blipFill>
          <a:blip r:embed="rId1"/>
          <a:srcRect l="0" r="0" t="0" b="0"/>
          <a:stretch/>
        </p:blipFill>
        <p:spPr>
          <a:xfrm>
            <a:off x="457200" y="1371600"/>
            <a:ext cx="5669280" cy="3840480"/>
          </a:xfrm>
          <a:prstGeom prst="rect">
            <a:avLst/>
          </a:prstGeom>
        </p:spPr>
      </p:pic>
      <p:pic>
        <p:nvPicPr>
          <p:cNvPr id="6" name="Image 1" descr="/home/user/cvprojectg10/results/figures/mabo_synthetic.png">    </p:cNvPr>
          <p:cNvPicPr>
            <a:picLocks noChangeAspect="1"/>
          </p:cNvPicPr>
          <p:nvPr/>
        </p:nvPicPr>
        <p:blipFill>
          <a:blip r:embed="rId2"/>
          <a:srcRect l="0" r="0" t="0" b="0"/>
          <a:stretch/>
        </p:blipFill>
        <p:spPr>
          <a:xfrm>
            <a:off x="6217920" y="1371600"/>
            <a:ext cx="5669280" cy="3840480"/>
          </a:xfrm>
          <a:prstGeom prst="rect">
            <a:avLst/>
          </a:prstGeom>
        </p:spPr>
      </p:pic>
      <p:sp>
        <p:nvSpPr>
          <p:cNvPr id="7" name="Text 3"/>
          <p:cNvSpPr txBox="1"/>
          <p:nvPr/>
        </p:nvSpPr>
        <p:spPr>
          <a:xfrm>
            <a:off x="548640" y="5349240"/>
            <a:ext cx="11155680" cy="914400"/>
          </a:xfrm>
          <a:prstGeom prst="rect">
            <a:avLst/>
          </a:prstGeom>
          <a:noFill/>
          <a:ln/>
        </p:spPr>
        <p:txBody>
          <a:bodyPr wrap="square" lIns="0" tIns="0" rIns="0" bIns="0" rtlCol="0" anchor="t"/>
          <a:lstStyle/>
          <a:p>
            <a:pPr indent="0" marL="0">
              <a:buNone/>
            </a:pPr>
            <a:r>
              <a:rPr lang="en-US" sz="1300" dirty="0">
                <a:solidFill>
                  <a:srgbClr val="5B6270"/>
                </a:solidFill>
                <a:latin typeface="Calibri" pitchFamily="34" charset="0"/>
                <a:ea typeface="Calibri" pitchFamily="34" charset="-122"/>
                <a:cs typeface="Calibri" pitchFamily="34" charset="-120"/>
              </a:rPr>
              <a:t>BING's quantised window sizes (powers of two) and 8-pixel stride give coarse boxes: recall is high at IoU 0.5 but falls quickly as the threshold rises, and MABO saturates around 0.66. Segmentation-based Selective Search is slower but tighter. This matches known analyses of BING (Hosang et al., TPAMI 2016).</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E8772E"/>
                </a:solidFill>
                <a:latin typeface="Calibri" pitchFamily="34" charset="0"/>
                <a:ea typeface="Calibri" pitchFamily="34" charset="-122"/>
                <a:cs typeface="Calibri" pitchFamily="34" charset="-120"/>
              </a:rPr>
              <a:t>PROPOSAL CHECK-LIST</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indent="0" marL="0">
              <a:buNone/>
            </a:pPr>
            <a:r>
              <a:rPr lang="en-US" sz="3200" b="1" dirty="0">
                <a:solidFill>
                  <a:srgbClr val="1B1F2A"/>
                </a:solidFill>
                <a:latin typeface="Cambria" pitchFamily="34" charset="0"/>
                <a:ea typeface="Cambria" pitchFamily="34" charset="-122"/>
                <a:cs typeface="Cambria" pitchFamily="34" charset="-120"/>
              </a:rPr>
              <a:t>Planned contributions → delivered</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B6270"/>
                </a:solidFill>
                <a:latin typeface="Calibri" pitchFamily="34" charset="0"/>
                <a:ea typeface="Calibri" pitchFamily="34" charset="-122"/>
                <a:cs typeface="Calibri" pitchFamily="34" charset="-120"/>
              </a:rPr>
              <a:t>16</a:t>
            </a:r>
            <a:endParaRPr lang="en-US" sz="1000" dirty="0"/>
          </a:p>
        </p:txBody>
      </p:sp>
      <p:sp>
        <p:nvSpPr>
          <p:cNvPr id="5" name="Shape 3"/>
          <p:cNvSpPr/>
          <p:nvPr/>
        </p:nvSpPr>
        <p:spPr>
          <a:xfrm>
            <a:off x="548640" y="1554480"/>
            <a:ext cx="5394960" cy="1280160"/>
          </a:xfrm>
          <a:prstGeom prst="roundRect">
            <a:avLst>
              <a:gd name="adj" fmla="val 8571"/>
            </a:avLst>
          </a:prstGeom>
          <a:solidFill>
            <a:srgbClr val="F1F4F7"/>
          </a:solidFill>
          <a:ln w="12700">
            <a:solidFill>
              <a:srgbClr val="F1F4F7"/>
            </a:solidFill>
            <a:prstDash val="solid"/>
          </a:ln>
        </p:spPr>
      </p:sp>
      <p:sp>
        <p:nvSpPr>
          <p:cNvPr id="6" name="Shape 4"/>
          <p:cNvSpPr/>
          <p:nvPr/>
        </p:nvSpPr>
        <p:spPr>
          <a:xfrm>
            <a:off x="777240" y="1965960"/>
            <a:ext cx="457200" cy="457200"/>
          </a:xfrm>
          <a:prstGeom prst="ellipse">
            <a:avLst/>
          </a:prstGeom>
          <a:solidFill>
            <a:srgbClr val="1C7293"/>
          </a:solidFill>
          <a:ln w="12700">
            <a:solidFill>
              <a:srgbClr val="1C7293"/>
            </a:solidFill>
            <a:prstDash val="solid"/>
          </a:ln>
        </p:spPr>
      </p:sp>
      <p:sp>
        <p:nvSpPr>
          <p:cNvPr id="7" name="Text 5"/>
          <p:cNvSpPr txBox="1"/>
          <p:nvPr/>
        </p:nvSpPr>
        <p:spPr>
          <a:xfrm>
            <a:off x="777240" y="19659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t>
            </a:r>
            <a:endParaRPr lang="en-US" sz="1600" dirty="0"/>
          </a:p>
        </p:txBody>
      </p:sp>
      <p:sp>
        <p:nvSpPr>
          <p:cNvPr id="8" name="Text 6"/>
          <p:cNvSpPr txBox="1"/>
          <p:nvPr/>
        </p:nvSpPr>
        <p:spPr>
          <a:xfrm>
            <a:off x="1417320" y="1737360"/>
            <a:ext cx="4389120" cy="411480"/>
          </a:xfrm>
          <a:prstGeom prst="rect">
            <a:avLst/>
          </a:prstGeom>
          <a:noFill/>
          <a:ln/>
        </p:spPr>
        <p:txBody>
          <a:bodyPr wrap="square" lIns="0" tIns="0" rIns="0" bIns="0" rtlCol="0" anchor="ctr"/>
          <a:lstStyle/>
          <a:p>
            <a:pPr indent="0" marL="0">
              <a:buNone/>
            </a:pPr>
            <a:r>
              <a:rPr lang="en-US" sz="1600" b="1" dirty="0">
                <a:solidFill>
                  <a:srgbClr val="1B1F2A"/>
                </a:solidFill>
                <a:latin typeface="Cambria" pitchFamily="34" charset="0"/>
                <a:ea typeface="Cambria" pitchFamily="34" charset="-122"/>
                <a:cs typeface="Cambria" pitchFamily="34" charset="-120"/>
              </a:rPr>
              <a:t>Analysis of gradient representations</a:t>
            </a:r>
            <a:endParaRPr lang="en-US" sz="1600" dirty="0"/>
          </a:p>
        </p:txBody>
      </p:sp>
      <p:sp>
        <p:nvSpPr>
          <p:cNvPr id="9" name="Text 7"/>
          <p:cNvSpPr txBox="1"/>
          <p:nvPr/>
        </p:nvSpPr>
        <p:spPr>
          <a:xfrm>
            <a:off x="1417320" y="2157984"/>
            <a:ext cx="4389120" cy="548640"/>
          </a:xfrm>
          <a:prstGeom prst="rect">
            <a:avLst/>
          </a:prstGeom>
          <a:noFill/>
          <a:ln/>
        </p:spPr>
        <p:txBody>
          <a:bodyPr wrap="square" lIns="0" tIns="0" rIns="0" bIns="0" rtlCol="0" anchor="t"/>
          <a:lstStyle/>
          <a:p>
            <a:pPr indent="0" marL="0">
              <a:buNone/>
            </a:pPr>
            <a:r>
              <a:rPr lang="en-US" sz="1300" dirty="0">
                <a:solidFill>
                  <a:srgbClr val="5B6270"/>
                </a:solidFill>
                <a:latin typeface="Calibri" pitchFamily="34" charset="0"/>
                <a:ea typeface="Calibri" pitchFamily="34" charset="-122"/>
                <a:cs typeface="Calibri" pitchFamily="34" charset="-120"/>
              </a:rPr>
              <a:t>[-1 0 1] vs Sobel, 4 colour spaces, bit depth Ng</a:t>
            </a:r>
            <a:endParaRPr lang="en-US" sz="1300" dirty="0"/>
          </a:p>
        </p:txBody>
      </p:sp>
      <p:sp>
        <p:nvSpPr>
          <p:cNvPr id="10" name="Shape 8"/>
          <p:cNvSpPr/>
          <p:nvPr/>
        </p:nvSpPr>
        <p:spPr>
          <a:xfrm>
            <a:off x="6217920" y="1554480"/>
            <a:ext cx="5394960" cy="1280160"/>
          </a:xfrm>
          <a:prstGeom prst="roundRect">
            <a:avLst>
              <a:gd name="adj" fmla="val 8571"/>
            </a:avLst>
          </a:prstGeom>
          <a:solidFill>
            <a:srgbClr val="F1F4F7"/>
          </a:solidFill>
          <a:ln w="12700">
            <a:solidFill>
              <a:srgbClr val="F1F4F7"/>
            </a:solidFill>
            <a:prstDash val="solid"/>
          </a:ln>
        </p:spPr>
      </p:sp>
      <p:sp>
        <p:nvSpPr>
          <p:cNvPr id="11" name="Shape 9"/>
          <p:cNvSpPr/>
          <p:nvPr/>
        </p:nvSpPr>
        <p:spPr>
          <a:xfrm>
            <a:off x="6446520" y="1965960"/>
            <a:ext cx="457200" cy="457200"/>
          </a:xfrm>
          <a:prstGeom prst="ellipse">
            <a:avLst/>
          </a:prstGeom>
          <a:solidFill>
            <a:srgbClr val="1C7293"/>
          </a:solidFill>
          <a:ln w="12700">
            <a:solidFill>
              <a:srgbClr val="1C7293"/>
            </a:solidFill>
            <a:prstDash val="solid"/>
          </a:ln>
        </p:spPr>
      </p:sp>
      <p:sp>
        <p:nvSpPr>
          <p:cNvPr id="12" name="Text 10"/>
          <p:cNvSpPr txBox="1"/>
          <p:nvPr/>
        </p:nvSpPr>
        <p:spPr>
          <a:xfrm>
            <a:off x="6446520" y="19659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t>
            </a:r>
            <a:endParaRPr lang="en-US" sz="1600" dirty="0"/>
          </a:p>
        </p:txBody>
      </p:sp>
      <p:sp>
        <p:nvSpPr>
          <p:cNvPr id="13" name="Text 11"/>
          <p:cNvSpPr txBox="1"/>
          <p:nvPr/>
        </p:nvSpPr>
        <p:spPr>
          <a:xfrm>
            <a:off x="7086600" y="1737360"/>
            <a:ext cx="4389120" cy="411480"/>
          </a:xfrm>
          <a:prstGeom prst="rect">
            <a:avLst/>
          </a:prstGeom>
          <a:noFill/>
          <a:ln/>
        </p:spPr>
        <p:txBody>
          <a:bodyPr wrap="square" lIns="0" tIns="0" rIns="0" bIns="0" rtlCol="0" anchor="ctr"/>
          <a:lstStyle/>
          <a:p>
            <a:pPr indent="0" marL="0">
              <a:buNone/>
            </a:pPr>
            <a:r>
              <a:rPr lang="en-US" sz="1600" b="1" dirty="0">
                <a:solidFill>
                  <a:srgbClr val="1B1F2A"/>
                </a:solidFill>
                <a:latin typeface="Cambria" pitchFamily="34" charset="0"/>
                <a:ea typeface="Cambria" pitchFamily="34" charset="-122"/>
                <a:cs typeface="Cambria" pitchFamily="34" charset="-120"/>
              </a:rPr>
              <a:t>Proposal quality vs computational cost</a:t>
            </a:r>
            <a:endParaRPr lang="en-US" sz="1600" dirty="0"/>
          </a:p>
        </p:txBody>
      </p:sp>
      <p:sp>
        <p:nvSpPr>
          <p:cNvPr id="14" name="Text 12"/>
          <p:cNvSpPr txBox="1"/>
          <p:nvPr/>
        </p:nvSpPr>
        <p:spPr>
          <a:xfrm>
            <a:off x="7086600" y="2157984"/>
            <a:ext cx="4389120" cy="548640"/>
          </a:xfrm>
          <a:prstGeom prst="rect">
            <a:avLst/>
          </a:prstGeom>
          <a:noFill/>
          <a:ln/>
        </p:spPr>
        <p:txBody>
          <a:bodyPr wrap="square" lIns="0" tIns="0" rIns="0" bIns="0" rtlCol="0" anchor="t"/>
          <a:lstStyle/>
          <a:p>
            <a:pPr indent="0" marL="0">
              <a:buNone/>
            </a:pPr>
            <a:r>
              <a:rPr lang="en-US" sz="1300" dirty="0">
                <a:solidFill>
                  <a:srgbClr val="5B6270"/>
                </a:solidFill>
                <a:latin typeface="Calibri" pitchFamily="34" charset="0"/>
                <a:ea typeface="Calibri" pitchFamily="34" charset="-122"/>
                <a:cs typeface="Calibri" pitchFamily="34" charset="-120"/>
              </a:rPr>
              <a:t>binary vs float, numpy vs Numba, Nw/Ng trade-offs, BING vs Selective Search</a:t>
            </a:r>
            <a:endParaRPr lang="en-US" sz="1300" dirty="0"/>
          </a:p>
        </p:txBody>
      </p:sp>
      <p:sp>
        <p:nvSpPr>
          <p:cNvPr id="15" name="Shape 13"/>
          <p:cNvSpPr/>
          <p:nvPr/>
        </p:nvSpPr>
        <p:spPr>
          <a:xfrm>
            <a:off x="548640" y="3063240"/>
            <a:ext cx="5394960" cy="1280160"/>
          </a:xfrm>
          <a:prstGeom prst="roundRect">
            <a:avLst>
              <a:gd name="adj" fmla="val 8571"/>
            </a:avLst>
          </a:prstGeom>
          <a:solidFill>
            <a:srgbClr val="F1F4F7"/>
          </a:solidFill>
          <a:ln w="12700">
            <a:solidFill>
              <a:srgbClr val="F1F4F7"/>
            </a:solidFill>
            <a:prstDash val="solid"/>
          </a:ln>
        </p:spPr>
      </p:sp>
      <p:sp>
        <p:nvSpPr>
          <p:cNvPr id="16" name="Shape 14"/>
          <p:cNvSpPr/>
          <p:nvPr/>
        </p:nvSpPr>
        <p:spPr>
          <a:xfrm>
            <a:off x="777240" y="3474720"/>
            <a:ext cx="457200" cy="457200"/>
          </a:xfrm>
          <a:prstGeom prst="ellipse">
            <a:avLst/>
          </a:prstGeom>
          <a:solidFill>
            <a:srgbClr val="1C7293"/>
          </a:solidFill>
          <a:ln w="12700">
            <a:solidFill>
              <a:srgbClr val="1C7293"/>
            </a:solidFill>
            <a:prstDash val="solid"/>
          </a:ln>
        </p:spPr>
      </p:sp>
      <p:sp>
        <p:nvSpPr>
          <p:cNvPr id="17" name="Text 15"/>
          <p:cNvSpPr txBox="1"/>
          <p:nvPr/>
        </p:nvSpPr>
        <p:spPr>
          <a:xfrm>
            <a:off x="777240" y="34747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t>
            </a:r>
            <a:endParaRPr lang="en-US" sz="1600" dirty="0"/>
          </a:p>
        </p:txBody>
      </p:sp>
      <p:sp>
        <p:nvSpPr>
          <p:cNvPr id="18" name="Text 16"/>
          <p:cNvSpPr txBox="1"/>
          <p:nvPr/>
        </p:nvSpPr>
        <p:spPr>
          <a:xfrm>
            <a:off x="1417320" y="3246120"/>
            <a:ext cx="4389120" cy="411480"/>
          </a:xfrm>
          <a:prstGeom prst="rect">
            <a:avLst/>
          </a:prstGeom>
          <a:noFill/>
          <a:ln/>
        </p:spPr>
        <p:txBody>
          <a:bodyPr wrap="square" lIns="0" tIns="0" rIns="0" bIns="0" rtlCol="0" anchor="ctr"/>
          <a:lstStyle/>
          <a:p>
            <a:pPr indent="0" marL="0">
              <a:buNone/>
            </a:pPr>
            <a:r>
              <a:rPr lang="en-US" sz="1600" b="1" dirty="0">
                <a:solidFill>
                  <a:srgbClr val="1B1F2A"/>
                </a:solidFill>
                <a:latin typeface="Cambria" pitchFamily="34" charset="0"/>
                <a:ea typeface="Cambria" pitchFamily="34" charset="-122"/>
                <a:cs typeface="Cambria" pitchFamily="34" charset="-120"/>
              </a:rPr>
              <a:t>Different numbers of proposals</a:t>
            </a:r>
            <a:endParaRPr lang="en-US" sz="1600" dirty="0"/>
          </a:p>
        </p:txBody>
      </p:sp>
      <p:sp>
        <p:nvSpPr>
          <p:cNvPr id="19" name="Text 17"/>
          <p:cNvSpPr txBox="1"/>
          <p:nvPr/>
        </p:nvSpPr>
        <p:spPr>
          <a:xfrm>
            <a:off x="1417320" y="3666744"/>
            <a:ext cx="4389120" cy="548640"/>
          </a:xfrm>
          <a:prstGeom prst="rect">
            <a:avLst/>
          </a:prstGeom>
          <a:noFill/>
          <a:ln/>
        </p:spPr>
        <p:txBody>
          <a:bodyPr wrap="square" lIns="0" tIns="0" rIns="0" bIns="0" rtlCol="0" anchor="t"/>
          <a:lstStyle/>
          <a:p>
            <a:pPr indent="0" marL="0">
              <a:buNone/>
            </a:pPr>
            <a:r>
              <a:rPr lang="en-US" sz="1300" dirty="0">
                <a:solidFill>
                  <a:srgbClr val="5B6270"/>
                </a:solidFill>
                <a:latin typeface="Calibri" pitchFamily="34" charset="0"/>
                <a:ea typeface="Calibri" pitchFamily="34" charset="-122"/>
                <a:cs typeface="Calibri" pitchFamily="34" charset="-120"/>
              </a:rPr>
              <a:t>DR / MABO curves from 1 to 5000 proposals, per-size budget ablation</a:t>
            </a:r>
            <a:endParaRPr lang="en-US" sz="1300" dirty="0"/>
          </a:p>
        </p:txBody>
      </p:sp>
      <p:sp>
        <p:nvSpPr>
          <p:cNvPr id="20" name="Shape 18"/>
          <p:cNvSpPr/>
          <p:nvPr/>
        </p:nvSpPr>
        <p:spPr>
          <a:xfrm>
            <a:off x="6217920" y="3063240"/>
            <a:ext cx="5394960" cy="1280160"/>
          </a:xfrm>
          <a:prstGeom prst="roundRect">
            <a:avLst>
              <a:gd name="adj" fmla="val 8571"/>
            </a:avLst>
          </a:prstGeom>
          <a:solidFill>
            <a:srgbClr val="F1F4F7"/>
          </a:solidFill>
          <a:ln w="12700">
            <a:solidFill>
              <a:srgbClr val="F1F4F7"/>
            </a:solidFill>
            <a:prstDash val="solid"/>
          </a:ln>
        </p:spPr>
      </p:sp>
      <p:sp>
        <p:nvSpPr>
          <p:cNvPr id="21" name="Shape 19"/>
          <p:cNvSpPr/>
          <p:nvPr/>
        </p:nvSpPr>
        <p:spPr>
          <a:xfrm>
            <a:off x="6446520" y="3474720"/>
            <a:ext cx="457200" cy="457200"/>
          </a:xfrm>
          <a:prstGeom prst="ellipse">
            <a:avLst/>
          </a:prstGeom>
          <a:solidFill>
            <a:srgbClr val="1C7293"/>
          </a:solidFill>
          <a:ln w="12700">
            <a:solidFill>
              <a:srgbClr val="1C7293"/>
            </a:solidFill>
            <a:prstDash val="solid"/>
          </a:ln>
        </p:spPr>
      </p:sp>
      <p:sp>
        <p:nvSpPr>
          <p:cNvPr id="22" name="Text 20"/>
          <p:cNvSpPr txBox="1"/>
          <p:nvPr/>
        </p:nvSpPr>
        <p:spPr>
          <a:xfrm>
            <a:off x="6446520" y="34747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t>
            </a:r>
            <a:endParaRPr lang="en-US" sz="1600" dirty="0"/>
          </a:p>
        </p:txBody>
      </p:sp>
      <p:sp>
        <p:nvSpPr>
          <p:cNvPr id="23" name="Text 21"/>
          <p:cNvSpPr txBox="1"/>
          <p:nvPr/>
        </p:nvSpPr>
        <p:spPr>
          <a:xfrm>
            <a:off x="7086600" y="3246120"/>
            <a:ext cx="4389120" cy="411480"/>
          </a:xfrm>
          <a:prstGeom prst="rect">
            <a:avLst/>
          </a:prstGeom>
          <a:noFill/>
          <a:ln/>
        </p:spPr>
        <p:txBody>
          <a:bodyPr wrap="square" lIns="0" tIns="0" rIns="0" bIns="0" rtlCol="0" anchor="ctr"/>
          <a:lstStyle/>
          <a:p>
            <a:pPr indent="0" marL="0">
              <a:buNone/>
            </a:pPr>
            <a:r>
              <a:rPr lang="en-US" sz="1600" b="1" dirty="0">
                <a:solidFill>
                  <a:srgbClr val="1B1F2A"/>
                </a:solidFill>
                <a:latin typeface="Cambria" pitchFamily="34" charset="0"/>
                <a:ea typeface="Cambria" pitchFamily="34" charset="-122"/>
                <a:cs typeface="Cambria" pitchFamily="34" charset="-120"/>
              </a:rPr>
              <a:t>Visualisation of objectness scores</a:t>
            </a:r>
            <a:endParaRPr lang="en-US" sz="1600" dirty="0"/>
          </a:p>
        </p:txBody>
      </p:sp>
      <p:sp>
        <p:nvSpPr>
          <p:cNvPr id="24" name="Text 22"/>
          <p:cNvSpPr txBox="1"/>
          <p:nvPr/>
        </p:nvSpPr>
        <p:spPr>
          <a:xfrm>
            <a:off x="7086600" y="3666744"/>
            <a:ext cx="4389120" cy="548640"/>
          </a:xfrm>
          <a:prstGeom prst="rect">
            <a:avLst/>
          </a:prstGeom>
          <a:noFill/>
          <a:ln/>
        </p:spPr>
        <p:txBody>
          <a:bodyPr wrap="square" lIns="0" tIns="0" rIns="0" bIns="0" rtlCol="0" anchor="t"/>
          <a:lstStyle/>
          <a:p>
            <a:pPr indent="0" marL="0">
              <a:buNone/>
            </a:pPr>
            <a:r>
              <a:rPr lang="en-US" sz="1300" dirty="0">
                <a:solidFill>
                  <a:srgbClr val="5B6270"/>
                </a:solidFill>
                <a:latin typeface="Calibri" pitchFamily="34" charset="0"/>
                <a:ea typeface="Calibri" pitchFamily="34" charset="-122"/>
                <a:cs typeface="Calibri" pitchFamily="34" charset="-120"/>
              </a:rPr>
              <a:t>learned filter, bit-planes, calibration map, heat-maps, top-k boxes</a:t>
            </a:r>
            <a:endParaRPr lang="en-US" sz="1300" dirty="0"/>
          </a:p>
        </p:txBody>
      </p:sp>
      <p:sp>
        <p:nvSpPr>
          <p:cNvPr id="25" name="Shape 23"/>
          <p:cNvSpPr/>
          <p:nvPr/>
        </p:nvSpPr>
        <p:spPr>
          <a:xfrm>
            <a:off x="548640" y="4572000"/>
            <a:ext cx="5394960" cy="1280160"/>
          </a:xfrm>
          <a:prstGeom prst="roundRect">
            <a:avLst>
              <a:gd name="adj" fmla="val 8571"/>
            </a:avLst>
          </a:prstGeom>
          <a:solidFill>
            <a:srgbClr val="F1F4F7"/>
          </a:solidFill>
          <a:ln w="12700">
            <a:solidFill>
              <a:srgbClr val="F1F4F7"/>
            </a:solidFill>
            <a:prstDash val="solid"/>
          </a:ln>
        </p:spPr>
      </p:sp>
      <p:sp>
        <p:nvSpPr>
          <p:cNvPr id="26" name="Shape 24"/>
          <p:cNvSpPr/>
          <p:nvPr/>
        </p:nvSpPr>
        <p:spPr>
          <a:xfrm>
            <a:off x="777240" y="4983480"/>
            <a:ext cx="457200" cy="457200"/>
          </a:xfrm>
          <a:prstGeom prst="ellipse">
            <a:avLst/>
          </a:prstGeom>
          <a:solidFill>
            <a:srgbClr val="1C7293"/>
          </a:solidFill>
          <a:ln w="12700">
            <a:solidFill>
              <a:srgbClr val="1C7293"/>
            </a:solidFill>
            <a:prstDash val="solid"/>
          </a:ln>
        </p:spPr>
      </p:sp>
      <p:sp>
        <p:nvSpPr>
          <p:cNvPr id="27" name="Text 25"/>
          <p:cNvSpPr txBox="1"/>
          <p:nvPr/>
        </p:nvSpPr>
        <p:spPr>
          <a:xfrm>
            <a:off x="777240" y="49834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t>
            </a:r>
            <a:endParaRPr lang="en-US" sz="1600" dirty="0"/>
          </a:p>
        </p:txBody>
      </p:sp>
      <p:sp>
        <p:nvSpPr>
          <p:cNvPr id="28" name="Text 26"/>
          <p:cNvSpPr txBox="1"/>
          <p:nvPr/>
        </p:nvSpPr>
        <p:spPr>
          <a:xfrm>
            <a:off x="1417320" y="4754880"/>
            <a:ext cx="4389120" cy="411480"/>
          </a:xfrm>
          <a:prstGeom prst="rect">
            <a:avLst/>
          </a:prstGeom>
          <a:noFill/>
          <a:ln/>
        </p:spPr>
        <p:txBody>
          <a:bodyPr wrap="square" lIns="0" tIns="0" rIns="0" bIns="0" rtlCol="0" anchor="ctr"/>
          <a:lstStyle/>
          <a:p>
            <a:pPr indent="0" marL="0">
              <a:buNone/>
            </a:pPr>
            <a:r>
              <a:rPr lang="en-US" sz="1600" b="1" dirty="0">
                <a:solidFill>
                  <a:srgbClr val="1B1F2A"/>
                </a:solidFill>
                <a:latin typeface="Cambria" pitchFamily="34" charset="0"/>
                <a:ea typeface="Cambria" pitchFamily="34" charset="-122"/>
                <a:cs typeface="Cambria" pitchFamily="34" charset="-120"/>
              </a:rPr>
              <a:t>Different image categories / datasets</a:t>
            </a:r>
            <a:endParaRPr lang="en-US" sz="1600" dirty="0"/>
          </a:p>
        </p:txBody>
      </p:sp>
      <p:sp>
        <p:nvSpPr>
          <p:cNvPr id="29" name="Text 27"/>
          <p:cNvSpPr txBox="1"/>
          <p:nvPr/>
        </p:nvSpPr>
        <p:spPr>
          <a:xfrm>
            <a:off x="1417320" y="5175504"/>
            <a:ext cx="4389120" cy="548640"/>
          </a:xfrm>
          <a:prstGeom prst="rect">
            <a:avLst/>
          </a:prstGeom>
          <a:noFill/>
          <a:ln/>
        </p:spPr>
        <p:txBody>
          <a:bodyPr wrap="square" lIns="0" tIns="0" rIns="0" bIns="0" rtlCol="0" anchor="t"/>
          <a:lstStyle/>
          <a:p>
            <a:pPr indent="0" marL="0">
              <a:buNone/>
            </a:pPr>
            <a:r>
              <a:rPr lang="en-US" sz="1300" dirty="0">
                <a:solidFill>
                  <a:srgbClr val="5B6270"/>
                </a:solidFill>
                <a:latin typeface="Calibri" pitchFamily="34" charset="0"/>
                <a:ea typeface="Calibri" pitchFamily="34" charset="-122"/>
                <a:cs typeface="Calibri" pitchFamily="34" charset="-120"/>
              </a:rPr>
              <a:t>synthetic benchmark, 10 real photos, VOC 2007 loader</a:t>
            </a:r>
            <a:endParaRPr lang="en-US" sz="1300" dirty="0"/>
          </a:p>
        </p:txBody>
      </p:sp>
      <p:sp>
        <p:nvSpPr>
          <p:cNvPr id="30" name="Shape 28"/>
          <p:cNvSpPr/>
          <p:nvPr/>
        </p:nvSpPr>
        <p:spPr>
          <a:xfrm>
            <a:off x="6217920" y="4572000"/>
            <a:ext cx="5394960" cy="1280160"/>
          </a:xfrm>
          <a:prstGeom prst="roundRect">
            <a:avLst>
              <a:gd name="adj" fmla="val 8571"/>
            </a:avLst>
          </a:prstGeom>
          <a:solidFill>
            <a:srgbClr val="F1F4F7"/>
          </a:solidFill>
          <a:ln w="12700">
            <a:solidFill>
              <a:srgbClr val="F1F4F7"/>
            </a:solidFill>
            <a:prstDash val="solid"/>
          </a:ln>
        </p:spPr>
      </p:sp>
      <p:sp>
        <p:nvSpPr>
          <p:cNvPr id="31" name="Shape 29"/>
          <p:cNvSpPr/>
          <p:nvPr/>
        </p:nvSpPr>
        <p:spPr>
          <a:xfrm>
            <a:off x="6446520" y="4983480"/>
            <a:ext cx="457200" cy="457200"/>
          </a:xfrm>
          <a:prstGeom prst="ellipse">
            <a:avLst/>
          </a:prstGeom>
          <a:solidFill>
            <a:srgbClr val="1C7293"/>
          </a:solidFill>
          <a:ln w="12700">
            <a:solidFill>
              <a:srgbClr val="1C7293"/>
            </a:solidFill>
            <a:prstDash val="solid"/>
          </a:ln>
        </p:spPr>
      </p:sp>
      <p:sp>
        <p:nvSpPr>
          <p:cNvPr id="32" name="Text 30"/>
          <p:cNvSpPr txBox="1"/>
          <p:nvPr/>
        </p:nvSpPr>
        <p:spPr>
          <a:xfrm>
            <a:off x="6446520" y="49834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t>
            </a:r>
            <a:endParaRPr lang="en-US" sz="1600" dirty="0"/>
          </a:p>
        </p:txBody>
      </p:sp>
      <p:sp>
        <p:nvSpPr>
          <p:cNvPr id="33" name="Text 31"/>
          <p:cNvSpPr txBox="1"/>
          <p:nvPr/>
        </p:nvSpPr>
        <p:spPr>
          <a:xfrm>
            <a:off x="7086600" y="4754880"/>
            <a:ext cx="4389120" cy="411480"/>
          </a:xfrm>
          <a:prstGeom prst="rect">
            <a:avLst/>
          </a:prstGeom>
          <a:noFill/>
          <a:ln/>
        </p:spPr>
        <p:txBody>
          <a:bodyPr wrap="square" lIns="0" tIns="0" rIns="0" bIns="0" rtlCol="0" anchor="ctr"/>
          <a:lstStyle/>
          <a:p>
            <a:pPr indent="0" marL="0">
              <a:buNone/>
            </a:pPr>
            <a:r>
              <a:rPr lang="en-US" sz="1600" b="1" dirty="0">
                <a:solidFill>
                  <a:srgbClr val="1B1F2A"/>
                </a:solidFill>
                <a:latin typeface="Cambria" pitchFamily="34" charset="0"/>
                <a:ea typeface="Cambria" pitchFamily="34" charset="-122"/>
                <a:cs typeface="Cambria" pitchFamily="34" charset="-120"/>
              </a:rPr>
              <a:t>Optimisation / modernisation</a:t>
            </a:r>
            <a:endParaRPr lang="en-US" sz="1600" dirty="0"/>
          </a:p>
        </p:txBody>
      </p:sp>
      <p:sp>
        <p:nvSpPr>
          <p:cNvPr id="34" name="Text 32"/>
          <p:cNvSpPr txBox="1"/>
          <p:nvPr/>
        </p:nvSpPr>
        <p:spPr>
          <a:xfrm>
            <a:off x="7086600" y="5175504"/>
            <a:ext cx="4389120" cy="548640"/>
          </a:xfrm>
          <a:prstGeom prst="rect">
            <a:avLst/>
          </a:prstGeom>
          <a:noFill/>
          <a:ln/>
        </p:spPr>
        <p:txBody>
          <a:bodyPr wrap="square" lIns="0" tIns="0" rIns="0" bIns="0" rtlCol="0" anchor="t"/>
          <a:lstStyle/>
          <a:p>
            <a:pPr indent="0" marL="0">
              <a:buNone/>
            </a:pPr>
            <a:r>
              <a:rPr lang="en-US" sz="1300" dirty="0">
                <a:solidFill>
                  <a:srgbClr val="5B6270"/>
                </a:solidFill>
                <a:latin typeface="Calibri" pitchFamily="34" charset="0"/>
                <a:ea typeface="Calibri" pitchFamily="34" charset="-122"/>
                <a:cs typeface="Calibri" pitchFamily="34" charset="-120"/>
              </a:rPr>
              <a:t>pure-Python package + Numba Alg. 2 kernel, unit tests, webcam demo</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E8772E"/>
                </a:solidFill>
                <a:latin typeface="Calibri" pitchFamily="34" charset="0"/>
                <a:ea typeface="Calibri" pitchFamily="34" charset="-122"/>
                <a:cs typeface="Calibri" pitchFamily="34" charset="-120"/>
              </a:rPr>
              <a:t>DISCUSSION</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indent="0" marL="0">
              <a:buNone/>
            </a:pPr>
            <a:r>
              <a:rPr lang="en-US" sz="3200" b="1" dirty="0">
                <a:solidFill>
                  <a:srgbClr val="1B1F2A"/>
                </a:solidFill>
                <a:latin typeface="Cambria" pitchFamily="34" charset="0"/>
                <a:ea typeface="Cambria" pitchFamily="34" charset="-122"/>
                <a:cs typeface="Cambria" pitchFamily="34" charset="-120"/>
              </a:rPr>
              <a:t>Limitations &amp; future work</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B6270"/>
                </a:solidFill>
                <a:latin typeface="Calibri" pitchFamily="34" charset="0"/>
                <a:ea typeface="Calibri" pitchFamily="34" charset="-122"/>
                <a:cs typeface="Calibri" pitchFamily="34" charset="-120"/>
              </a:rPr>
              <a:t>17</a:t>
            </a:r>
            <a:endParaRPr lang="en-US" sz="1000" dirty="0"/>
          </a:p>
        </p:txBody>
      </p:sp>
      <p:sp>
        <p:nvSpPr>
          <p:cNvPr id="5" name="Text 3"/>
          <p:cNvSpPr txBox="1"/>
          <p:nvPr/>
        </p:nvSpPr>
        <p:spPr>
          <a:xfrm>
            <a:off x="548640" y="1554480"/>
            <a:ext cx="6949440" cy="4754880"/>
          </a:xfrm>
          <a:prstGeom prst="rect">
            <a:avLst/>
          </a:prstGeom>
          <a:noFill/>
          <a:ln/>
        </p:spPr>
        <p:txBody>
          <a:bodyPr wrap="square" lIns="0" tIns="0" rIns="0" bIns="0" rtlCol="0" anchor="t"/>
          <a:lstStyle/>
          <a:p>
            <a:pPr marL="342900" indent="-342900">
              <a:spcAft>
                <a:spcPts val="900"/>
              </a:spcAft>
              <a:buSzPct val="100000"/>
              <a:buChar char="•"/>
            </a:pPr>
            <a:r>
              <a:rPr lang="en-US" sz="1500" b="1" dirty="0">
                <a:solidFill>
                  <a:srgbClr val="1B1F2A"/>
                </a:solidFill>
                <a:latin typeface="Calibri" pitchFamily="34" charset="0"/>
                <a:ea typeface="Calibri" pitchFamily="34" charset="-122"/>
                <a:cs typeface="Calibri" pitchFamily="34" charset="-120"/>
              </a:rPr>
              <a:t>Localisation is coarse. </a:t>
            </a:r>
            <a:pPr indent="0" marL="0">
              <a:buNone/>
            </a:pPr>
            <a:r>
              <a:rPr lang="en-US" sz="1500" dirty="0">
                <a:solidFill>
                  <a:srgbClr val="5B6270"/>
                </a:solidFill>
                <a:latin typeface="Calibri" pitchFamily="34" charset="0"/>
                <a:ea typeface="Calibri" pitchFamily="34" charset="-122"/>
                <a:cs typeface="Calibri" pitchFamily="34" charset="-120"/>
              </a:rPr>
              <a:t>Power-of-two sizes and an 8-px stride cap MABO; refine top boxes (e.g. edge-based box regression) or add intermediate sizes.</a:t>
            </a:r>
            <a:endParaRPr lang="en-US" sz="1500" dirty="0"/>
          </a:p>
          <a:p>
            <a:pPr marL="342900" indent="-342900">
              <a:spcAft>
                <a:spcPts val="900"/>
              </a:spcAft>
              <a:buSzPct val="100000"/>
              <a:buChar char="•"/>
            </a:pPr>
            <a:r>
              <a:rPr lang="en-US" sz="1500" b="1" dirty="0">
                <a:solidFill>
                  <a:srgbClr val="1B1F2A"/>
                </a:solidFill>
                <a:latin typeface="Calibri" pitchFamily="34" charset="0"/>
                <a:ea typeface="Calibri" pitchFamily="34" charset="-122"/>
                <a:cs typeface="Calibri" pitchFamily="34" charset="-120"/>
              </a:rPr>
              <a:t>Evaluation scale. </a:t>
            </a:r>
            <a:pPr indent="0" marL="0">
              <a:buNone/>
            </a:pPr>
            <a:r>
              <a:rPr lang="en-US" sz="1500" dirty="0">
                <a:solidFill>
                  <a:srgbClr val="5B6270"/>
                </a:solidFill>
                <a:latin typeface="Calibri" pitchFamily="34" charset="0"/>
                <a:ea typeface="Calibri" pitchFamily="34" charset="-122"/>
                <a:cs typeface="Calibri" pitchFamily="34" charset="-120"/>
              </a:rPr>
              <a:t>PASCAL VOC could not be downloaded in our sandbox; we provide the loader and scripts to reproduce the paper's protocol (train on trainval, test on test).</a:t>
            </a:r>
            <a:endParaRPr lang="en-US" sz="1500" dirty="0"/>
          </a:p>
          <a:p>
            <a:pPr marL="342900" indent="-342900">
              <a:spcAft>
                <a:spcPts val="900"/>
              </a:spcAft>
              <a:buSzPct val="100000"/>
              <a:buChar char="•"/>
            </a:pPr>
            <a:r>
              <a:rPr lang="en-US" sz="1500" b="1" dirty="0">
                <a:solidFill>
                  <a:srgbClr val="1B1F2A"/>
                </a:solidFill>
                <a:latin typeface="Calibri" pitchFamily="34" charset="0"/>
                <a:ea typeface="Calibri" pitchFamily="34" charset="-122"/>
                <a:cs typeface="Calibri" pitchFamily="34" charset="-120"/>
              </a:rPr>
              <a:t>Python ceiling. </a:t>
            </a:r>
            <a:pPr indent="0" marL="0">
              <a:buNone/>
            </a:pPr>
            <a:r>
              <a:rPr lang="en-US" sz="1500" dirty="0">
                <a:solidFill>
                  <a:srgbClr val="5B6270"/>
                </a:solidFill>
                <a:latin typeface="Calibri" pitchFamily="34" charset="0"/>
                <a:ea typeface="Calibri" pitchFamily="34" charset="-122"/>
                <a:cs typeface="Calibri" pitchFamily="34" charset="-120"/>
              </a:rPr>
              <a:t>Numba closes much of the gap, but a SIMD C++/Cython popcount kernel would be needed for the paper's 300 fps.</a:t>
            </a:r>
            <a:endParaRPr lang="en-US" sz="1500" dirty="0"/>
          </a:p>
          <a:p>
            <a:pPr marL="342900" indent="-342900">
              <a:spcAft>
                <a:spcPts val="900"/>
              </a:spcAft>
              <a:buSzPct val="100000"/>
              <a:buChar char="•"/>
            </a:pPr>
            <a:r>
              <a:rPr lang="en-US" sz="1500" b="1" dirty="0">
                <a:solidFill>
                  <a:srgbClr val="1B1F2A"/>
                </a:solidFill>
                <a:latin typeface="Calibri" pitchFamily="34" charset="0"/>
                <a:ea typeface="Calibri" pitchFamily="34" charset="-122"/>
                <a:cs typeface="Calibri" pitchFamily="34" charset="-120"/>
              </a:rPr>
              <a:t>Synthetic-to-real gap. </a:t>
            </a:r>
            <a:pPr indent="0" marL="0">
              <a:buNone/>
            </a:pPr>
            <a:r>
              <a:rPr lang="en-US" sz="1500" dirty="0">
                <a:solidFill>
                  <a:srgbClr val="5B6270"/>
                </a:solidFill>
                <a:latin typeface="Calibri" pitchFamily="34" charset="0"/>
                <a:ea typeface="Calibri" pitchFamily="34" charset="-122"/>
                <a:cs typeface="Calibri" pitchFamily="34" charset="-120"/>
              </a:rPr>
              <a:t>Training on real annotated images (VOC / COCO) would raise real-photo recall further.</a:t>
            </a:r>
            <a:endParaRPr lang="en-US" sz="1500" dirty="0"/>
          </a:p>
          <a:p>
            <a:pPr marL="342900" indent="-342900">
              <a:spcAft>
                <a:spcPts val="900"/>
              </a:spcAft>
              <a:buSzPct val="100000"/>
              <a:buChar char="•"/>
            </a:pPr>
            <a:r>
              <a:rPr lang="en-US" sz="1500" b="1" dirty="0">
                <a:solidFill>
                  <a:srgbClr val="1B1F2A"/>
                </a:solidFill>
                <a:latin typeface="Calibri" pitchFamily="34" charset="0"/>
                <a:ea typeface="Calibri" pitchFamily="34" charset="-122"/>
                <a:cs typeface="Calibri" pitchFamily="34" charset="-120"/>
              </a:rPr>
              <a:t>Next step. </a:t>
            </a:r>
            <a:pPr indent="0" marL="0">
              <a:buNone/>
            </a:pPr>
            <a:r>
              <a:rPr lang="en-US" sz="1500" dirty="0">
                <a:solidFill>
                  <a:srgbClr val="5B6270"/>
                </a:solidFill>
                <a:latin typeface="Calibri" pitchFamily="34" charset="0"/>
                <a:ea typeface="Calibri" pitchFamily="34" charset="-122"/>
                <a:cs typeface="Calibri" pitchFamily="34" charset="-120"/>
              </a:rPr>
              <a:t>Feed BING proposals into a classifier (HOG + SVM or a small CNN) for a complete detector.</a:t>
            </a:r>
            <a:endParaRPr lang="en-US" sz="1500" dirty="0"/>
          </a:p>
        </p:txBody>
      </p:sp>
      <p:pic>
        <p:nvPicPr>
          <p:cNvPr id="6" name="Image 0" descr="/home/user/cvprojectg10/results/figures/found_synthetic.png">    </p:cNvPr>
          <p:cNvPicPr>
            <a:picLocks noChangeAspect="1"/>
          </p:cNvPicPr>
          <p:nvPr/>
        </p:nvPicPr>
        <p:blipFill>
          <a:blip r:embed="rId1"/>
          <a:srcRect l="0" r="0" t="0" b="0"/>
          <a:stretch/>
        </p:blipFill>
        <p:spPr>
          <a:xfrm>
            <a:off x="7772400" y="1554480"/>
            <a:ext cx="3931920" cy="3017520"/>
          </a:xfrm>
          <a:prstGeom prst="rect">
            <a:avLst/>
          </a:prstGeom>
        </p:spPr>
      </p:pic>
      <p:sp>
        <p:nvSpPr>
          <p:cNvPr id="7" name="Text 4"/>
          <p:cNvSpPr txBox="1"/>
          <p:nvPr/>
        </p:nvSpPr>
        <p:spPr>
          <a:xfrm>
            <a:off x="7772400" y="4663440"/>
            <a:ext cx="3931920" cy="640080"/>
          </a:xfrm>
          <a:prstGeom prst="rect">
            <a:avLst/>
          </a:prstGeom>
          <a:noFill/>
          <a:ln/>
        </p:spPr>
        <p:txBody>
          <a:bodyPr wrap="square" lIns="0" tIns="0" rIns="0" bIns="0" rtlCol="0" anchor="ctr"/>
          <a:lstStyle/>
          <a:p>
            <a:pPr indent="0" marL="0">
              <a:buNone/>
            </a:pPr>
            <a:r>
              <a:rPr lang="en-US" sz="1200" i="1" dirty="0">
                <a:solidFill>
                  <a:srgbClr val="5B6270"/>
                </a:solidFill>
                <a:latin typeface="Calibri" pitchFamily="34" charset="0"/>
                <a:ea typeface="Calibri" pitchFamily="34" charset="-122"/>
                <a:cs typeface="Calibri" pitchFamily="34" charset="-120"/>
              </a:rPr>
              <a:t>Misses (red) are mostly low-contrast objects or objects cut by clutter lines.</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41A24"/>
        </a:solidFill>
      </p:bgPr>
    </p:bg>
    <p:spTree>
      <p:nvGrpSpPr>
        <p:cNvPr id="1" name=""/>
        <p:cNvGrpSpPr/>
        <p:nvPr/>
      </p:nvGrpSpPr>
      <p:grpSpPr>
        <a:xfrm>
          <a:off x="0" y="0"/>
          <a:ext cx="0" cy="0"/>
          <a:chOff x="0" y="0"/>
          <a:chExt cx="0" cy="0"/>
        </a:xfrm>
      </p:grpSpPr>
      <p:sp>
        <p:nvSpPr>
          <p:cNvPr id="2" name="Text 0"/>
          <p:cNvSpPr txBox="1"/>
          <p:nvPr/>
        </p:nvSpPr>
        <p:spPr>
          <a:xfrm>
            <a:off x="548640" y="548640"/>
            <a:ext cx="5486400" cy="274320"/>
          </a:xfrm>
          <a:prstGeom prst="rect">
            <a:avLst/>
          </a:prstGeom>
          <a:noFill/>
          <a:ln/>
        </p:spPr>
        <p:txBody>
          <a:bodyPr wrap="square" lIns="0" tIns="0" rIns="0" bIns="0" rtlCol="0" anchor="ctr"/>
          <a:lstStyle/>
          <a:p>
            <a:pPr indent="0" marL="0">
              <a:buNone/>
            </a:pPr>
            <a:r>
              <a:rPr lang="en-US" sz="1200" b="1" spc="200" kern="0" dirty="0">
                <a:solidFill>
                  <a:srgbClr val="E8772E"/>
                </a:solidFill>
                <a:latin typeface="Calibri" pitchFamily="34" charset="0"/>
                <a:ea typeface="Calibri" pitchFamily="34" charset="-122"/>
                <a:cs typeface="Calibri" pitchFamily="34" charset="-120"/>
              </a:rPr>
              <a:t>CONCLUSION</a:t>
            </a:r>
            <a:endParaRPr lang="en-US" sz="1200" dirty="0"/>
          </a:p>
        </p:txBody>
      </p:sp>
      <p:sp>
        <p:nvSpPr>
          <p:cNvPr id="3" name="Text 1"/>
          <p:cNvSpPr txBox="1"/>
          <p:nvPr/>
        </p:nvSpPr>
        <p:spPr>
          <a:xfrm>
            <a:off x="548640" y="914400"/>
            <a:ext cx="10972800" cy="128016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Simple gradients, a 64-weight linear model and bit operations are enough to find most objects — fast.</a:t>
            </a:r>
            <a:endParaRPr lang="en-US" sz="3000" dirty="0"/>
          </a:p>
        </p:txBody>
      </p:sp>
      <p:sp>
        <p:nvSpPr>
          <p:cNvPr id="4" name="Text 2"/>
          <p:cNvSpPr txBox="1"/>
          <p:nvPr/>
        </p:nvSpPr>
        <p:spPr>
          <a:xfrm>
            <a:off x="548640" y="2743200"/>
            <a:ext cx="2651760" cy="914400"/>
          </a:xfrm>
          <a:prstGeom prst="rect">
            <a:avLst/>
          </a:prstGeom>
          <a:noFill/>
          <a:ln/>
        </p:spPr>
        <p:txBody>
          <a:bodyPr wrap="square" lIns="0" tIns="0" rIns="0" bIns="0" rtlCol="0" anchor="ctr"/>
          <a:lstStyle/>
          <a:p>
            <a:pPr indent="0" marL="0">
              <a:buNone/>
            </a:pPr>
            <a:r>
              <a:rPr lang="en-US" sz="4400" b="1" dirty="0">
                <a:solidFill>
                  <a:srgbClr val="E8772E"/>
                </a:solidFill>
                <a:latin typeface="Cambria" pitchFamily="34" charset="0"/>
                <a:ea typeface="Cambria" pitchFamily="34" charset="-122"/>
                <a:cs typeface="Cambria" pitchFamily="34" charset="-120"/>
              </a:rPr>
              <a:t>95.1%</a:t>
            </a:r>
            <a:endParaRPr lang="en-US" sz="4400" dirty="0"/>
          </a:p>
        </p:txBody>
      </p:sp>
      <p:sp>
        <p:nvSpPr>
          <p:cNvPr id="5" name="Text 3"/>
          <p:cNvSpPr txBox="1"/>
          <p:nvPr/>
        </p:nvSpPr>
        <p:spPr>
          <a:xfrm>
            <a:off x="548640" y="3657600"/>
            <a:ext cx="2651760" cy="822960"/>
          </a:xfrm>
          <a:prstGeom prst="rect">
            <a:avLst/>
          </a:prstGeom>
          <a:noFill/>
          <a:ln/>
        </p:spPr>
        <p:txBody>
          <a:bodyPr wrap="square" lIns="0" tIns="0" rIns="0" bIns="0" rtlCol="0" anchor="t"/>
          <a:lstStyle/>
          <a:p>
            <a:pPr indent="0" marL="0">
              <a:buNone/>
            </a:pPr>
            <a:r>
              <a:rPr lang="en-US" sz="1400" dirty="0">
                <a:solidFill>
                  <a:srgbClr val="AEB8C6"/>
                </a:solidFill>
                <a:latin typeface="Calibri" pitchFamily="34" charset="0"/>
                <a:ea typeface="Calibri" pitchFamily="34" charset="-122"/>
                <a:cs typeface="Calibri" pitchFamily="34" charset="-120"/>
              </a:rPr>
              <a:t>objects found in top 1000</a:t>
            </a:r>
            <a:endParaRPr lang="en-US" sz="1400" dirty="0"/>
          </a:p>
          <a:p>
            <a:pPr indent="0" marL="0">
              <a:buNone/>
            </a:pPr>
            <a:r>
              <a:rPr lang="en-US" sz="1400" dirty="0">
                <a:solidFill>
                  <a:srgbClr val="AEB8C6"/>
                </a:solidFill>
                <a:latin typeface="Calibri" pitchFamily="34" charset="0"/>
                <a:ea typeface="Calibri" pitchFamily="34" charset="-122"/>
                <a:cs typeface="Calibri" pitchFamily="34" charset="-120"/>
              </a:rPr>
              <a:t>(synthetic test)</a:t>
            </a:r>
            <a:endParaRPr lang="en-US" sz="1400" dirty="0"/>
          </a:p>
        </p:txBody>
      </p:sp>
      <p:sp>
        <p:nvSpPr>
          <p:cNvPr id="6" name="Text 4"/>
          <p:cNvSpPr txBox="1"/>
          <p:nvPr/>
        </p:nvSpPr>
        <p:spPr>
          <a:xfrm>
            <a:off x="3383280" y="2743200"/>
            <a:ext cx="2651760" cy="9144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86.2%</a:t>
            </a:r>
            <a:endParaRPr lang="en-US" sz="4400" dirty="0"/>
          </a:p>
        </p:txBody>
      </p:sp>
      <p:sp>
        <p:nvSpPr>
          <p:cNvPr id="7" name="Text 5"/>
          <p:cNvSpPr txBox="1"/>
          <p:nvPr/>
        </p:nvSpPr>
        <p:spPr>
          <a:xfrm>
            <a:off x="3383280" y="3657600"/>
            <a:ext cx="2651760" cy="822960"/>
          </a:xfrm>
          <a:prstGeom prst="rect">
            <a:avLst/>
          </a:prstGeom>
          <a:noFill/>
          <a:ln/>
        </p:spPr>
        <p:txBody>
          <a:bodyPr wrap="square" lIns="0" tIns="0" rIns="0" bIns="0" rtlCol="0" anchor="t"/>
          <a:lstStyle/>
          <a:p>
            <a:pPr indent="0" marL="0">
              <a:buNone/>
            </a:pPr>
            <a:r>
              <a:rPr lang="en-US" sz="1400" dirty="0">
                <a:solidFill>
                  <a:srgbClr val="AEB8C6"/>
                </a:solidFill>
                <a:latin typeface="Calibri" pitchFamily="34" charset="0"/>
                <a:ea typeface="Calibri" pitchFamily="34" charset="-122"/>
                <a:cs typeface="Calibri" pitchFamily="34" charset="-120"/>
              </a:rPr>
              <a:t>objects found in top 1000</a:t>
            </a:r>
            <a:endParaRPr lang="en-US" sz="1400" dirty="0"/>
          </a:p>
          <a:p>
            <a:pPr indent="0" marL="0">
              <a:buNone/>
            </a:pPr>
            <a:r>
              <a:rPr lang="en-US" sz="1400" dirty="0">
                <a:solidFill>
                  <a:srgbClr val="AEB8C6"/>
                </a:solidFill>
                <a:latin typeface="Calibri" pitchFamily="34" charset="0"/>
                <a:ea typeface="Calibri" pitchFamily="34" charset="-122"/>
                <a:cs typeface="Calibri" pitchFamily="34" charset="-120"/>
              </a:rPr>
              <a:t>(real photos, zero real training)</a:t>
            </a:r>
            <a:endParaRPr lang="en-US" sz="1400" dirty="0"/>
          </a:p>
        </p:txBody>
      </p:sp>
      <p:sp>
        <p:nvSpPr>
          <p:cNvPr id="8" name="Text 6"/>
          <p:cNvSpPr txBox="1"/>
          <p:nvPr/>
        </p:nvSpPr>
        <p:spPr>
          <a:xfrm>
            <a:off x="6217920" y="2743200"/>
            <a:ext cx="2651760" cy="914400"/>
          </a:xfrm>
          <a:prstGeom prst="rect">
            <a:avLst/>
          </a:prstGeom>
          <a:noFill/>
          <a:ln/>
        </p:spPr>
        <p:txBody>
          <a:bodyPr wrap="square" lIns="0" tIns="0" rIns="0" bIns="0" rtlCol="0" anchor="ctr"/>
          <a:lstStyle/>
          <a:p>
            <a:pPr indent="0" marL="0">
              <a:buNone/>
            </a:pPr>
            <a:r>
              <a:rPr lang="en-US" sz="4400" b="1" dirty="0">
                <a:solidFill>
                  <a:srgbClr val="E8772E"/>
                </a:solidFill>
                <a:latin typeface="Cambria" pitchFamily="34" charset="0"/>
                <a:ea typeface="Cambria" pitchFamily="34" charset="-122"/>
                <a:cs typeface="Cambria" pitchFamily="34" charset="-120"/>
              </a:rPr>
              <a:t>188</a:t>
            </a:r>
            <a:endParaRPr lang="en-US" sz="4400" dirty="0"/>
          </a:p>
        </p:txBody>
      </p:sp>
      <p:sp>
        <p:nvSpPr>
          <p:cNvPr id="9" name="Text 7"/>
          <p:cNvSpPr txBox="1"/>
          <p:nvPr/>
        </p:nvSpPr>
        <p:spPr>
          <a:xfrm>
            <a:off x="6217920" y="3657600"/>
            <a:ext cx="2651760" cy="822960"/>
          </a:xfrm>
          <a:prstGeom prst="rect">
            <a:avLst/>
          </a:prstGeom>
          <a:noFill/>
          <a:ln/>
        </p:spPr>
        <p:txBody>
          <a:bodyPr wrap="square" lIns="0" tIns="0" rIns="0" bIns="0" rtlCol="0" anchor="t"/>
          <a:lstStyle/>
          <a:p>
            <a:pPr indent="0" marL="0">
              <a:buNone/>
            </a:pPr>
            <a:r>
              <a:rPr lang="en-US" sz="1400" dirty="0">
                <a:solidFill>
                  <a:srgbClr val="AEB8C6"/>
                </a:solidFill>
                <a:latin typeface="Calibri" pitchFamily="34" charset="0"/>
                <a:ea typeface="Calibri" pitchFamily="34" charset="-122"/>
                <a:cs typeface="Calibri" pitchFamily="34" charset="-120"/>
              </a:rPr>
              <a:t>images / second</a:t>
            </a:r>
            <a:endParaRPr lang="en-US" sz="1400" dirty="0"/>
          </a:p>
          <a:p>
            <a:pPr indent="0" marL="0">
              <a:buNone/>
            </a:pPr>
            <a:r>
              <a:rPr lang="en-US" sz="1400" dirty="0">
                <a:solidFill>
                  <a:srgbClr val="AEB8C6"/>
                </a:solidFill>
                <a:latin typeface="Calibri" pitchFamily="34" charset="0"/>
                <a:ea typeface="Calibri" pitchFamily="34" charset="-122"/>
                <a:cs typeface="Calibri" pitchFamily="34" charset="-120"/>
              </a:rPr>
              <a:t>(Python + Numba, 4 CPU cores)</a:t>
            </a:r>
            <a:endParaRPr lang="en-US" sz="1400" dirty="0"/>
          </a:p>
        </p:txBody>
      </p:sp>
      <p:sp>
        <p:nvSpPr>
          <p:cNvPr id="10" name="Text 8"/>
          <p:cNvSpPr txBox="1"/>
          <p:nvPr/>
        </p:nvSpPr>
        <p:spPr>
          <a:xfrm>
            <a:off x="9052560" y="2743200"/>
            <a:ext cx="2651760" cy="9144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12</a:t>
            </a:r>
            <a:endParaRPr lang="en-US" sz="4400" dirty="0"/>
          </a:p>
        </p:txBody>
      </p:sp>
      <p:sp>
        <p:nvSpPr>
          <p:cNvPr id="11" name="Text 9"/>
          <p:cNvSpPr txBox="1"/>
          <p:nvPr/>
        </p:nvSpPr>
        <p:spPr>
          <a:xfrm>
            <a:off x="9052560" y="3657600"/>
            <a:ext cx="2651760" cy="822960"/>
          </a:xfrm>
          <a:prstGeom prst="rect">
            <a:avLst/>
          </a:prstGeom>
          <a:noFill/>
          <a:ln/>
        </p:spPr>
        <p:txBody>
          <a:bodyPr wrap="square" lIns="0" tIns="0" rIns="0" bIns="0" rtlCol="0" anchor="t"/>
          <a:lstStyle/>
          <a:p>
            <a:pPr indent="0" marL="0">
              <a:buNone/>
            </a:pPr>
            <a:r>
              <a:rPr lang="en-US" sz="1400" dirty="0">
                <a:solidFill>
                  <a:srgbClr val="AEB8C6"/>
                </a:solidFill>
                <a:latin typeface="Calibri" pitchFamily="34" charset="0"/>
                <a:ea typeface="Calibri" pitchFamily="34" charset="-122"/>
                <a:cs typeface="Calibri" pitchFamily="34" charset="-120"/>
              </a:rPr>
              <a:t>POPCOUNTs per window</a:t>
            </a:r>
            <a:endParaRPr lang="en-US" sz="1400" dirty="0"/>
          </a:p>
          <a:p>
            <a:pPr indent="0" marL="0">
              <a:buNone/>
            </a:pPr>
            <a:r>
              <a:rPr lang="en-US" sz="1400" dirty="0">
                <a:solidFill>
                  <a:srgbClr val="AEB8C6"/>
                </a:solidFill>
                <a:latin typeface="Calibri" pitchFamily="34" charset="0"/>
                <a:ea typeface="Calibri" pitchFamily="34" charset="-122"/>
                <a:cs typeface="Calibri" pitchFamily="34" charset="-120"/>
              </a:rPr>
              <a:t>instead of 64 multiply-adds</a:t>
            </a:r>
            <a:endParaRPr lang="en-US" sz="1400" dirty="0"/>
          </a:p>
        </p:txBody>
      </p:sp>
      <p:sp>
        <p:nvSpPr>
          <p:cNvPr id="12" name="Text 10"/>
          <p:cNvSpPr txBox="1"/>
          <p:nvPr/>
        </p:nvSpPr>
        <p:spPr>
          <a:xfrm>
            <a:off x="548640" y="5029200"/>
            <a:ext cx="11064240" cy="1188720"/>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References  </a:t>
            </a:r>
            <a:pPr indent="0" marL="0">
              <a:buNone/>
            </a:pPr>
            <a:r>
              <a:rPr lang="en-US" sz="1100" dirty="0">
                <a:solidFill>
                  <a:srgbClr val="AEB8C6"/>
                </a:solidFill>
                <a:latin typeface="Calibri" pitchFamily="34" charset="0"/>
                <a:ea typeface="Calibri" pitchFamily="34" charset="-122"/>
                <a:cs typeface="Calibri" pitchFamily="34" charset="-120"/>
              </a:rPr>
              <a:t>[1] M.-M. Cheng, Z. Zhang, W.-Y. Lin, P. H. S. Torr, “BING: Binarized Normed Gradients for Objectness Estimation at 300fps,” CVPR 2014.  [2] J. Uijlings et al., “Selective Search for Object Recognition,” IJCV 2013.  [3] B. Alexe, T. Deselaers, V. Ferrari, “Measuring the Objectness of Image Windows,” TPAMI 2012.  [4] J. Hosang et al., “What makes for effective detection proposals?,” TPAMI 2016.  [5] P. Arbeláez et al., “Multiscale Combinatorial Grouping,” CVPR 2014.</a:t>
            </a:r>
            <a:endParaRPr lang="en-US" sz="1100" dirty="0"/>
          </a:p>
        </p:txBody>
      </p:sp>
      <p:sp>
        <p:nvSpPr>
          <p:cNvPr id="13" name="Text 11"/>
          <p:cNvSpPr txBox="1"/>
          <p:nvPr/>
        </p:nvSpPr>
        <p:spPr>
          <a:xfrm>
            <a:off x="548640" y="6263640"/>
            <a:ext cx="5486400" cy="365760"/>
          </a:xfrm>
          <a:prstGeom prst="rect">
            <a:avLst/>
          </a:prstGeom>
          <a:noFill/>
          <a:ln/>
        </p:spPr>
        <p:txBody>
          <a:bodyPr wrap="square" lIns="0" tIns="0" rIns="0" bIns="0" rtlCol="0" anchor="ctr"/>
          <a:lstStyle/>
          <a:p>
            <a:pPr indent="0" marL="0">
              <a:buNone/>
            </a:pPr>
            <a:r>
              <a:rPr lang="en-US" sz="1600" i="1" dirty="0">
                <a:solidFill>
                  <a:srgbClr val="FFFFFF"/>
                </a:solidFill>
                <a:latin typeface="Cambria" pitchFamily="34" charset="0"/>
                <a:ea typeface="Cambria" pitchFamily="34" charset="-122"/>
                <a:cs typeface="Cambria" pitchFamily="34" charset="-120"/>
              </a:rPr>
              <a:t>Thank you — questions?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23CSE373 Computer Vision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Fast Object Proposal Generation Using Handcrafted Gradient Features</dc:title>
  <dc:subject>BING objectness estimation</dc:subject>
  <dc:creator>Group 10</dc:creator>
  <cp:lastModifiedBy>Group 10</cp:lastModifiedBy>
  <cp:revision>1</cp:revision>
  <dcterms:created xsi:type="dcterms:W3CDTF">2026-09-30T05:09:23Z</dcterms:created>
  <dcterms:modified xsi:type="dcterms:W3CDTF">2026-09-30T05:09:23Z</dcterms:modified>
</cp:coreProperties>
</file>